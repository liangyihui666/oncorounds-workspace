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9" r:id="rId11"/>
    <p:sldId id="259" r:id="rId5"/>
    <p:sldId id="260" r:id="rId6"/>
    <p:sldId id="261" r:id="rId7"/>
    <p:sldId id="268" r:id="rId8"/>
    <p:sldId id="262" r:id="rId9"/>
    <p:sldId id="263" r:id="rId10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50" d="100"/>
          <a:sy n="150" d="100"/>
        </p:scale>
        <p:origin x="45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4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仅概述产品方案。已确定：341肿瘤内科学、342肿瘤外科学、343肿瘤放射治疗学同步上线；接入现有职考Go小程序，首屏增加三个专业选项；收费方式待定。CSCO指南和大查房是肿瘤医生APP的内容积累，考试内容应按适用大纲筛选和审校。题目解析与病例练习为产品建设方向，学习效果仍需验证。“会背答案但不会分析病例”是本期要验证的需求假设，不代表所有考生。考试科目与试卷关系另见考试结构页，公开资源依据见后续两页优势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指南资源持有由用户确认。CSCO官网证实相关指南学习班在肿瘤医生APP直播；良医汇发布过指南执笔专家解读。这支持指南内容、解读与传播积累，不等于指南独家版权或CSCO对本职考产品背书。题目解析与考纲映射为建设方向，效果未验证。最新临床指南不自动等于考试命题口径，按适用年度考试大纲核对。</a:t>
            </a:r>
          </a:p>
          <a:p>
            <a:r>
              <a:t>来源（2026-09-17查阅）：</a:t>
            </a:r>
          </a:p>
          <a:p>
            <a:r>
              <a:t>https://www.csco.org.cn/cn/ncontent.aspx?oid=9278</a:t>
            </a:r>
          </a:p>
          <a:p>
            <a:r>
              <a:t>https://www-search.liangyihui.net/doc/166633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2026考生须知：https://www.21wecan.com/wsrcw/c100193/202511/1002760.shtml</a:t>
            </a:r>
          </a:p>
          <a:p>
            <a:r>
              <a:t>共用试卷目录：https://www.21wecan.com/wsrcw/c100193/202208/1d3cddb94d034000a0e8a4178b8f92a6.shtml</a:t>
            </a:r>
          </a:p>
          <a:p>
            <a:r>
              <a:t>合格标准相关官方通知：https://www.huaihua.gov.cn/wsjkw/c100587/202512/73a23312619d4460a3685c7cd0e0645c.shtml</a:t>
            </a:r>
          </a:p>
          <a:p>
            <a:r>
              <a:t>本次题型逐行转录用户提供的“考试科目和题型”截图。截图路径：C:/Users/admin/AppData/Local/Temp/codex-clipboard-57ed68c6-c473-4f09-8ee1-c7069c1d2e02.webp。该图没有可识别的来源、年度及专业标识，本次检索未独立确认其适用于341、342、343的完整科目题型分布。因此作为参考资料展示，不认定为已核验的官方口径。题量、案例题计分、回退机制不能从截图推导，仍需另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本页源于机构销售聊天截图，主要讨论肿瘤内科，不代表已验证需求或三专业共同考试事实。不采用病例占比、学习截止时间等机构断言。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竞品覆盖、价格与功能尚需官方商品页面留证，不采用原160元、168元、58元等价格或合并商品结论。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公开栏目来源显示医院合作、诊疗经验分享与病例解析。此处不声称公开栏目专家参与本地AI题目的编写或审核。已有题目指本地outputs/五套优化题与病例JSON-20260904的五份JSON，共25题，包含胃癌、GEJ腺癌、食管鳞癌及两组乳腺癌病例。两类材料分开作为证据，未确认本地题目与公开大查房栏目的直接来源关系。病例训练及变式复测属于产品转化方向，需考纲映射及教研审核；不能视为考试真题或三专业覆盖完整。</a:t>
            </a:r>
          </a:p>
          <a:p>
            <a:r>
              <a:t>来源（2026-09-17查阅）：</a:t>
            </a:r>
          </a:p>
          <a:p>
            <a:r>
              <a:t>https://www-search.liangyihui.net/column/162</a:t>
            </a:r>
          </a:p>
          <a:p>
            <a:r>
              <a:t>https://www-search.liangyihui.net/column/158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用户要求恢复最初方案数字。68,398为原2024医师存量推算，6.61–7.07万为原情景范围；年度3,400–6,800及分专业拆分来自原稿。原分母扣减、1.5%占比及5%–10%报考比例没有充分依据，本次不重新认定为准确统计。所有数字只作原方案内部情景，禁止引用为官方报名人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本版在用户原始12页上作必要纠正并新增1页。已确定：341、342、343同步上线，接入现有小程序，首屏新增三个选项。收费未定。产品建议需评审。</a:t>
            </a:r>
          </a:p>
          <a:p>
            <a:r>
              <a:t>本次调整为价值主张与产品切入点：目标是做题后仍易混的肿瘤职称考生；提供依据解释、病例条件辨别与变式复测。资源存在由用户说明和本地题目样本支持，功能流程是本期建议，学习效果尚需试点。不声称竞品均无此能力、不承诺提分或通过率。三专业同时上线，题目适配按各自考纲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sco.org.cn/cn/ncontent.aspx?oid=9278" TargetMode="External"/><Relationship Id="rId4" Type="http://schemas.openxmlformats.org/officeDocument/2006/relationships/hyperlink" Target="https://www-search.liangyihui.net/doc/166633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-search.liangyihui.net/column/162" TargetMode="External"/><Relationship Id="rId4" Type="http://schemas.openxmlformats.org/officeDocument/2006/relationships/hyperlink" Target="https://www-search.liangyihui.net/column/158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市场规模、竞品格局与首期产品范围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本期方案概览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57225"/>
            <a:ext cx="11125200" cy="523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在现有职考小程序中，增加肿瘤主治备考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66825"/>
            <a:ext cx="111252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0">
                <a:solidFill>
                  <a:srgbClr val="516780"/>
                </a:solidFill>
                <a:latin typeface="Microsoft YaHei"/>
              </a:rPr>
              <a:t>帮助考生刷题、看懂解析，并练习如何分析病例。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74307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2085975"/>
            <a:ext cx="476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2085975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给谁用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1375" y="2105025"/>
            <a:ext cx="81819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>
                <a:solidFill>
                  <a:srgbClr val="102744"/>
                </a:solidFill>
                <a:latin typeface="Microsoft YaHei"/>
              </a:rPr>
              <a:t>备考肿瘤内科、肿瘤外科、肿瘤放射治疗三个专业的考生。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7051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2924175"/>
            <a:ext cx="476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2924175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1375" y="2943225"/>
            <a:ext cx="81819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>
                <a:solidFill>
                  <a:srgbClr val="102744"/>
                </a:solidFill>
                <a:latin typeface="Microsoft YaHei"/>
              </a:rPr>
              <a:t>提供按专业组织的题目、答案解析和病例练习。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5433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3762375"/>
            <a:ext cx="476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1575" y="3762375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凭什么做好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1375" y="3781425"/>
            <a:ext cx="81819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>
                <a:solidFill>
                  <a:srgbClr val="102744"/>
                </a:solidFill>
                <a:latin typeface="Microsoft YaHei"/>
              </a:rPr>
              <a:t>用 CSCO 指南讲清答案依据，用大查房内容设计病例练习。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381500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4600575"/>
            <a:ext cx="476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2F66E8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75" y="4600575"/>
            <a:ext cx="19812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25" b="1">
                <a:solidFill>
                  <a:srgbClr val="102744"/>
                </a:solidFill>
                <a:latin typeface="Microsoft YaHei"/>
              </a:rPr>
              <a:t>本期怎么上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375" y="4619625"/>
            <a:ext cx="8181975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75" b="0">
                <a:solidFill>
                  <a:srgbClr val="102744"/>
                </a:solidFill>
                <a:latin typeface="Microsoft YaHei"/>
              </a:rPr>
              <a:t>三个专业一起上线；在原有首屏增加选项，收费方式待定。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5619750"/>
            <a:ext cx="11125200" cy="6858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5800725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0" b="1">
                <a:solidFill>
                  <a:srgbClr val="102744"/>
                </a:solidFill>
                <a:latin typeface="Microsoft YaHei"/>
              </a:rPr>
              <a:t>切入点：把考生“会背答案，但不会分析病例”的问题讲清、练会。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638925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0" y="66198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我们的优势 01｜CSCO 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7700"/>
            <a:ext cx="11144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CSCO 指南：把“答案是什么”讲到“依据是什么”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8725"/>
            <a:ext cx="11144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以指南内容与专家解读积累，支撑考点梳理、适用条件辨析和有来源的题目解析。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97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847850"/>
            <a:ext cx="647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肿瘤医生 APP 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5267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35267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指南与专家解读相结合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72415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平台已有 CSCO 指南相关内容，并持续发布专家解读。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3219450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3314700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314700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具备持续跟进更新的基础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686175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已有指南学习班直播及新版解读，可支撑内容维护。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4181475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427672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27672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能围绕具体临床条件讲清依据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64820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将指南中的分期、分型与推荐条件对应到题目解析。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9950" y="1847850"/>
            <a:ext cx="4438650" cy="33147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5700" y="2066925"/>
            <a:ext cx="38290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66E8"/>
                </a:solidFill>
                <a:latin typeface="Microsoft YaHei"/>
              </a:rPr>
              <a:t>职考产品的切入点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2552700"/>
            <a:ext cx="38290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175" b="1">
                <a:solidFill>
                  <a:srgbClr val="102744"/>
                </a:solidFill>
                <a:latin typeface="Microsoft YaHei"/>
              </a:rPr>
              <a:t>切入易混考点的依据解释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3343275"/>
            <a:ext cx="382905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按考纲筛选指南相关内容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把适用条件讲进题目解析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关联出处、版本与专家解读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438775"/>
            <a:ext cx="11125200" cy="590550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5619750"/>
            <a:ext cx="10668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考生价值：少做零散查找，看懂方案为什么适用、条件变了如何判断。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191250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依据：CSCO官网｜2026指南学习班通过肿瘤医生APP直播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372225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4"/>
              </a:rPr>
              <a:t>实例：肿瘤资讯｜2026 CSCO NSCLC指南骨转移更新专家解读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6294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0" y="660082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285750"/>
            <a:ext cx="8572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2F66E8"/>
                </a:solidFill>
                <a:latin typeface="Microsoft YaHei"/>
              </a:rPr>
              <a:t>我们的优势 02｜大查房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7700"/>
            <a:ext cx="11144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850" b="1">
                <a:solidFill>
                  <a:srgbClr val="102744"/>
                </a:solidFill>
                <a:latin typeface="Microsoft YaHei"/>
              </a:rPr>
              <a:t>大查房：把临床分析过程转为可练习的病例题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28725"/>
            <a:ext cx="11144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350" b="0">
                <a:solidFill>
                  <a:srgbClr val="6F84A0"/>
                </a:solidFill>
                <a:latin typeface="Microsoft YaHei"/>
              </a:rPr>
              <a:t>借助医院大查房内容积累与已有题目，围绕病史、检查和治疗条件训练病例判断。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609725"/>
            <a:ext cx="1112520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847850"/>
            <a:ext cx="647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肿瘤医生 APP 的优势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35267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35267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长期医院合作，积累临床分析内容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272415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中肿、医肿等大查房专栏持续分享诊疗经验与病例解析。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750" y="3219450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3314700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3314700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多环节病例内容，支撑判断训练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750" y="3686175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从诊断、分期到疗效与不良反应，组织情境化练习。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7750" y="4181475"/>
            <a:ext cx="5429250" cy="9525"/>
          </a:xfrm>
          <a:prstGeom prst="rect">
            <a:avLst/>
          </a:prstGeom>
          <a:solidFill>
            <a:srgbClr val="D7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4276725"/>
            <a:ext cx="36195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2F66E8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276725"/>
            <a:ext cx="5429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102744"/>
                </a:solidFill>
                <a:latin typeface="Microsoft YaHei"/>
              </a:rPr>
              <a:t>已有题目结构，可继续改编复用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4648200"/>
            <a:ext cx="561975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25" b="0">
                <a:solidFill>
                  <a:srgbClr val="516780"/>
                </a:solidFill>
                <a:latin typeface="Microsoft YaHei"/>
              </a:rPr>
              <a:t>已有样题包含题干、选项、解析与来源，可按考纲筛选。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9950" y="1847850"/>
            <a:ext cx="4438650" cy="3314700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5700" y="2066925"/>
            <a:ext cx="38290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2F66E8"/>
                </a:solidFill>
                <a:latin typeface="Microsoft YaHei"/>
              </a:rPr>
              <a:t>职考产品的切入点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5700" y="2552700"/>
            <a:ext cx="38290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175" b="1">
                <a:solidFill>
                  <a:srgbClr val="102744"/>
                </a:solidFill>
                <a:latin typeface="Microsoft YaHei"/>
              </a:rPr>
              <a:t>从“病例判断专项练习”切入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700" y="3343275"/>
            <a:ext cx="3829050" cy="1428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提取病史与检查中的关键线索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比较相似选项及判断条件</a:t>
            </a:r>
          </a:p>
          <a:p>
            <a:pPr>
              <a:spcAft>
                <a:spcPts val="500"/>
              </a:spcAft>
            </a:pPr>
            <a:r>
              <a:rPr sz="1650" b="0">
                <a:solidFill>
                  <a:srgbClr val="102744"/>
                </a:solidFill>
                <a:latin typeface="Microsoft YaHei"/>
              </a:rPr>
              <a:t>改编同考点变式题，再次练习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438775"/>
            <a:ext cx="11125200" cy="590550"/>
          </a:xfrm>
          <a:prstGeom prst="rect">
            <a:avLst/>
          </a:prstGeom>
          <a:solidFill>
            <a:srgbClr val="10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5619750"/>
            <a:ext cx="10668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 b="1">
                <a:solidFill>
                  <a:srgbClr val="FFFFFF"/>
                </a:solidFill>
                <a:latin typeface="Microsoft YaHei"/>
              </a:rPr>
              <a:t>考生价值：沿着病例线索练判断，把知识点用于具体问题。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6191250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3"/>
              </a:rPr>
              <a:t>依据：良医汇｜中肿内科大查房、医肿内科大查房官方专栏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372225"/>
            <a:ext cx="11125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  <a:hlinkClick r:id="rId4"/>
              </a:rPr>
              <a:t>另一专栏：医肿内科大查房；题目样本另据本地5组25题（详见备注）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629400"/>
            <a:ext cx="952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肿瘤医生｜肿瘤职称项目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3750" y="660082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900" b="0">
                <a:solidFill>
                  <a:srgbClr val="6F84A0"/>
                </a:solidFill>
                <a:latin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本期聚焦三个中级专业，高级职称后续评估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三个中级专业同步上线已确定，高级职称需另行核对目标地区要求。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按目标地区官方文件核验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目标用户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确认报考专业、年度和待考科目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待确定地区后开展用户调研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三专业共用产品框架，内容按专业适配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另行评估内容与交互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同专业四科成绩两年滚动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考试安排与要求存在地区差异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本期范围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341、342、343 同步上线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暂不纳入本期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本期覆盖 341、342、343；高级职称暂不纳入，后续另行评估。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本期同步上线 341、342、343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341 的考生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342 的考生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目标考生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报考 343 的考生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以实际报考专业识别需求，数量与占比需盘点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三个专业同步上线，内容按所选专业配置，不以所在科室代替报考专业。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四个考试科目与题型参考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2026口径：四科机考，每科90分钟，各科60分合格，同专业成绩两年滚动。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试卷关系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题型（据所提供资料）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单选题（A1/A2）
共用备选答案单选题（B1）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三专业共用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单选题（A1/A2）
共用备选答案单选题（B1）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单选题（A1/A2）
共用题干单选题（A3/A4）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按专业核对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另行核对的规则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案例题计分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答题回退规则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各科题量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题型据所提供截图整理；截图年份及对341–343的适用范围尚待核实。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备考难点与产品应对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围绕易混知识与病例判断，补充理解型练习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机构沟通提示的需求线索，主要涉及肿瘤内科；需考生访谈验证，具体内容按官方考纲核对。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调研线索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可能的备考任务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产品建议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知识分散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串联跨学科知识，定位薄弱点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按考纲关联考点与题目，提供学习路径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分期与方案易混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比较病例条件及对应判断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分期与条件对照，安排同考点变式练习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病例与相似选项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识别病史、影像、病理中的关键依据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解释选项差异和排除理由，支持追问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药物知识记忆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区分适用条件、不良反应与易混点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经审核的知识对照与间隔复测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内容版本变化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理解考纲与参考资料的版本差异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标注适用版本，由教研核对更新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验证重点：换了题目或病例条件后，考生能否说清判断依据。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按产品形态比较供给，重点核对专业覆盖与学习体验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以下为调研框架；具体功能与产品差异需以官方商品页面和实测留证。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需核验事项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教材与习题集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适用年度正式出版物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目录、版本与解析结构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适用专业与更新版本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各品牌肿瘤中级商品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四科与案例内容覆盖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题目来源、解析与有效期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课程与题库套餐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品牌官方课程套餐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课程、题库与服务权益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商品边界与实际价格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AI辅助服务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正式产品及实测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追问、解释与纠错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专业准确性与使用额度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候选调研对象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圣才／圣题库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先核对目标专业、内容与权益，再判断直接竞争关系和差异化机会。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竞品价格与权益需要按具体商品核对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原价格样本缺少可追溯证据，暂不作为定价依据；采集时记录日期、渠道与有效期。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待核商品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价格处理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需留存证据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比较重点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肿瘤题库与课程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对应专业购买页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区分题库与课程权益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按商品重新核验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商品名称与有效期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核对专业范围与内容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圣才／圣题库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各专业单科题库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摘要价格待留证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官网或App购买页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题量、解析及有效期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肿瘤中级相关商品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原价格暂不采用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官方购买页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专业覆盖与基础体验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题库会员及课程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分产品核对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会员及课程权益页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区分会员与单独商品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单题库、组合包与会员均为备选，本期收费方式尚未确定。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首期交付：一道题带出一个判断方法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从错题或病例练习进入，完成“作答—理解依据—辨别条件—变式复测”的完整体验。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学习环节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首期产品响应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对应价值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做一道病例题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按报考专业匹配病例与考点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暴露具体的知识与判断薄弱点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看懂答案依据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显示关键线索、选项差异与参考来源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弄清为什么这样判断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练习条件变化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同考点更换病例条件，安排变式题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检查是否理解，而非只记住答案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复测与继续学习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按错题考点组织复测，记录完成与回访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判断掌握情况，衔接后续学习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内容要求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依据可追溯、题目符合考纲；指南更新与考试要求分别核对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试点重点：考生能否解释选项差异，并独立完成同考点的新题。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沿用原方案规模估算，区分存量与年度考生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保留原方案数值用于内部规划；基础数据、专业占比和报考比例尚未验证，不作为官方统计。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A｜原方案存量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68,398 人：原医师存量推算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B｜年度情景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3,400–6,800 人：原年度估算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C｜首期验证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盘点可触达考生与学习需求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数据项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专业存量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报名人数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付费率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客单价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行业背景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原估算基础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考生规模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收入测算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核对原来源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保留原估算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以情景展示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待测试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待决策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原方案医师存量推算（非考生数）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原存量情景范围（未验证）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口径要求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医师存量不能直接换算考生人数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保留原方案估算用于讨论，年度报名规模与付费规模分别核对。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原方案年度考生估算：3,400–6,800 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恢复原方案数值与分专业拆分，仅作内部情景；不是官方报名人数，也不代表付费用户。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原年度估算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原方案扩大情景范围为3,306–7,068人；比例与拆分未验证，不能视为统计置信区间。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沿用原估算支持试点规划，结合实际触达、使用与付费情况逐步校准。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095500"/>
            <a:ext cx="5905500" cy="38100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2100" b="1">
                <a:solidFill>
                  <a:srgbClr val="102744"/>
                </a:solidFill>
                <a:latin typeface="Microsoft YaHei"/>
              </a:defRPr>
            </a:pPr>
            <a:r>
              <a:t>中性情景约 5,000 人／年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667000"/>
            <a:ext cx="5905500" cy="1571625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725" b="0">
                <a:solidFill>
                  <a:srgbClr val="102744"/>
                </a:solidFill>
                <a:latin typeface="Microsoft YaHei"/>
              </a:defRPr>
            </a:pPr>
            <a:r>
              <a:t>原方案按医师存量的5%–10%估算
报考比例与专业拆分属于假设
先盘点现有渠道可触达考生
收费方案确定后再验证收入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以病例判断切入，验证理解与迁移的价值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面向341／342／343考生，将有依据的解析、病例变式练习与错题复测接入现有小程序。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按考纲筛选病例题，补充依据、选项差异与同考点变式。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首屏直接增加三个专业选项，后续内容与进度按专业适配。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收费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收费方式、价格与权益待定，结合需求与服务成本单独决策。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观察解析使用、变式题表现与复测回访；收费后验证转化。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用病例练习帮助考生理解判断依据，以试点结果评估学习价值与后续投入。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Microsoft Office PowerPoint</Application>
  <DocSecurity>0</DocSecurity>
  <PresentationFormat>宽屏</PresentationFormat>
  <Paragraphs>387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TT Gao</cp:lastModifiedBy>
  <cp:revision>2</cp:revision>
  <dcterms:created xsi:type="dcterms:W3CDTF">2026-09-17T03:47:42Z</dcterms:created>
  <dcterms:modified xsi:type="dcterms:W3CDTF">2026-09-17T09:59:36Z</dcterms:modified>
</cp:coreProperties>
</file>