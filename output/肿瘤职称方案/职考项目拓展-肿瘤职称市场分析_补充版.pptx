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928e45026e4a52" /><Relationship Type="http://schemas.openxmlformats.org/officeDocument/2006/relationships/extended-properties" Target="/docProps/app.xml" Id="R42cd22cc5fff4f91" /><Relationship Type="http://schemas.openxmlformats.org/officeDocument/2006/relationships/officeDocument" Target="/ppt/presentation.xml" Id="Rd4f6a70cf7034e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87cb765ad04213"/>
  </p:sldMasterIdLst>
  <p:notesMasterIdLst>
    <p:notesMasterId xmlns:r="http://schemas.openxmlformats.org/officeDocument/2006/relationships" r:id="R446af0246e9c430f"/>
  </p:notesMasterIdLst>
  <p:sldIdLst>
    <p:sldId xmlns:r="http://schemas.openxmlformats.org/officeDocument/2006/relationships" id="256" r:id="R65b3261c6c4547c8"/>
    <p:sldId xmlns:r="http://schemas.openxmlformats.org/officeDocument/2006/relationships" id="257" r:id="R97e3f34ca56c46db"/>
    <p:sldId xmlns:r="http://schemas.openxmlformats.org/officeDocument/2006/relationships" id="258" r:id="R400cb6f20d484390"/>
    <p:sldId xmlns:r="http://schemas.openxmlformats.org/officeDocument/2006/relationships" id="259" r:id="Rf215058f6a274450"/>
    <p:sldId xmlns:r="http://schemas.openxmlformats.org/officeDocument/2006/relationships" id="260" r:id="R2cdeef9b6bf44a46"/>
    <p:sldId xmlns:r="http://schemas.openxmlformats.org/officeDocument/2006/relationships" id="261" r:id="Rcad3c44f94614fc6"/>
    <p:sldId xmlns:r="http://schemas.openxmlformats.org/officeDocument/2006/relationships" id="262" r:id="R076913c589c44476"/>
    <p:sldId xmlns:r="http://schemas.openxmlformats.org/officeDocument/2006/relationships" id="263" r:id="R24947a89ec6b4202"/>
    <p:sldId xmlns:r="http://schemas.openxmlformats.org/officeDocument/2006/relationships" id="264" r:id="R4e73e167e03c4405"/>
    <p:sldId xmlns:r="http://schemas.openxmlformats.org/officeDocument/2006/relationships" id="265" r:id="Rb3517e774bcd4c5d"/>
    <p:sldId xmlns:r="http://schemas.openxmlformats.org/officeDocument/2006/relationships" id="266" r:id="R28ce77d9ad3142a2"/>
    <p:sldId xmlns:r="http://schemas.openxmlformats.org/officeDocument/2006/relationships" id="267" r:id="R06f376ff30d145c0"/>
    <p:sldId xmlns:r="http://schemas.openxmlformats.org/officeDocument/2006/relationships" id="268" r:id="R6376b7372dc54a6e"/>
    <p:sldId xmlns:r="http://schemas.openxmlformats.org/officeDocument/2006/relationships" id="269" r:id="Rae28c3290bf643a8"/>
    <p:sldId xmlns:r="http://schemas.openxmlformats.org/officeDocument/2006/relationships" id="270" r:id="R10f192c73eb24abe"/>
    <p:sldId xmlns:r="http://schemas.openxmlformats.org/officeDocument/2006/relationships" id="271" r:id="R75954382f4d641de"/>
    <p:sldId xmlns:r="http://schemas.openxmlformats.org/officeDocument/2006/relationships" id="272" r:id="R6d6e5e24199547f2"/>
    <p:sldId xmlns:r="http://schemas.openxmlformats.org/officeDocument/2006/relationships" id="273" r:id="Rfd4719db98bd45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a6acb2a4424bc6" /><Relationship Type="http://schemas.openxmlformats.org/officeDocument/2006/relationships/slideMaster" Target="/ppt/slideMasters/slideMaster1.xml" Id="R2487cb765ad04213" /><Relationship Type="http://schemas.openxmlformats.org/officeDocument/2006/relationships/notesMaster" Target="/ppt/notesMasters/notesMaster1.xml" Id="R446af0246e9c430f" /><Relationship Type="http://schemas.openxmlformats.org/officeDocument/2006/relationships/presProps" Target="/ppt/presProps.xml" Id="R6f8883c9db9f468b" /><Relationship Type="http://schemas.openxmlformats.org/officeDocument/2006/relationships/viewProps" Target="/ppt/viewProps.xml" Id="Rc54cbd7cbd334d08" /><Relationship Type="http://schemas.openxmlformats.org/officeDocument/2006/relationships/tableStyles" Target="/ppt/tableStyles.xml" Id="R237eb7bc3fa34e2b" /><Relationship Type="http://schemas.openxmlformats.org/officeDocument/2006/relationships/slide" Target="/ppt/slides/slide1.xml" Id="R65b3261c6c4547c8" /><Relationship Type="http://schemas.openxmlformats.org/officeDocument/2006/relationships/slide" Target="/ppt/slides/slide2.xml" Id="R97e3f34ca56c46db" /><Relationship Type="http://schemas.openxmlformats.org/officeDocument/2006/relationships/slide" Target="/ppt/slides/slide3.xml" Id="R400cb6f20d484390" /><Relationship Type="http://schemas.openxmlformats.org/officeDocument/2006/relationships/slide" Target="/ppt/slides/slide4.xml" Id="Rf215058f6a274450" /><Relationship Type="http://schemas.openxmlformats.org/officeDocument/2006/relationships/slide" Target="/ppt/slides/slide5.xml" Id="R2cdeef9b6bf44a46" /><Relationship Type="http://schemas.openxmlformats.org/officeDocument/2006/relationships/slide" Target="/ppt/slides/slide6.xml" Id="Rcad3c44f94614fc6" /><Relationship Type="http://schemas.openxmlformats.org/officeDocument/2006/relationships/slide" Target="/ppt/slides/slide7.xml" Id="R076913c589c44476" /><Relationship Type="http://schemas.openxmlformats.org/officeDocument/2006/relationships/slide" Target="/ppt/slides/slide8.xml" Id="R24947a89ec6b4202" /><Relationship Type="http://schemas.openxmlformats.org/officeDocument/2006/relationships/slide" Target="/ppt/slides/slide9.xml" Id="R4e73e167e03c4405" /><Relationship Type="http://schemas.openxmlformats.org/officeDocument/2006/relationships/slide" Target="/ppt/slides/slide10.xml" Id="Rb3517e774bcd4c5d" /><Relationship Type="http://schemas.openxmlformats.org/officeDocument/2006/relationships/slide" Target="/ppt/slides/slide11.xml" Id="R28ce77d9ad3142a2" /><Relationship Type="http://schemas.openxmlformats.org/officeDocument/2006/relationships/slide" Target="/ppt/slides/slide12.xml" Id="R06f376ff30d145c0" /><Relationship Type="http://schemas.openxmlformats.org/officeDocument/2006/relationships/slide" Target="/ppt/slides/slide13.xml" Id="R6376b7372dc54a6e" /><Relationship Type="http://schemas.openxmlformats.org/officeDocument/2006/relationships/slide" Target="/ppt/slides/slide14.xml" Id="Rae28c3290bf643a8" /><Relationship Type="http://schemas.openxmlformats.org/officeDocument/2006/relationships/slide" Target="/ppt/slides/slide15.xml" Id="R10f192c73eb24abe" /><Relationship Type="http://schemas.openxmlformats.org/officeDocument/2006/relationships/slide" Target="/ppt/slides/slide16.xml" Id="R75954382f4d641de" /><Relationship Type="http://schemas.openxmlformats.org/officeDocument/2006/relationships/slide" Target="/ppt/slides/slide17.xml" Id="R6d6e5e24199547f2" /><Relationship Type="http://schemas.openxmlformats.org/officeDocument/2006/relationships/slide" Target="/ppt/slides/slide18.xml" Id="Rfd4719db98bd45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2029b695e147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c0f8c5780a4c1f" /><Relationship Type="http://schemas.openxmlformats.org/officeDocument/2006/relationships/notesMaster" Target="/ppt/notesMasters/notesMaster1.xml" Id="R8f64dfeb9e0049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1a2dedf6a14f6e" /><Relationship Type="http://schemas.openxmlformats.org/officeDocument/2006/relationships/notesMaster" Target="/ppt/notesMasters/notesMaster1.xml" Id="Ra853b05d3f804b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bfb1978eb341a1" /><Relationship Type="http://schemas.openxmlformats.org/officeDocument/2006/relationships/notesMaster" Target="/ppt/notesMasters/notesMaster1.xml" Id="R8fbe3d4f561d4c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62254fca124c80" /><Relationship Type="http://schemas.openxmlformats.org/officeDocument/2006/relationships/notesMaster" Target="/ppt/notesMasters/notesMaster1.xml" Id="R6577a9f30e514b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064010253a40ee" /><Relationship Type="http://schemas.openxmlformats.org/officeDocument/2006/relationships/notesMaster" Target="/ppt/notesMasters/notesMaster1.xml" Id="R68f18eace6b24e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01177cb6ee4839" /><Relationship Type="http://schemas.openxmlformats.org/officeDocument/2006/relationships/notesMaster" Target="/ppt/notesMasters/notesMaster1.xml" Id="R1379eeb9699a4c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d9987d0eb643cf" /><Relationship Type="http://schemas.openxmlformats.org/officeDocument/2006/relationships/notesMaster" Target="/ppt/notesMasters/notesMaster1.xml" Id="R791a26f2a28f4e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61dc865f9b417d" /><Relationship Type="http://schemas.openxmlformats.org/officeDocument/2006/relationships/notesMaster" Target="/ppt/notesMasters/notesMaster1.xml" Id="Ref26f42e520d47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0d726491044799" /><Relationship Type="http://schemas.openxmlformats.org/officeDocument/2006/relationships/notesMaster" Target="/ppt/notesMasters/notesMaster1.xml" Id="R3d5a948d2c5948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a0ceb19fab4f72" /><Relationship Type="http://schemas.openxmlformats.org/officeDocument/2006/relationships/notesMaster" Target="/ppt/notesMasters/notesMaster1.xml" Id="R0c2e108f161f4a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ab0b79298848f8" /><Relationship Type="http://schemas.openxmlformats.org/officeDocument/2006/relationships/notesMaster" Target="/ppt/notesMasters/notesMaster1.xml" Id="Re618b119cec145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5694b98e3d43be" /><Relationship Type="http://schemas.openxmlformats.org/officeDocument/2006/relationships/notesMaster" Target="/ppt/notesMasters/notesMaster1.xml" Id="R31921e00879b47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e8ae53fa344e7b" /><Relationship Type="http://schemas.openxmlformats.org/officeDocument/2006/relationships/notesMaster" Target="/ppt/notesMasters/notesMaster1.xml" Id="Rf81722ec12af49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690aea24af4b1f" /><Relationship Type="http://schemas.openxmlformats.org/officeDocument/2006/relationships/notesMaster" Target="/ppt/notesMasters/notesMaster1.xml" Id="R207306042b7d48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7ccc10302a422f" /><Relationship Type="http://schemas.openxmlformats.org/officeDocument/2006/relationships/notesMaster" Target="/ppt/notesMasters/notesMaster1.xml" Id="R8c6d2f24469445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7004b36fae4bfd" /><Relationship Type="http://schemas.openxmlformats.org/officeDocument/2006/relationships/notesMaster" Target="/ppt/notesMasters/notesMaster1.xml" Id="R9c958bb64eec49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eedf45832a4450" /><Relationship Type="http://schemas.openxmlformats.org/officeDocument/2006/relationships/notesMaster" Target="/ppt/notesMasters/notesMaster1.xml" Id="R21dec374325745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0af8fa692d4d49" /><Relationship Type="http://schemas.openxmlformats.org/officeDocument/2006/relationships/notesMaster" Target="/ppt/notesMasters/notesMaster1.xml" Id="Red367d7ae8f44f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来源：用户提供的《职考项目拓展——肿瘤职称市场分析》PDF，第1页。</a:t>
            </a:r>
          </a:p>
          <a:p xmlns:a="http://schemas.openxmlformats.org/drawingml/2006/main">
            <a:r>
              <a:t>源文件：/Users/wing/Downloads/职考项目拓展——肿瘤职称市场分析.pdf</a:t>
            </a:r>
          </a:p>
          <a:p xmlns:a="http://schemas.openxmlformats.org/drawingml/2006/main">
            <a:r>
              <a:t>说明：封面仅采用蓝色报告的设计系统，内容以本次PDF为准。封面背景为基于该设计系统生成的无文字抽象视觉。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来源：用户提供的《职考项目拓展——肿瘤职称市场分析》PDF，第1、8、9页。</a:t>
            </a:r>
          </a:p>
          <a:p xmlns:a="http://schemas.openxmlformats.org/drawingml/2006/main">
            <a:r>
              <a:t>源文件：/Users/wing/Downloads/职考项目拓展——肿瘤职称市场分析.pdf</a:t>
            </a:r>
          </a:p>
          <a:p xmlns:a="http://schemas.openxmlformats.org/drawingml/2006/main">
            <a:r>
              <a:t>说明：0.33–0.71万人采用PDF给出的取整误差情景范围；付费用户规模不能由考生数直接等同。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来源：用户提供的《职考项目拓展——肿瘤职称市场分析》PDF，第1、2页。</a:t>
            </a:r>
          </a:p>
          <a:p xmlns:a="http://schemas.openxmlformats.org/drawingml/2006/main">
            <a:r>
              <a:t>源文件：/Users/wing/Downloads/职考项目拓展——肿瘤职称市场分析.pdf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来源：用户提供的《职考项目拓展——肿瘤职称市场分析》PDF，第2页。</a:t>
            </a:r>
          </a:p>
          <a:p xmlns:a="http://schemas.openxmlformats.org/drawingml/2006/main">
            <a:r>
              <a:t>源文件：/Users/wing/Downloads/职考项目拓展——肿瘤职称市场分析.pdf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来源：用户提供的《职考项目拓展——肿瘤职称市场分析》PDF，第2、3页。</a:t>
            </a:r>
          </a:p>
          <a:p xmlns:a="http://schemas.openxmlformats.org/drawingml/2006/main">
            <a:r>
              <a:t>源文件：/Users/wing/Downloads/职考项目拓展——肿瘤职称市场分析.pdf</a:t>
            </a:r>
          </a:p>
          <a:p xmlns:a="http://schemas.openxmlformats.org/drawingml/2006/main">
            <a:r>
              <a:t>说明：三专业年度人数尚无全国公开报名数据，不能以本页人群描述替代真实报考规模。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考试规则来源：https://www.21wecan.com/wsrcw/c100193/202511/1002760.shtml ；https://www.huaihua.gov.cn/wsjkw/c100587/202512/73a23312619d4460a3685c7cd0e0645c.shtml 。2026年度通知，后续考试年度需更新配置。</a:t>
            </a:r>
          </a:p>
          <a:p xmlns:a="http://schemas.openxmlformats.org/drawingml/2006/main">
            <a:r>
              <a:t>来源：用户提供《341 342 343肿瘤学考试大纲.pdf》，共89页，机构整理版本，未明确标注年度。页码为PDF文件页序。 前两科见第2、23页。截图声称前三科100题、第四科题量不固定，并称案例题不可回退，但计分示例前后口径不一致。本页不把约75题或固定扣分公式作为已确认规则。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来源：用户提供《341 342 343肿瘤学考试大纲.pdf》，共89页，机构整理版本，未明确标注年度。页码为PDF文件页序。 前两科第2—32页，肺癌对比第34—35、55、75—76页。第四科第49—51、70—72、87—89页。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考试规则来源：https://www.21wecan.com/wsrcw/c100193/202511/1002760.shtml ；https://www.huaihua.gov.cn/wsjkw/c100587/202512/73a23312619d4460a3685c7cd0e0645c.shtml 。2026年度通知，后续考试年度需更新配置。</a:t>
            </a:r>
          </a:p>
          <a:p xmlns:a="http://schemas.openxmlformats.org/drawingml/2006/main">
            <a:r>
              <a:t>用户聊天截图提供学习困难线索，但销售沟通不代表已完成考生访谈。首次与补考分层为产品设计建议。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来源：用户提供阿虎医考聊天长截图。其说法包含不定项、扣分与不可回退，但计分示例存在口径冲突，“第一题错后面全错”缺少规则证据。上表为产品建议，不代表已确认的考试规则。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来源：用户提供的《职考项目拓展——肿瘤职称市场分析》PDF，第4、5、6页。</a:t>
            </a:r>
          </a:p>
          <a:p xmlns:a="http://schemas.openxmlformats.org/drawingml/2006/main">
            <a:r>
              <a:t>源文件：/Users/wing/Downloads/职考项目拓展——肿瘤职称市场分析.pdf</a:t>
            </a:r>
          </a:p>
          <a:p xmlns:a="http://schemas.openxmlformats.org/drawingml/2006/main">
            <a:r>
              <a:t>说明：PDF正文一处写“六家”，但后续明确列出并比较的是五家直接竞品；本稿按实际清单统一为五家。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本页价格和竞品描述沿用用户原始PPT，未作为2026年9月的已核验现价。用户已明确本期收费方式未决定，任何售卖形式均仅为备选。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来源：用户提供的《职考项目拓展——肿瘤职称市场分析》PDF，第5、6、8、9页。</a:t>
            </a:r>
          </a:p>
          <a:p xmlns:a="http://schemas.openxmlformats.org/drawingml/2006/main">
            <a:r>
              <a:t>源文件：/Users/wing/Downloads/职考项目拓展——肿瘤职称市场分析.pdf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来源：用户提供《341 342 343肿瘤学考试大纲.pdf》，共89页，机构整理版本，未明确标注年度。页码为PDF文件页序。</a:t>
            </a:r>
          </a:p>
          <a:p xmlns:a="http://schemas.openxmlformats.org/drawingml/2006/main">
            <a:r>
              <a:t>用户短截图强调分期、方案和不良反应的理解困难。上表为首期治理建议。大纲版本未明确，导入前需教研确认适用考试年度。不得将机构“AI命题”“最高通过率”等宣传写为考试事实。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来源：用户提供最新七张医考Go产品截图。用户确认三个专业一起上线并接入现有小程序，收费尚未决定。用户指定首屏直接增加三个选项。本页其余内容为适配建议，不把旧MVP文档当作现状。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补充口径：表中数值沿用原PPT。其备注引用原市场分析PDF，非本轮核验的原始统计。狭义肿瘤科医师与341、342、343报考人群并非一一对应。不要将科室存量直接视为三专业考试总市场。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5%、7.5%、10%为内部假设。图表按68,398人中心值计算并取整。右侧各专业数值是原方案的近似拆分，不能视为官方报名结构，也不能直接换算付费用户。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本页为试点指标建议，非已有数据或承诺目标。首练完成率、留存须固定观察窗口并按专业及首次/补考分层。病例分步、重复提交、退出重进与专业切换应列入验收。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来源：用户提供的《职考项目拓展——肿瘤职称市场分析》PDF，第8、9页。</a:t>
            </a:r>
          </a:p>
          <a:p xmlns:a="http://schemas.openxmlformats.org/drawingml/2006/main">
            <a:r>
              <a:t>源文件：/Users/wing/Downloads/职考项目拓展——肿瘤职称市场分析.pdf</a:t>
            </a:r>
          </a:p>
          <a:p xmlns:a="http://schemas.openxmlformats.org/drawingml/2006/main">
            <a:r>
              <a:t>说明：该路径是对PDF结论的PPT化重构，没有添加具体工期、预算或收入预测。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bee8867b543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81eed506034bd3" /><Relationship Type="http://schemas.openxmlformats.org/officeDocument/2006/relationships/slideLayout" Target="/ppt/slideLayouts/slideLayout1.xml" Id="Ra2c23703db9b4a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c23703db9b4a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4fcf3e33d4c8e" /><Relationship Type="http://schemas.openxmlformats.org/officeDocument/2006/relationships/image" Target="/ppt/media/image.png" Id="Rde19a63c15a74aa4" /><Relationship Type="http://schemas.openxmlformats.org/officeDocument/2006/relationships/notesSlide" Target="/ppt/notesSlides/notesSlide1.xml" Id="R1449acd5f7c641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bd352b12d436c" /><Relationship Type="http://schemas.openxmlformats.org/officeDocument/2006/relationships/notesSlide" Target="/ppt/notesSlides/notesSlide2.xml" Id="R9c132fef72a04d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b4c20ab9a4a91" /><Relationship Type="http://schemas.openxmlformats.org/officeDocument/2006/relationships/notesSlide" Target="/ppt/notesSlides/notesSlide3.xml" Id="R35f1762c4e6b4c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9a6b562ef4355" /><Relationship Type="http://schemas.openxmlformats.org/officeDocument/2006/relationships/notesSlide" Target="/ppt/notesSlides/notesSlide4.xml" Id="R3178a8c3bc8245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45a6995bf4bee" /><Relationship Type="http://schemas.openxmlformats.org/officeDocument/2006/relationships/notesSlide" Target="/ppt/notesSlides/notesSlide5.xml" Id="R1ac6b293263d40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072defc37497a" /><Relationship Type="http://schemas.openxmlformats.org/officeDocument/2006/relationships/notesSlide" Target="/ppt/notesSlides/notesSlide6.xml" Id="R330c4f54530044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9073bd0cc446d" /><Relationship Type="http://schemas.openxmlformats.org/officeDocument/2006/relationships/notesSlide" Target="/ppt/notesSlides/notesSlide7.xml" Id="R00d3d92d062249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e38d3e4444d5d" /><Relationship Type="http://schemas.openxmlformats.org/officeDocument/2006/relationships/notesSlide" Target="/ppt/notesSlides/notesSlide8.xml" Id="R11a05d1db4be43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56313326f4643" /><Relationship Type="http://schemas.openxmlformats.org/officeDocument/2006/relationships/notesSlide" Target="/ppt/notesSlides/notesSlide9.xml" Id="R439cb1e827414b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0d71a585a4673" /><Relationship Type="http://schemas.openxmlformats.org/officeDocument/2006/relationships/notesSlide" Target="/ppt/notesSlides/notesSlide10.xml" Id="Re9810aecc41445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1cda3611f4c79" /><Relationship Type="http://schemas.openxmlformats.org/officeDocument/2006/relationships/notesSlide" Target="/ppt/notesSlides/notesSlide11.xml" Id="R05dec09f981245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55baee6114954" /><Relationship Type="http://schemas.openxmlformats.org/officeDocument/2006/relationships/notesSlide" Target="/ppt/notesSlides/notesSlide12.xml" Id="R81d5dc17ae824d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6466bf0544415" /><Relationship Type="http://schemas.openxmlformats.org/officeDocument/2006/relationships/notesSlide" Target="/ppt/notesSlides/notesSlide13.xml" Id="R93fdd6f8188a4f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421b0cb3b4fd8" /><Relationship Type="http://schemas.openxmlformats.org/officeDocument/2006/relationships/notesSlide" Target="/ppt/notesSlides/notesSlide14.xml" Id="R0cc07c5b76844c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dadf5196e44e1" /><Relationship Type="http://schemas.openxmlformats.org/officeDocument/2006/relationships/notesSlide" Target="/ppt/notesSlides/notesSlide15.xml" Id="Rdaaeb851955b46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c5d45d8ba4026" /><Relationship Type="http://schemas.openxmlformats.org/officeDocument/2006/relationships/chart" Target="/ppt/slides/charts/chart1.xml" Id="Rb931c2af657d4217" /><Relationship Type="http://schemas.openxmlformats.org/officeDocument/2006/relationships/notesSlide" Target="/ppt/notesSlides/notesSlide16.xml" Id="R9a637522eaa14b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f492eab2446c6" /><Relationship Type="http://schemas.openxmlformats.org/officeDocument/2006/relationships/notesSlide" Target="/ppt/notesSlides/notesSlide17.xml" Id="R3a022b9dc16247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701332d1b46b2" /><Relationship Type="http://schemas.openxmlformats.org/officeDocument/2006/relationships/notesSlide" Target="/ppt/notesSlides/notesSlide18.xml" Id="Rd3d2ce93dbf2476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潜在年度考生</c:v>
          </c:tx>
          <c:spPr>
            <a:solidFill xmlns:a="http://schemas.openxmlformats.org/drawingml/2006/main">
              <a:srgbClr val="2F66E8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102744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保守 5.0%</c:v>
                </c:pt>
                <c:pt idx="1">
                  <c:v>中性 7.5%</c:v>
                </c:pt>
                <c:pt idx="2">
                  <c:v>积极 10.0%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3420</c:v>
                </c:pt>
                <c:pt idx="1">
                  <c:v>5130</c:v>
                </c:pt>
                <c:pt idx="2">
                  <c:v>6840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2F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7E2F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7E2F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3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9a63c15a74aa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000"/>
            <a:ext cx="5219700" cy="6096000"/>
          </a:xfrm>
          <a:prstGeom xmlns:a="http://schemas.openxmlformats.org/drawingml/2006/main" prst="roundRect">
            <a:avLst>
              <a:gd name="adj" fmla="val 5109"/>
            </a:avLst>
          </a:prstGeom>
          <a:solidFill xmlns:a="http://schemas.openxmlformats.org/drawingml/2006/main">
            <a:srgbClr val="071B36"/>
          </a:solidFill>
          <a:ln xmlns:a="http://schemas.openxmlformats.org/drawingml/2006/main" w="9525">
            <a:solidFill>
              <a:srgbClr val="2447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职考项目拓展">
            <a:extLst xmlns:a="http://schemas.openxmlformats.org/drawingml/2006/main"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 xmlns:a="http://schemas.openxmlformats.org/drawingml/2006/main"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572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 xmlns:a="http://schemas.openxmlformats.org/drawingml/2006/main"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市场与竞品、考试需求及首期产品范围</a:t>
            </a:r>
          </a:p>
        </p:txBody>
      </p:sp>
      <p:sp>
        <p:nvSpPr>
          <p:cNvPr id="8" name="2026.09">
            <a:extLst xmlns:a="http://schemas.openxmlformats.org/drawingml/2006/main"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1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 xmlns:a="http://schemas.openxmlformats.org/drawingml/2006/main"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同步上线 341、342、343，以低成本试点验证真实价值</a:t>
            </a:r>
          </a:p>
        </p:txBody>
      </p:sp>
      <p:sp>
        <p:nvSpPr>
          <p:cNvPr id="3" name="市场规模不大，但与良医汇现有肿瘤医生用户高度匹配。">
            <a:extLst xmlns:a="http://schemas.openxmlformats.org/drawingml/2006/main"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现有用户提供试点基础，需求规模和商业价值仍需实际验证。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 xmlns:a="http://schemas.openxmlformats.org/drawingml/2006/main"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6.6–7.1 万">
            <a:extLst xmlns:a="http://schemas.openxmlformats.org/drawingml/2006/main"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6.6–7.1 万</a:t>
            </a:r>
          </a:p>
        </p:txBody>
      </p:sp>
      <p:sp>
        <p:nvSpPr>
          <p:cNvPr id="11" name="全国狭义肿瘤科医师">
            <a:extLst xmlns:a="http://schemas.openxmlformats.org/drawingml/2006/main"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狭义肿瘤科医师推算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0.33–0.71 万">
            <a:extLst xmlns:a="http://schemas.openxmlformats.org/drawingml/2006/main"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0.33–0.71 万</a:t>
            </a:r>
          </a:p>
        </p:txBody>
      </p:sp>
      <p:sp>
        <p:nvSpPr>
          <p:cNvPr id="14" name="潜在年度考生">
            <a:extLst xmlns:a="http://schemas.openxmlformats.org/drawingml/2006/main"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年度需求情景，非报名数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3 个专业">
            <a:extLst xmlns:a="http://schemas.openxmlformats.org/drawingml/2006/main"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 xmlns:a="http://schemas.openxmlformats.org/drawingml/2006/main"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329565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低成本试点">
            <a:extLst xmlns:a="http://schemas.openxmlformats.org/drawingml/2006/main"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低成本试点</a:t>
            </a:r>
          </a:p>
        </p:txBody>
      </p:sp>
      <p:sp>
        <p:nvSpPr>
          <p:cNvPr id="20" name="真实使用与付费再决策">
            <a:extLst xmlns:a="http://schemas.openxmlformats.org/drawingml/2006/main"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0507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先验证使用，收费待定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 xmlns:a="http://schemas.openxmlformats.org/drawingml/2006/main"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432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4" name="接入现有职考小程序，复用答题、诊断、错题和 AI 辅助能力。">
            <a:extLst xmlns:a="http://schemas.openxmlformats.org/drawingml/2006/main"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432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接入现有职考小程序，复用答题、诊断、错题和 AI 辅助能力。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02">
            <a:extLst xmlns:a="http://schemas.openxmlformats.org/drawingml/2006/main"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 xmlns:a="http://schemas.openxmlformats.org/drawingml/2006/main"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95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 xmlns:a="http://schemas.openxmlformats.org/drawingml/2006/main"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按考纲组织内容，以选项解析和案例训练验证学习价值。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45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 xmlns:a="http://schemas.openxmlformats.org/drawingml/2006/main"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95950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三专业同步接入，先验证学习价值，再确定收费与后续投入。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项目背景">
            <a:extLst xmlns:a="http://schemas.openxmlformats.org/drawingml/2006/main"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 xmlns:a="http://schemas.openxmlformats.org/drawingml/2006/main"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>
            <a:extLst xmlns:a="http://schemas.openxmlformats.org/drawingml/2006/main"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良医汇现有肿瘤医生用户与职考产品基础，降低了中级题库的接入成本。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 xmlns:a="http://schemas.openxmlformats.org/drawingml/2006/main"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项目价值">
            <a:extLst xmlns:a="http://schemas.openxmlformats.org/drawingml/2006/main"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383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 xmlns:a="http://schemas.openxmlformats.org/drawingml/2006/main"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</a:p>
        </p:txBody>
      </p:sp>
      <p:sp>
        <p:nvSpPr>
          <p:cNvPr id="12" name="降低目标用户触达与获取成本">
            <a:extLst xmlns:a="http://schemas.openxmlformats.org/drawingml/2006/main"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降低目标用户触达与获取成本</a:t>
            </a:r>
          </a:p>
        </p:txBody>
      </p:sp>
      <p:sp>
        <p:nvSpPr>
          <p:cNvPr id="13" name="满足晋升需求">
            <a:extLst xmlns:a="http://schemas.openxmlformats.org/drawingml/2006/main"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>
            <a:extLst xmlns:a="http://schemas.openxmlformats.org/drawingml/2006/main"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67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 xmlns:a="http://schemas.openxmlformats.org/drawingml/2006/main"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拓展 AI 场景</a:t>
            </a:r>
          </a:p>
        </p:txBody>
      </p:sp>
      <p:sp>
        <p:nvSpPr>
          <p:cNvPr id="16" name="将 AI 私教与追问迁移到职称考试">
            <a:extLst xmlns:a="http://schemas.openxmlformats.org/drawingml/2006/main"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将 AI 私教与追问迁移到职称考试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112520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中级">
            <a:extLst xmlns:a="http://schemas.openxmlformats.org/drawingml/2006/main"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 xmlns:a="http://schemas.openxmlformats.org/drawingml/2006/main"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00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 xmlns:a="http://schemas.openxmlformats.org/drawingml/2006/main"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90950"/>
            <a:ext cx="702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 xmlns:a="http://schemas.openxmlformats.org/drawingml/2006/main"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100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通常每年 4 月，标准化程度高；首期聚焦 341–343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11125200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高级">
            <a:extLst xmlns:a="http://schemas.openxmlformats.org/drawingml/2006/main"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 xmlns:a="http://schemas.openxmlformats.org/drawingml/2006/main"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244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 xmlns:a="http://schemas.openxmlformats.org/drawingml/2006/main"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24425"/>
            <a:ext cx="702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专业代码、考试时间和要求因省份而异，首期暂不纳入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 xmlns:a="http://schemas.openxmlformats.org/drawingml/2006/main"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现有用户与职考产品基础降低了触达和接入成本，首期聚焦 341、342、343。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中级职称更适合首期规模化建设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全国统一考试的标准化程度更高；高级职称需要适配不同省份。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 / 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各省组织考试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用户特点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职业晋升阶段集中，备考需求较明确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高年资医生，需求强但地区差异明显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产品价值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标准化程度高，适合 AI 辅助与规模化复制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用户价值较高，但需要逐省适配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主要挑战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四科成绩两年滚动，备考周期可能跨年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考试形式、时间和要求不统一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本期建议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第一阶段优先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后续根据用户需求验证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中级专业方向">
            <a:extLst xmlns:a="http://schemas.openxmlformats.org/drawingml/2006/main"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 xmlns:a="http://schemas.openxmlformats.org/drawingml/2006/main"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341、342、343 面向不同人群，适合同步上线</a:t>
            </a:r>
          </a:p>
        </p:txBody>
      </p:sp>
      <p:sp>
        <p:nvSpPr>
          <p:cNvPr id="3" name="三者均为全国统考专业，本期不再设置单专业优先级。">
            <a:extLst xmlns:a="http://schemas.openxmlformats.org/drawingml/2006/main"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 xmlns:a="http://schemas.openxmlformats.org/drawingml/2006/main"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341">
            <a:extLst xmlns:a="http://schemas.openxmlformats.org/drawingml/2006/main"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 xmlns:a="http://schemas.openxmlformats.org/drawingml/2006/main"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主要用户</a:t>
            </a:r>
          </a:p>
        </p:txBody>
      </p:sp>
      <p:sp>
        <p:nvSpPr>
          <p:cNvPr id="13" name="肿瘤科、内科医生">
            <a:extLst xmlns:a="http://schemas.openxmlformats.org/drawingml/2006/main"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肿瘤科、内科医生</a:t>
            </a:r>
          </a:p>
        </p:txBody>
      </p:sp>
      <p:sp>
        <p:nvSpPr>
          <p:cNvPr id="14" name="与既有用户结构匹配度较高，是主要需求来源">
            <a:extLst xmlns:a="http://schemas.openxmlformats.org/drawingml/2006/main"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预期与既有用户匹配，实际需求占比需通过试点验证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342">
            <a:extLst xmlns:a="http://schemas.openxmlformats.org/drawingml/2006/main"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 xmlns:a="http://schemas.openxmlformats.org/drawingml/2006/main"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主要用户</a:t>
            </a:r>
          </a:p>
        </p:txBody>
      </p:sp>
      <p:sp>
        <p:nvSpPr>
          <p:cNvPr id="19" name="肿瘤外科医生">
            <a:extLst xmlns:a="http://schemas.openxmlformats.org/drawingml/2006/main"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肿瘤外科医生</a:t>
            </a:r>
          </a:p>
        </p:txBody>
      </p:sp>
      <p:sp>
        <p:nvSpPr>
          <p:cNvPr id="20" name="器官专科分散，但完整覆盖更利于承接真实需求">
            <a:extLst xmlns:a="http://schemas.openxmlformats.org/drawingml/2006/main"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器官专科分散，但完整覆盖更利于承接真实需求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343">
            <a:extLst xmlns:a="http://schemas.openxmlformats.org/drawingml/2006/main"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 xmlns:a="http://schemas.openxmlformats.org/drawingml/2006/main"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主要用户</a:t>
            </a:r>
          </a:p>
        </p:txBody>
      </p:sp>
      <p:sp>
        <p:nvSpPr>
          <p:cNvPr id="25" name="放疗医生">
            <a:extLst xmlns:a="http://schemas.openxmlformats.org/drawingml/2006/main"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放疗医生</a:t>
            </a:r>
          </a:p>
        </p:txBody>
      </p:sp>
      <p:sp>
        <p:nvSpPr>
          <p:cNvPr id="26" name="用户群体较明确，可复用部分基础知识与产品能力">
            <a:extLst xmlns:a="http://schemas.openxmlformats.org/drawingml/2006/main"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前两科共用大纲，后两科按放疗要求组织内容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 xmlns:a="http://schemas.openxmlformats.org/drawingml/2006/main"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1497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341、342、343 面向不同医生群体，可复用产品框架，建议同步上线。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中级考试结构">
            <a:extLst xmlns:a="http://schemas.openxmlformats.org/drawingml/2006/main"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 xmlns:a="http://schemas.openxmlformats.org/drawingml/2006/main"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四科分别备考，案例题规则需单独核验</a:t>
            </a:r>
          </a:p>
        </p:txBody>
      </p:sp>
      <p:sp>
        <p:nvSpPr>
          <p:cNvPr id="3" name="适用于 341、342、343 等全国统一组织的中级职称考试。">
            <a:extLst xmlns:a="http://schemas.openxmlformats.org/drawingml/2006/main"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已确认四科机考、每科90分钟、各科60分合格及连续两年滚动。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 xmlns:a="http://schemas.openxmlformats.org/drawingml/2006/main"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graphicFrame>
        <p:nvGraphicFramePr>
          <p:cNvPr id="30" name="表格 27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1657350"/>
                <a:gridCol w="1657350"/>
                <a:gridCol w="5600700"/>
              </a:tblGrid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内容组织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题型与规则状态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题量与题型分布需核验当年说明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题量与题型分布需核验当年说明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按专业区分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按专业考纲配置，题型分布待核验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按专业区分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机构资料指向案例题，题量与计分待核验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产品必须准确适配">
            <a:extLst xmlns:a="http://schemas.openxmlformats.org/drawingml/2006/main"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产品必须准确适配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案例分析题选错扣分">
            <a:extLst xmlns:a="http://schemas.openxmlformats.org/drawingml/2006/main"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选项计分待核验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单向作答，不可回退">
            <a:extLst xmlns:a="http://schemas.openxmlformats.org/drawingml/2006/main"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回退限制待核验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四科成绩两年滚动">
            <a:extLst xmlns:a="http://schemas.openxmlformats.org/drawingml/2006/main"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同专业四科两年滚动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 xmlns:a="http://schemas.openxmlformats.org/drawingml/2006/main"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626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首次备考与部分科目补考均需覆盖，案例题规则核验后进入开发。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考纲与内容建设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前两科共用内容，后两科按专业组织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同一癌种的考核深度不同，题目需关联专业、科目、考点与要求。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内容层级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大纲证据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产品落点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第2—22页，三专业共用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诊断、分期、评估、伦理等内容统一维护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第23—32页，三专业共用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各治疗总论共用，保留科目归属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341第33—48页，342第52—69页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343第73—86页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按专业要求安排学习顺序和训练深度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三个专业分别列出疾病范围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分别映射第四科范围，避免直接复制第三科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肺癌示例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341侧重药物，342侧重手术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343侧重放疗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保存大纲要求，不将掌握等级等同出题频率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共用知识点统一维护，专业差异通过考点要求和题目映射体现。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目标用户与备考任务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首次备考与补考用户需要不同学习计划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四科分别通过，连续两年滚动，需要识别用户本次实际备考科目。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用户场景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主要任务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首期产品响应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首次备考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建立四科知识框架，发现遗漏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四科覆盖检查，初测后安排章节学习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部分科目补考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集中准备未通过科目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选择本次备考科目，记录已过科目及年份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在职、时间有限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知道今天优先学什么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结合备考时长和薄弱点安排可完成任务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刷题正确但不会迁移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换病例或条件后仍能判断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同考点新题复测，区分首次与重复答题表现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需求验证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识别真实困难与使用意愿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分专业、首次或补考招募试用，记录反馈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补考场景有考试制度依据，其余学习困难作为试点需求假设验证。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案例分析题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案例训练需要病例连续性与选项级解析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截图提供题型线索，最终计分与回退规则需以当年考试说明核验。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练习模式建议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模拟考试建议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病例主干和分问关联，按步骤练习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按确认后的考试顺序展示和提交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答案反馈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解释各选项及对应病例条件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交卷后统一反馈，避免提前泄露后续答案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得分与错因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区分漏选、错选与知识点不熟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计分公式、分值与最低分核验后配置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回退与断点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支持复盘，退出后保存当前进度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若规则要求锁题，重进后保留已提交状态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迁移检验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更换关键条件，安排同考点新题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分别报告案例题表现和各科掌握情况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案例答题与解析列为首期重点，计分和回退规则核验后实现。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竞品分析">
            <a:extLst xmlns:a="http://schemas.openxmlformats.org/drawingml/2006/main"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 xmlns:a="http://schemas.openxmlformats.org/drawingml/2006/main"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市场供给与五家重点对标对象</a:t>
            </a:r>
          </a:p>
        </p:txBody>
      </p:sp>
      <p:sp>
        <p:nvSpPr>
          <p:cNvPr id="3" name="不同产品形态覆盖从传统权威题集到移动端题库与会员社区。">
            <a:extLst xmlns:a="http://schemas.openxmlformats.org/drawingml/2006/main"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沿用原方案的竞品样本，产品权益与能力需通过同口径实测比较。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 xmlns:a="http://schemas.openxmlformats.org/drawingml/2006/main"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graphicFrame>
        <p:nvGraphicFramePr>
          <p:cNvPr id="34" name="表格 31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429000"/>
                <a:gridCol w="2476500"/>
                <a:gridCol w="3409950"/>
              </a:tblGrid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代表产品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参考价值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后续核验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人卫版习题集、军医版电子试卷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考纲组织与经典题型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版本年份、考点覆盖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《肿瘤内科5000题》等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章节体系与例题解析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解析依据、配套服务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阿虎医考、考试宝典等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移动刷题与学习反馈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案例题交互、纠错效率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 VIP 题库等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智能讲解与推荐思路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专业准确率、依据与权益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五家直接竞品">
            <a:extLst xmlns:a="http://schemas.openxmlformats.org/drawingml/2006/main"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五家直接竞品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阿虎医考">
            <a:extLst xmlns:a="http://schemas.openxmlformats.org/drawingml/2006/main"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考试宝典">
            <a:extLst xmlns:a="http://schemas.openxmlformats.org/drawingml/2006/main"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肿瘤学圣题库">
            <a:extLst xmlns:a="http://schemas.openxmlformats.org/drawingml/2006/main"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肿瘤学圣题库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蓝基因">
            <a:extLst xmlns:a="http://schemas.openxmlformats.org/drawingml/2006/main"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医考帮">
            <a:extLst xmlns:a="http://schemas.openxmlformats.org/drawingml/2006/main"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 xmlns:a="http://schemas.openxmlformats.org/drawingml/2006/main"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626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五家均为直接竞品，市场已有成熟链路、合并题库、低价单题库和会员制。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竞品横向对比">
            <a:extLst xmlns:a="http://schemas.openxmlformats.org/drawingml/2006/main"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 xmlns:a="http://schemas.openxmlformats.org/drawingml/2006/main"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竞品价格样本与待验证的收费方式</a:t>
            </a:r>
          </a:p>
        </p:txBody>
      </p:sp>
      <p:sp>
        <p:nvSpPr>
          <p:cNvPr id="3" name="公开价格样本用于理解购买门槛，不代表长期售价或完整权益完全可比。">
            <a:extLst xmlns:a="http://schemas.openxmlformats.org/drawingml/2006/main"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价格沿用原方案，采集日期与当前权益待复核。本期收费方式尚未决定。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 xmlns:a="http://schemas.openxmlformats.org/drawingml/2006/main"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111252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038350"/>
                <a:gridCol w="2400300"/>
                <a:gridCol w="2457450"/>
                <a:gridCol w="2895600"/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 / 价格样本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核心优势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对良医汇的启示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医学职称综合平台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肿瘤内科、外科题库均 ¥160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全专业覆盖，学习链路完整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竞争肿瘤专业深度、可信解析与既有用户触达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大题库、多考试品类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/ 342 / 343 合并题库 ¥168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覆盖广、合并销售、多终端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在解析质量与更新速度上建立差异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肿瘤学圣题库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长尾单科低价题库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341 ¥58；342 ¥68；343 ¥58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低价、单科购买、决策简单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低价样本提供参考，溢价需要内容与 AI 价值支撑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移动医学题库平台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肿瘤中级相关题库 ¥58 / 套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低价，基础刷题与错题完整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首期定价和基础体验的重点对标对象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 + 社区会员平台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统一会员制，非单题库购买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题库广、评论统计与社区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会员模式作为备选，核验权益与适用人群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 xmlns:a="http://schemas.openxmlformats.org/drawingml/2006/main"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单专业、组合包与会员均为备选，按实际需求和使用成本再决策。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能力对标与产品响应">
            <a:extLst xmlns:a="http://schemas.openxmlformats.org/drawingml/2006/main"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能力对标与产品响应</a:t>
            </a:r>
          </a:p>
        </p:txBody>
      </p:sp>
      <p:sp>
        <p:nvSpPr>
          <p:cNvPr id="2" name="差异化应集中在专科内容、可信解析与持续更新">
            <a:extLst xmlns:a="http://schemas.openxmlformats.org/drawingml/2006/main"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差异化应集中在专科内容、可信解析与持续更新</a:t>
            </a:r>
          </a:p>
        </p:txBody>
      </p:sp>
      <p:sp>
        <p:nvSpPr>
          <p:cNvPr id="3" name="复杂功能不能替代肿瘤专业内容质量。">
            <a:extLst xmlns:a="http://schemas.openxmlformats.org/drawingml/2006/main"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复杂功能不能替代肿瘤专业内容质量。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 xmlns:a="http://schemas.openxmlformats.org/drawingml/2006/main"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graphicFrame>
        <p:nvGraphicFramePr>
          <p:cNvPr id="26" name="表格 23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352800"/>
                <a:gridCol w="5581650"/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关键能力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首要对标对象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良医汇首期响应</a:t>
                      </a:r>
                      <a:endParaRPr sz="13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三专业完整覆盖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阿虎医考、考试宝典、医考帮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同步上线 341 / 342 / 343；按各自考纲组织题目与解析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题目与解析质量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阿虎医考、传统权威题集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保证考纲覆盖、解析依据、错题修订和持续更新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价格与售卖方式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蓝基因、圣才、考试宝典、医考帮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收费方式待定，先验证试用价值、需求与服务成本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现有功能复用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阿虎医考、医考帮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复用答题、错题和</a:t>
                      </a: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AI；首期不新增课程、师资或社区</a:t>
                      </a:r>
                      <a:endParaRPr sz="1350" b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11252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内容可信">
            <a:extLst xmlns:a="http://schemas.openxmlformats.org/drawingml/2006/main"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内容可信</a:t>
            </a:r>
          </a:p>
        </p:txBody>
      </p:sp>
      <p:sp>
        <p:nvSpPr>
          <p:cNvPr id="12" name="每道题都要有可核验的考纲与解析依据">
            <a:extLst xmlns:a="http://schemas.openxmlformats.org/drawingml/2006/main"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24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每道题都要有可核验的考纲与解析依据</a:t>
            </a:r>
            <a:endParaRPr sz="1575" b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 xmlns:a="http://schemas.openxmlformats.org/drawingml/2006/main"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差异化假设通过考点覆盖、解析质量和案例训练效果验证。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内容质量与更新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可信解析需要明确依据、审核和修订机制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大纲决定覆盖范围，解析保留所用教材或指南版本及审核记录。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需要完成的工作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交付与验收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考点整理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按专业、四科、疾病和考点建立映射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标明大纲要求与来源页码，列出未覆盖项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题目解析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说明正确答案、排除理由和适用条件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病例条件、答案与来源相互一致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专业审核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审核医学内容、案例逻辑与评分配置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首批上线题均完成审核，争议题暂停发布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围绕已审核题目与资料提供追问讲解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缺少依据时提示不确定，不自行改标准答案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纠错更新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接收反馈，核实版本差异并修订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保留修订记录，同步关联题目和解析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大纲覆盖、题目审核与更新责任明确后，才能持续提供可信训练。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接入现有小程序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首屏新增三个选项，后续流程按专业适配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以用户提供的最新七张产品截图为基准，沿用现有页面与功能入口。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现有节点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本期调整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范围边界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备考专业选择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保留临床执业，新增341、342、343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直接进入下一步，不新增专业选择层级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备考信息与测评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沿用时间、状态问题，补充备考科目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初测用于诊断，不直接给出正式通过概率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学习计划与首页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展示目标专业、年份、四科进度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题量按实际资源配置，不沿用3000题承诺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AI私教与错题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携带当前专业、科目、题目上下文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错题讲解后安排相关考点复测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会员与权益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保留接入能力，收费方式单独决策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原9.9元及权益不自动适用中级专业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复用现有产品流程，重点补齐四科计划、专业内容和案例答题能力。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市场规模">
            <a:extLst xmlns:a="http://schemas.openxmlformats.org/drawingml/2006/main"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 xmlns:a="http://schemas.openxmlformats.org/drawingml/2006/main"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存量医师推算与考试需求情景</a:t>
            </a:r>
          </a:p>
        </p:txBody>
      </p:sp>
      <p:sp>
        <p:nvSpPr>
          <p:cNvPr id="3" name="不同证据承担不同用途，内部情景不能表述为官方报名率。">
            <a:extLst xmlns:a="http://schemas.openxmlformats.org/drawingml/2006/main"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原方案推算作为规划参考，狭义肿瘤科口径不能直接覆盖三个报考专业。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 xmlns:a="http://schemas.openxmlformats.org/drawingml/2006/main"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5242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A｜官方数据">
            <a:extLst xmlns:a="http://schemas.openxmlformats.org/drawingml/2006/main"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A｜原方案数据</a:t>
            </a:r>
          </a:p>
        </p:txBody>
      </p:sp>
      <p:sp>
        <p:nvSpPr>
          <p:cNvPr id="11" name="医师总量、分科占比、村卫生室人数">
            <a:extLst xmlns:a="http://schemas.openxmlformats.org/drawingml/2006/main"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医师总量、分科占比等，原始来源待复核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52600"/>
            <a:ext cx="35242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B｜同口径推算">
            <a:extLst xmlns:a="http://schemas.openxmlformats.org/drawingml/2006/main"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05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B｜同口径推算</a:t>
            </a:r>
          </a:p>
        </p:txBody>
      </p:sp>
      <p:sp>
        <p:nvSpPr>
          <p:cNvPr id="14" name="扣除村卫生室医师，再乘肿瘤科占比">
            <a:extLst xmlns:a="http://schemas.openxmlformats.org/drawingml/2006/main"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383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扣除村卫生室医师，再乘肿瘤科占比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5242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C｜内部情景">
            <a:extLst xmlns:a="http://schemas.openxmlformats.org/drawingml/2006/main"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C｜内部情景</a:t>
            </a:r>
          </a:p>
        </p:txBody>
      </p:sp>
      <p:sp>
        <p:nvSpPr>
          <p:cNvPr id="17" name="年度报考窗口占存量医师 5%–10%">
            <a:extLst xmlns:a="http://schemas.openxmlformats.org/drawingml/2006/main"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年度报考窗口占存量医师 5%–10%</a:t>
            </a:r>
          </a:p>
        </p:txBody>
      </p:sp>
      <p:graphicFrame>
        <p:nvGraphicFramePr>
          <p:cNvPr id="50" name="表格 47"/>
          <p:cNvGraphicFramePr/>
          <p:nvPr/>
        </p:nvGraphicFramePr>
        <p:xfrm>
          <a:off xmlns:a="http://schemas.openxmlformats.org/drawingml/2006/main" x="533400" y="2857500"/>
          <a:ext xmlns:a="http://schemas.openxmlformats.org/drawingml/2006/main" cx="111252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809750"/>
                <a:gridCol w="1809750"/>
                <a:gridCol w="1905000"/>
                <a:gridCol w="1714500"/>
                <a:gridCol w="2743200"/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村卫生室医师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同口径分母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肿瘤科占比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中心值推算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4,782,086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508,452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4,273,634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64,105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5,081,532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521,665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4,559,867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68,398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3381375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68,398 人">
            <a:extLst xmlns:a="http://schemas.openxmlformats.org/drawingml/2006/main"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 xmlns:a="http://schemas.openxmlformats.org/drawingml/2006/main"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2024 年中心值推算</a:t>
            </a: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52950"/>
            <a:ext cx="342900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6.61–7.07 万人">
            <a:extLst xmlns:a="http://schemas.openxmlformats.org/drawingml/2006/main"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863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 xmlns:a="http://schemas.openxmlformats.org/drawingml/2006/main"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172075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 1.45%–1.55% 取整误差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52950"/>
            <a:ext cx="3933825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EBDD"/>
          </a:solidFill>
          <a:ln xmlns:a="http://schemas.openxmlformats.org/drawingml/2006/main" w="9525">
            <a:solidFill>
              <a:srgbClr val="E8D4B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口径更正">
            <a:extLst xmlns:a="http://schemas.openxmlformats.org/drawingml/2006/main"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695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口径更正</a:t>
            </a:r>
          </a:p>
        </p:txBody>
      </p:sp>
      <p:sp>
        <p:nvSpPr>
          <p:cNvPr id="27" name="10–12.5 万人不能直接作考试市场分母">
            <a:extLst xmlns:a="http://schemas.openxmlformats.org/drawingml/2006/main"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05777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科室人数不等同于三专业报考人群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 xmlns:a="http://schemas.openxmlformats.org/drawingml/2006/main"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388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现有测算支持情景规划，三专业的真实需求需按目标考生重新验证。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年度考生规模">
            <a:extLst xmlns:a="http://schemas.openxmlformats.org/drawingml/2006/main"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 xmlns:a="http://schemas.openxmlformats.org/drawingml/2006/main"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年度需求情景约 0.33–0.71 万人</a:t>
            </a:r>
            <a:endParaRPr sz="2850" b="1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 xmlns:a="http://schemas.openxmlformats.org/drawingml/2006/main"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沿用原方案的5%–10%情景和专业拆分，均非真实报名人数或市场份额。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 xmlns:a="http://schemas.openxmlformats.org/drawingml/2006/main"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667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723900" y="1962150"/>
          <a:ext xmlns:a="http://schemas.openxmlformats.org/drawingml/2006/main" cx="61912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31c2af657d4217"/>
          </a:graphicData>
        </a:graphic>
      </p:graphicFrame>
      <p:graphicFrame>
        <p:nvGraphicFramePr>
          <p:cNvPr id="31" name="表格 27"/>
          <p:cNvGraphicFramePr/>
          <p:nvPr/>
        </p:nvGraphicFramePr>
        <p:xfrm>
          <a:off xmlns:a="http://schemas.openxmlformats.org/drawingml/2006/main" x="7524750" y="1752600"/>
          <a:ext xmlns:a="http://schemas.openxmlformats.org/drawingml/2006/main" cx="41338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562100"/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1125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口径提示">
            <a:extLst xmlns:a="http://schemas.openxmlformats.org/drawingml/2006/main"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 xmlns:a="http://schemas.openxmlformats.org/drawingml/2006/main"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3397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考虑肿瘤科占比取整误差，情景范围约 3,306–7,068 人；测算人数不等于付费用户。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 xmlns:a="http://schemas.openxmlformats.org/drawingml/2006/main"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388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先统计可触达的目标考生，再验证实际使用和需求，逐步校准测算。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试点验证与上线条件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先验证真实学习价值，再决定商业化与投入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按341、342、343及首次或补考分组观察，目标阈值由试点基线确定。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观察指标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建议统计口径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支持的决策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首次练习完成率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完成首个练习任务人数 / 进入学习人数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入口、计划与首练是否顺畅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第7日学习留存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首次学习后第7日仍有学习行为的人数占比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内容和计划能否支持持续使用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同考点新题表现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比较首次训练与复测的新题表现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判断理解是否改善，控制题目难度差异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质量与成本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有效纠错率、审核工时、AI调用成本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估算内容维护和服务成本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商业化验证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收费后统计转化、退款和服务成本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未收费阶段仅收集意愿，不称真实付费率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上线前完成大纲版本确认、规则核验、题库审核和三专业流程验收。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结论与行动">
            <a:extLst xmlns:a="http://schemas.openxmlformats.org/drawingml/2006/main"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 xmlns:a="http://schemas.openxmlformats.org/drawingml/2006/main"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三专业同步试点，以学习价值和维护成本决定投入</a:t>
            </a:r>
          </a:p>
        </p:txBody>
      </p:sp>
      <p:sp>
        <p:nvSpPr>
          <p:cNvPr id="3" name="产品定位：面向肿瘤医生的职称备考题库，复用职考 Go 现有 AI 能力。">
            <a:extLst xmlns:a="http://schemas.openxmlformats.org/drawingml/2006/main"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产品定位：面向肿瘤医生的职称备考题库，复用职考 Go 现有 AI 能力。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 xmlns:a="http://schemas.openxmlformats.org/drawingml/2006/main"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 xmlns:a="http://schemas.openxmlformats.org/drawingml/2006/main"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 xmlns:a="http://schemas.openxmlformats.org/drawingml/2006/main"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共用前两科内容，分别建设后两科与案例训练。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 xmlns:a="http://schemas.openxmlformats.org/drawingml/2006/main"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622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 xmlns:a="http://schemas.openxmlformats.org/drawingml/2006/main"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首屏增加三个专业，后续计划和题目按专业、备考科目适配。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 xmlns:a="http://schemas.openxmlformats.org/drawingml/2006/main"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售卖</a:t>
            </a:r>
          </a:p>
        </p:txBody>
      </p:sp>
      <p:sp>
        <p:nvSpPr>
          <p:cNvPr id="20" name="优先单题库或三专业组合包，避免强制采用全站会员制。">
            <a:extLst xmlns:a="http://schemas.openxmlformats.org/drawingml/2006/main"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收费方式、价格与权益待定，先完成需求与成本验证。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04">
            <a:extLst xmlns:a="http://schemas.openxmlformats.org/drawingml/2006/main"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 xmlns:a="http://schemas.openxmlformats.org/drawingml/2006/main"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 xmlns:a="http://schemas.openxmlformats.org/drawingml/2006/main"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跟踪首练、复访、薄弱点复测与维护成本，收费后再看付费。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38775"/>
            <a:ext cx="1112520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 xmlns:a="http://schemas.openxmlformats.org/drawingml/2006/main"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91175"/>
            <a:ext cx="895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规则核验、内容审核和三专业联调通过后试点，收费方案单独决策。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2026-09-17T07:06:55.2170000Z</dcterms:created>
  <dcterms:modified xsi:type="dcterms:W3CDTF">2026-09-17T07:06:55.2170000Z</dcterms:modified>
</coreProperties>
</file>