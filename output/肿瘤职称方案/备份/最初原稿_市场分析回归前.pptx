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624"/>
  </p:normalViewPr>
  <p:slideViewPr>
    <p:cSldViewPr snapToGrid="0">
      <p:cViewPr varScale="1">
        <p:scale>
          <a:sx n="111" d="100"/>
          <a:sy n="111" d="100"/>
        </p:scale>
        <p:origin x="73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潜在年度考生</c:v>
          </c:tx>
          <c:spPr>
            <a:solidFill>
              <a:srgbClr val="2F66E8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102744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保守 5.0%</c:v>
              </c:pt>
              <c:pt idx="1">
                <c:v>中性 7.5%</c:v>
              </c:pt>
              <c:pt idx="2">
                <c:v>积极 10.0%</c:v>
              </c:pt>
            </c:strLit>
          </c:cat>
          <c:val>
            <c:numLit>
              <c:formatCode>General</c:formatCode>
              <c:ptCount val="3"/>
              <c:pt idx="0">
                <c:v>3420</c:v>
              </c:pt>
              <c:pt idx="1">
                <c:v>5130</c:v>
              </c:pt>
              <c:pt idx="2">
                <c:v>6840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BB7-5B49-AE63-0533C6D439A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7E2F1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7E2F1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7E2F1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来源：用户提供的《职考项目拓展——肿瘤职称市场分析》PDF，第1页。</a:t>
            </a:r>
          </a:p>
          <a:p>
            <a:r>
              <a:t>源文件：/Users/wing/Downloads/职考项目拓展——肿瘤职称市场分析.pdf</a:t>
            </a:r>
          </a:p>
          <a:p>
            <a:r>
              <a:t>说明：封面仅采用蓝色报告的设计系统，内容以本次PDF为准。封面背景为基于该设计系统生成的无文字抽象视觉。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来源：用户提供的《职考项目拓展——肿瘤职称市场分析》PDF，第1、8、9页。</a:t>
            </a:r>
          </a:p>
          <a:p>
            <a:r>
              <a:t>源文件：/Users/wing/Downloads/职考项目拓展——肿瘤职称市场分析.pdf</a:t>
            </a:r>
          </a:p>
          <a:p>
            <a:r>
              <a:t>说明：0.33–0.71万人采用PDF给出的取整误差情景范围；付费用户规模不能由考生数直接等同。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来源：用户提供的《职考项目拓展——肿瘤职称市场分析》PDF，第1、2页。</a:t>
            </a:r>
          </a:p>
          <a:p>
            <a:r>
              <a:t>源文件：/Users/wing/Downloads/职考项目拓展——肿瘤职称市场分析.pdf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来源：用户提供的《职考项目拓展——肿瘤职称市场分析》PDF，第2页。</a:t>
            </a:r>
          </a:p>
          <a:p>
            <a:r>
              <a:t>源文件：/Users/wing/Downloads/职考项目拓展——肿瘤职称市场分析.pdf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来源：用户提供的《职考项目拓展——肿瘤职称市场分析》PDF，第2、3页。</a:t>
            </a:r>
          </a:p>
          <a:p>
            <a:r>
              <a:t>源文件：/Users/wing/Downloads/职考项目拓展——肿瘤职称市场分析.pdf</a:t>
            </a:r>
          </a:p>
          <a:p>
            <a:r>
              <a:t>说明：三专业年度人数尚无全国公开报名数据，不能以本页人群描述替代真实报考规模。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来源：用户提供的《职考项目拓展——肿瘤职称市场分析》PDF，第3、4页。</a:t>
            </a:r>
          </a:p>
          <a:p>
            <a:r>
              <a:t>源文件：/Users/wing/Downloads/职考项目拓展——肿瘤职称市场分析.pdf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来源：用户提供的《职考项目拓展——肿瘤职称市场分析》PDF，第4、5、6页。</a:t>
            </a:r>
          </a:p>
          <a:p>
            <a:r>
              <a:t>源文件：/Users/wing/Downloads/职考项目拓展——肿瘤职称市场分析.pdf</a:t>
            </a:r>
          </a:p>
          <a:p>
            <a:r>
              <a:t>说明：PDF正文一处写“六家”，但后续明确列出并比较的是五家直接竞品；本稿按实际清单统一为五家。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来源：用户提供的《职考项目拓展——肿瘤职称市场分析》PDF，第5、6页。</a:t>
            </a:r>
          </a:p>
          <a:p>
            <a:r>
              <a:t>源文件：/Users/wing/Downloads/职考项目拓展——肿瘤职称市场分析.pdf</a:t>
            </a:r>
          </a:p>
          <a:p>
            <a:r>
              <a:t>说明：价格来自PDF所列公开样本；上线前需要再次核验具体权益、期限与实时售价。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来源：用户提供的《职考项目拓展——肿瘤职称市场分析》PDF，第5、6、8、9页。</a:t>
            </a:r>
          </a:p>
          <a:p>
            <a:r>
              <a:t>源文件：/Users/wing/Downloads/职考项目拓展——肿瘤职称市场分析.pdf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来源：用户提供的《职考项目拓展——肿瘤职称市场分析》PDF，第6、7页。</a:t>
            </a:r>
          </a:p>
          <a:p>
            <a:r>
              <a:t>源文件：/Users/wing/Downloads/职考项目拓展——肿瘤职称市场分析.pdf</a:t>
            </a:r>
          </a:p>
          <a:p>
            <a:r>
              <a:t>说明：中心值较2023年增加约6.7%，但PDF明确说明不能把该结果表述为已确认的实际增速。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来源：用户提供的《职考项目拓展——肿瘤职称市场分析》PDF，第7、8页。</a:t>
            </a:r>
          </a:p>
          <a:p>
            <a:r>
              <a:t>源文件：/Users/wing/Downloads/职考项目拓展——肿瘤职称市场分析.pdf</a:t>
            </a:r>
          </a:p>
          <a:p>
            <a:r>
              <a:t>说明：分专业拆分沿用PDF的内部估算，不是官方报名结构；341/342/343约按50%/20%/30%分配仅用于资源安排。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来源：用户提供的《职考项目拓展——肿瘤职称市场分析》PDF，第8、9页。</a:t>
            </a:r>
          </a:p>
          <a:p>
            <a:r>
              <a:t>源文件：/Users/wing/Downloads/职考项目拓展——肿瘤职称市场分析.pdf</a:t>
            </a:r>
          </a:p>
          <a:p>
            <a:r>
              <a:t>说明：该路径是对PDF结论的PPT化重构，没有添加具体工期、预算或收入预测。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圆角矩形 1">
            <a:extLst>
              <a:ext uri="{FF2B5EF4-FFF2-40B4-BE49-F238E27FC236}">
                <a16:creationId xmlns:a16="http://schemas.microsoft.com/office/drawing/2014/main" id="{85EE8ECE-FA42-418A-B3D9-886EE2D87493}"/>
              </a:ext>
            </a:extLst>
          </p:cNvPr>
          <p:cNvSpPr>
            <a:spLocks noGrp="1"/>
          </p:cNvSpPr>
          <p:nvPr/>
        </p:nvSpPr>
        <p:spPr>
          <a:xfrm>
            <a:off x="323850" y="381000"/>
            <a:ext cx="5219700" cy="6096000"/>
          </a:xfrm>
          <a:prstGeom prst="roundRect">
            <a:avLst>
              <a:gd name="adj" fmla="val 5109"/>
            </a:avLst>
          </a:prstGeom>
          <a:solidFill>
            <a:srgbClr val="071B36"/>
          </a:solidFill>
          <a:ln w="9525">
            <a:solidFill>
              <a:srgbClr val="24476E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职考项目拓展">
            <a:extLst>
              <a:ext uri="{FF2B5EF4-FFF2-40B4-BE49-F238E27FC236}">
                <a16:creationId xmlns:a16="http://schemas.microsoft.com/office/drawing/2014/main" id="{6F59EA63-B080-4518-839C-81A1D8F1AC6B}"/>
              </a:ext>
            </a:extLst>
          </p:cNvPr>
          <p:cNvSpPr>
            <a:spLocks noGrp="1"/>
          </p:cNvSpPr>
          <p:nvPr/>
        </p:nvSpPr>
        <p:spPr>
          <a:xfrm>
            <a:off x="628650" y="781050"/>
            <a:ext cx="3905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职考项目拓展</a:t>
            </a:r>
          </a:p>
        </p:txBody>
      </p:sp>
      <p:sp>
        <p:nvSpPr>
          <p:cNvPr id="4" name="肿瘤职称 市场分析">
            <a:extLst>
              <a:ext uri="{FF2B5EF4-FFF2-40B4-BE49-F238E27FC236}">
                <a16:creationId xmlns:a16="http://schemas.microsoft.com/office/drawing/2014/main" id="{AD90D4A1-D79C-400C-823A-1006854AF5CC}"/>
              </a:ext>
            </a:extLst>
          </p:cNvPr>
          <p:cNvSpPr>
            <a:spLocks noGrp="1"/>
          </p:cNvSpPr>
          <p:nvPr/>
        </p:nvSpPr>
        <p:spPr>
          <a:xfrm>
            <a:off x="628650" y="1695450"/>
            <a:ext cx="4572000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肿瘤职称</a:t>
            </a:r>
          </a:p>
          <a:p>
            <a:pPr algn="l">
              <a:lnSpc>
                <a:spcPct val="98000"/>
              </a:lnSpc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市场分析</a:t>
            </a:r>
          </a:p>
        </p:txBody>
      </p:sp>
      <p:sp>
        <p:nvSpPr>
          <p:cNvPr id="5" name="市场规模、竞品格局与首期产品范围">
            <a:extLst>
              <a:ext uri="{FF2B5EF4-FFF2-40B4-BE49-F238E27FC236}">
                <a16:creationId xmlns:a16="http://schemas.microsoft.com/office/drawing/2014/main" id="{AEB54D5D-0C52-4EB1-869D-EF8D35824C1E}"/>
              </a:ext>
            </a:extLst>
          </p:cNvPr>
          <p:cNvSpPr>
            <a:spLocks noGrp="1"/>
          </p:cNvSpPr>
          <p:nvPr/>
        </p:nvSpPr>
        <p:spPr>
          <a:xfrm>
            <a:off x="666750" y="3590925"/>
            <a:ext cx="4381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4D7EF"/>
                </a:solidFill>
                <a:latin typeface="Microsoft YaHei"/>
                <a:ea typeface="Microsoft YaHei"/>
                <a:cs typeface="Microsoft YaHei"/>
              </a:rPr>
              <a:t>市场规模、竞品格局与首期产品范围</a:t>
            </a:r>
          </a:p>
        </p:txBody>
      </p:sp>
      <p:sp>
        <p:nvSpPr>
          <p:cNvPr id="8" name="2026.09">
            <a:extLst>
              <a:ext uri="{FF2B5EF4-FFF2-40B4-BE49-F238E27FC236}">
                <a16:creationId xmlns:a16="http://schemas.microsoft.com/office/drawing/2014/main" id="{818A5201-6628-453E-A582-441D99FBC96B}"/>
              </a:ext>
            </a:extLst>
          </p:cNvPr>
          <p:cNvSpPr>
            <a:spLocks noGrp="1"/>
          </p:cNvSpPr>
          <p:nvPr/>
        </p:nvSpPr>
        <p:spPr>
          <a:xfrm>
            <a:off x="666750" y="60013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>
                <a:solidFill>
                  <a:srgbClr val="9CB2CD"/>
                </a:solidFill>
                <a:latin typeface="Microsoft YaHei"/>
                <a:ea typeface="Microsoft YaHei"/>
                <a:cs typeface="Microsoft YaHei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390344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核心结论">
            <a:extLst>
              <a:ext uri="{FF2B5EF4-FFF2-40B4-BE49-F238E27FC236}">
                <a16:creationId xmlns:a16="http://schemas.microsoft.com/office/drawing/2014/main" id="{AF2ADD23-A25D-4FCD-BADA-7DE605F04C2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2" name="同步上线 341、342、343，以低成本试点验证真实价值">
            <a:extLst>
              <a:ext uri="{FF2B5EF4-FFF2-40B4-BE49-F238E27FC236}">
                <a16:creationId xmlns:a16="http://schemas.microsoft.com/office/drawing/2014/main" id="{79CB149E-1E76-4DF7-B183-F246CDECD6F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同步上线 341、342、343，以低成本试点验证真实价值</a:t>
            </a:r>
          </a:p>
        </p:txBody>
      </p:sp>
      <p:sp>
        <p:nvSpPr>
          <p:cNvPr id="3" name="市场规模不大，但与良医汇现有肿瘤医生用户高度匹配。">
            <a:extLst>
              <a:ext uri="{FF2B5EF4-FFF2-40B4-BE49-F238E27FC236}">
                <a16:creationId xmlns:a16="http://schemas.microsoft.com/office/drawing/2014/main" id="{4E8ED9C1-1921-4C13-8D2C-DFE5008DFA62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市场规模不大，但与良医汇现有肿瘤医生用户高度匹配。</a:t>
            </a:r>
          </a:p>
        </p:txBody>
      </p:sp>
      <p:sp>
        <p:nvSpPr>
          <p:cNvPr id="4" name="02">
            <a:extLst>
              <a:ext uri="{FF2B5EF4-FFF2-40B4-BE49-F238E27FC236}">
                <a16:creationId xmlns:a16="http://schemas.microsoft.com/office/drawing/2014/main" id="{E2E4AE49-5110-414D-B209-F4A69EB68D58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B0042E1-E943-43B8-9699-40D17015E4CD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D712F1-1A2D-4313-B331-080778D7B249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86890A9F-9B09-4E65-925D-09162427CB37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2 / 12">
            <a:extLst>
              <a:ext uri="{FF2B5EF4-FFF2-40B4-BE49-F238E27FC236}">
                <a16:creationId xmlns:a16="http://schemas.microsoft.com/office/drawing/2014/main" id="{357E8A26-28F6-4119-8ECF-46D3F19AB421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02 / 12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45CF8B3E-8C46-443E-9BE8-E055C7332FCB}"/>
              </a:ext>
            </a:extLst>
          </p:cNvPr>
          <p:cNvSpPr>
            <a:spLocks noGrp="1"/>
          </p:cNvSpPr>
          <p:nvPr/>
        </p:nvSpPr>
        <p:spPr>
          <a:xfrm>
            <a:off x="533400" y="1790700"/>
            <a:ext cx="2400300" cy="1104900"/>
          </a:xfrm>
          <a:prstGeom prst="roundRect">
            <a:avLst>
              <a:gd name="adj" fmla="val 17241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6.6–7.1 万">
            <a:extLst>
              <a:ext uri="{FF2B5EF4-FFF2-40B4-BE49-F238E27FC236}">
                <a16:creationId xmlns:a16="http://schemas.microsoft.com/office/drawing/2014/main" id="{B4E699BC-B3EE-4E9C-99C5-DF656F89ABC7}"/>
              </a:ext>
            </a:extLst>
          </p:cNvPr>
          <p:cNvSpPr>
            <a:spLocks noGrp="1"/>
          </p:cNvSpPr>
          <p:nvPr/>
        </p:nvSpPr>
        <p:spPr>
          <a:xfrm>
            <a:off x="704850" y="1943100"/>
            <a:ext cx="20574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6.6–7.1 万</a:t>
            </a:r>
          </a:p>
        </p:txBody>
      </p:sp>
      <p:sp>
        <p:nvSpPr>
          <p:cNvPr id="11" name="全国狭义肿瘤科医师">
            <a:extLst>
              <a:ext uri="{FF2B5EF4-FFF2-40B4-BE49-F238E27FC236}">
                <a16:creationId xmlns:a16="http://schemas.microsoft.com/office/drawing/2014/main" id="{9C78ECEF-4A3E-4758-BFFA-CAD11D077A86}"/>
              </a:ext>
            </a:extLst>
          </p:cNvPr>
          <p:cNvSpPr>
            <a:spLocks noGrp="1"/>
          </p:cNvSpPr>
          <p:nvPr/>
        </p:nvSpPr>
        <p:spPr>
          <a:xfrm>
            <a:off x="704850" y="2505075"/>
            <a:ext cx="20574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C6D7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6D7ED"/>
                </a:solidFill>
                <a:latin typeface="Microsoft YaHei"/>
                <a:ea typeface="Microsoft YaHei"/>
                <a:cs typeface="Microsoft YaHei"/>
              </a:rPr>
              <a:t>全国狭义肿瘤科医师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A0BAC88A-AF3E-4A1A-B44C-ADF983B2F032}"/>
              </a:ext>
            </a:extLst>
          </p:cNvPr>
          <p:cNvSpPr>
            <a:spLocks noGrp="1"/>
          </p:cNvSpPr>
          <p:nvPr/>
        </p:nvSpPr>
        <p:spPr>
          <a:xfrm>
            <a:off x="3143250" y="1790700"/>
            <a:ext cx="2400300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0.33–0.71 万">
            <a:extLst>
              <a:ext uri="{FF2B5EF4-FFF2-40B4-BE49-F238E27FC236}">
                <a16:creationId xmlns:a16="http://schemas.microsoft.com/office/drawing/2014/main" id="{CBB4DEE9-077B-4F69-8D9B-82BEF6616D8C}"/>
              </a:ext>
            </a:extLst>
          </p:cNvPr>
          <p:cNvSpPr>
            <a:spLocks noGrp="1"/>
          </p:cNvSpPr>
          <p:nvPr/>
        </p:nvSpPr>
        <p:spPr>
          <a:xfrm>
            <a:off x="3314700" y="1943100"/>
            <a:ext cx="20574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5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0.33–0.71 万</a:t>
            </a:r>
          </a:p>
        </p:txBody>
      </p:sp>
      <p:sp>
        <p:nvSpPr>
          <p:cNvPr id="14" name="潜在年度考生">
            <a:extLst>
              <a:ext uri="{FF2B5EF4-FFF2-40B4-BE49-F238E27FC236}">
                <a16:creationId xmlns:a16="http://schemas.microsoft.com/office/drawing/2014/main" id="{E53E8FE0-1847-4409-A2E7-445ED033B5D4}"/>
              </a:ext>
            </a:extLst>
          </p:cNvPr>
          <p:cNvSpPr>
            <a:spLocks noGrp="1"/>
          </p:cNvSpPr>
          <p:nvPr/>
        </p:nvSpPr>
        <p:spPr>
          <a:xfrm>
            <a:off x="3314700" y="2505075"/>
            <a:ext cx="20574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潜在年度考生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4C7252AE-C453-4846-8551-B4AC5AA6CBFB}"/>
              </a:ext>
            </a:extLst>
          </p:cNvPr>
          <p:cNvSpPr>
            <a:spLocks noGrp="1"/>
          </p:cNvSpPr>
          <p:nvPr/>
        </p:nvSpPr>
        <p:spPr>
          <a:xfrm>
            <a:off x="5753100" y="1790700"/>
            <a:ext cx="2400300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3 个专业">
            <a:extLst>
              <a:ext uri="{FF2B5EF4-FFF2-40B4-BE49-F238E27FC236}">
                <a16:creationId xmlns:a16="http://schemas.microsoft.com/office/drawing/2014/main" id="{86013250-096D-43E8-9F04-EE135CB1B5B4}"/>
              </a:ext>
            </a:extLst>
          </p:cNvPr>
          <p:cNvSpPr>
            <a:spLocks noGrp="1"/>
          </p:cNvSpPr>
          <p:nvPr/>
        </p:nvSpPr>
        <p:spPr>
          <a:xfrm>
            <a:off x="5924550" y="1943100"/>
            <a:ext cx="20574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 个专业</a:t>
            </a:r>
          </a:p>
        </p:txBody>
      </p:sp>
      <p:sp>
        <p:nvSpPr>
          <p:cNvPr id="17" name="341 / 342 / 343 同步上线">
            <a:extLst>
              <a:ext uri="{FF2B5EF4-FFF2-40B4-BE49-F238E27FC236}">
                <a16:creationId xmlns:a16="http://schemas.microsoft.com/office/drawing/2014/main" id="{0F328309-1599-4A2A-9C48-6120623C69BD}"/>
              </a:ext>
            </a:extLst>
          </p:cNvPr>
          <p:cNvSpPr>
            <a:spLocks noGrp="1"/>
          </p:cNvSpPr>
          <p:nvPr/>
        </p:nvSpPr>
        <p:spPr>
          <a:xfrm>
            <a:off x="5924550" y="2505075"/>
            <a:ext cx="20574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341 / 342 / 343 同步上线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7E48F290-B096-4169-A2CA-6A3075759F96}"/>
              </a:ext>
            </a:extLst>
          </p:cNvPr>
          <p:cNvSpPr>
            <a:spLocks noGrp="1"/>
          </p:cNvSpPr>
          <p:nvPr/>
        </p:nvSpPr>
        <p:spPr>
          <a:xfrm>
            <a:off x="8362950" y="1790700"/>
            <a:ext cx="3295650" cy="1104900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低成本试点">
            <a:extLst>
              <a:ext uri="{FF2B5EF4-FFF2-40B4-BE49-F238E27FC236}">
                <a16:creationId xmlns:a16="http://schemas.microsoft.com/office/drawing/2014/main" id="{375D0AE6-E9EE-44AE-BAF4-B8238E14F66A}"/>
              </a:ext>
            </a:extLst>
          </p:cNvPr>
          <p:cNvSpPr>
            <a:spLocks noGrp="1"/>
          </p:cNvSpPr>
          <p:nvPr/>
        </p:nvSpPr>
        <p:spPr>
          <a:xfrm>
            <a:off x="8534400" y="1943100"/>
            <a:ext cx="2952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低成本试点</a:t>
            </a:r>
          </a:p>
        </p:txBody>
      </p:sp>
      <p:sp>
        <p:nvSpPr>
          <p:cNvPr id="20" name="真实使用与付费再决策">
            <a:extLst>
              <a:ext uri="{FF2B5EF4-FFF2-40B4-BE49-F238E27FC236}">
                <a16:creationId xmlns:a16="http://schemas.microsoft.com/office/drawing/2014/main" id="{FAF3E70D-91B1-481D-B151-4E9F6AAED684}"/>
              </a:ext>
            </a:extLst>
          </p:cNvPr>
          <p:cNvSpPr>
            <a:spLocks noGrp="1"/>
          </p:cNvSpPr>
          <p:nvPr/>
        </p:nvSpPr>
        <p:spPr>
          <a:xfrm>
            <a:off x="8534400" y="2505075"/>
            <a:ext cx="29527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真实使用与付费再决策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109FEB37-E456-4413-B1EF-37EB92795483}"/>
              </a:ext>
            </a:extLst>
          </p:cNvPr>
          <p:cNvSpPr>
            <a:spLocks noGrp="1"/>
          </p:cNvSpPr>
          <p:nvPr/>
        </p:nvSpPr>
        <p:spPr>
          <a:xfrm>
            <a:off x="533400" y="3209925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01">
            <a:extLst>
              <a:ext uri="{FF2B5EF4-FFF2-40B4-BE49-F238E27FC236}">
                <a16:creationId xmlns:a16="http://schemas.microsoft.com/office/drawing/2014/main" id="{666AB40D-F3A2-431C-B2DF-5AE2BBBA6D48}"/>
              </a:ext>
            </a:extLst>
          </p:cNvPr>
          <p:cNvSpPr>
            <a:spLocks noGrp="1"/>
          </p:cNvSpPr>
          <p:nvPr/>
        </p:nvSpPr>
        <p:spPr>
          <a:xfrm>
            <a:off x="723900" y="333375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3" name="产品范围">
            <a:extLst>
              <a:ext uri="{FF2B5EF4-FFF2-40B4-BE49-F238E27FC236}">
                <a16:creationId xmlns:a16="http://schemas.microsoft.com/office/drawing/2014/main" id="{FC126D14-A40F-4A63-BCF9-14760540D993}"/>
              </a:ext>
            </a:extLst>
          </p:cNvPr>
          <p:cNvSpPr>
            <a:spLocks noGrp="1"/>
          </p:cNvSpPr>
          <p:nvPr/>
        </p:nvSpPr>
        <p:spPr>
          <a:xfrm>
            <a:off x="1504950" y="3343275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产品范围</a:t>
            </a:r>
          </a:p>
        </p:txBody>
      </p:sp>
      <p:sp>
        <p:nvSpPr>
          <p:cNvPr id="24" name="接入现有职考小程序，复用答题、诊断、错题和 AI 辅助能力。">
            <a:extLst>
              <a:ext uri="{FF2B5EF4-FFF2-40B4-BE49-F238E27FC236}">
                <a16:creationId xmlns:a16="http://schemas.microsoft.com/office/drawing/2014/main" id="{53572D5A-1686-4F97-AEA3-AECBD49D3C27}"/>
              </a:ext>
            </a:extLst>
          </p:cNvPr>
          <p:cNvSpPr>
            <a:spLocks noGrp="1"/>
          </p:cNvSpPr>
          <p:nvPr/>
        </p:nvSpPr>
        <p:spPr>
          <a:xfrm>
            <a:off x="4953000" y="3343275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接入现有职考小程序，复用答题、诊断、错题和 AI 辅助能力。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DF529BFE-CB34-49A7-A026-6744313429FE}"/>
              </a:ext>
            </a:extLst>
          </p:cNvPr>
          <p:cNvSpPr>
            <a:spLocks noGrp="1"/>
          </p:cNvSpPr>
          <p:nvPr/>
        </p:nvSpPr>
        <p:spPr>
          <a:xfrm>
            <a:off x="533400" y="4086225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02">
            <a:extLst>
              <a:ext uri="{FF2B5EF4-FFF2-40B4-BE49-F238E27FC236}">
                <a16:creationId xmlns:a16="http://schemas.microsoft.com/office/drawing/2014/main" id="{FB5616E8-64DB-4F08-BC85-BCDCDA434711}"/>
              </a:ext>
            </a:extLst>
          </p:cNvPr>
          <p:cNvSpPr>
            <a:spLocks noGrp="1"/>
          </p:cNvSpPr>
          <p:nvPr/>
        </p:nvSpPr>
        <p:spPr>
          <a:xfrm>
            <a:off x="723900" y="421005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7" name="竞争策略">
            <a:extLst>
              <a:ext uri="{FF2B5EF4-FFF2-40B4-BE49-F238E27FC236}">
                <a16:creationId xmlns:a16="http://schemas.microsoft.com/office/drawing/2014/main" id="{E01ADD5F-C4A5-447F-B1A1-99369F33499B}"/>
              </a:ext>
            </a:extLst>
          </p:cNvPr>
          <p:cNvSpPr>
            <a:spLocks noGrp="1"/>
          </p:cNvSpPr>
          <p:nvPr/>
        </p:nvSpPr>
        <p:spPr>
          <a:xfrm>
            <a:off x="1504950" y="4219575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竞争策略</a:t>
            </a:r>
          </a:p>
        </p:txBody>
      </p:sp>
      <p:sp>
        <p:nvSpPr>
          <p:cNvPr id="28" name="依靠三专业覆盖、可信解析、持续更新和现有用户触达形成差异。">
            <a:extLst>
              <a:ext uri="{FF2B5EF4-FFF2-40B4-BE49-F238E27FC236}">
                <a16:creationId xmlns:a16="http://schemas.microsoft.com/office/drawing/2014/main" id="{A738A5EA-23C5-4A45-AC8E-41856C975FC5}"/>
              </a:ext>
            </a:extLst>
          </p:cNvPr>
          <p:cNvSpPr>
            <a:spLocks noGrp="1"/>
          </p:cNvSpPr>
          <p:nvPr/>
        </p:nvSpPr>
        <p:spPr>
          <a:xfrm>
            <a:off x="4953000" y="4219575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依靠三专业覆盖、可信解析、持续更新和现有用户触达形成差异。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959E7ED6-29B0-479C-833E-3AA8201C26A7}"/>
              </a:ext>
            </a:extLst>
          </p:cNvPr>
          <p:cNvSpPr>
            <a:spLocks noGrp="1"/>
          </p:cNvSpPr>
          <p:nvPr/>
        </p:nvSpPr>
        <p:spPr>
          <a:xfrm>
            <a:off x="533400" y="5572125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核心结论">
            <a:extLst>
              <a:ext uri="{FF2B5EF4-FFF2-40B4-BE49-F238E27FC236}">
                <a16:creationId xmlns:a16="http://schemas.microsoft.com/office/drawing/2014/main" id="{38702767-A290-49CE-8B08-B2ED2599058F}"/>
              </a:ext>
            </a:extLst>
          </p:cNvPr>
          <p:cNvSpPr>
            <a:spLocks noGrp="1"/>
          </p:cNvSpPr>
          <p:nvPr/>
        </p:nvSpPr>
        <p:spPr>
          <a:xfrm>
            <a:off x="704850" y="572452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31" name="同步上线 341、342、343，以真实使用率和付费表现决定后续投入。">
            <a:extLst>
              <a:ext uri="{FF2B5EF4-FFF2-40B4-BE49-F238E27FC236}">
                <a16:creationId xmlns:a16="http://schemas.microsoft.com/office/drawing/2014/main" id="{F085D90A-847A-43D1-8E18-BA688625A239}"/>
              </a:ext>
            </a:extLst>
          </p:cNvPr>
          <p:cNvSpPr>
            <a:spLocks noGrp="1"/>
          </p:cNvSpPr>
          <p:nvPr/>
        </p:nvSpPr>
        <p:spPr>
          <a:xfrm>
            <a:off x="2133600" y="5695950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同步上线 341、342、343，以真实使用率和付费表现决定后续投入。</a:t>
            </a:r>
          </a:p>
        </p:txBody>
      </p:sp>
    </p:spTree>
    <p:extLst>
      <p:ext uri="{BB962C8B-B14F-4D97-AF65-F5344CB8AC3E}">
        <p14:creationId xmlns:p14="http://schemas.microsoft.com/office/powerpoint/2010/main" val="1421287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项目背景">
            <a:extLst>
              <a:ext uri="{FF2B5EF4-FFF2-40B4-BE49-F238E27FC236}">
                <a16:creationId xmlns:a16="http://schemas.microsoft.com/office/drawing/2014/main" id="{865D4DF6-AE29-4F1D-A696-F76F03AB8C58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2" name="项目基础与考试类型覆盖">
            <a:extLst>
              <a:ext uri="{FF2B5EF4-FFF2-40B4-BE49-F238E27FC236}">
                <a16:creationId xmlns:a16="http://schemas.microsoft.com/office/drawing/2014/main" id="{DB560986-93F2-44F3-96E2-060321947BDF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项目基础与考试类型覆盖</a:t>
            </a:r>
          </a:p>
        </p:txBody>
      </p:sp>
      <p:sp>
        <p:nvSpPr>
          <p:cNvPr id="3" name="良医汇现有肿瘤医生用户与职考产品基础，降低了中级题库的接入成本。">
            <a:extLst>
              <a:ext uri="{FF2B5EF4-FFF2-40B4-BE49-F238E27FC236}">
                <a16:creationId xmlns:a16="http://schemas.microsoft.com/office/drawing/2014/main" id="{5EB55CBF-8128-4D48-9C87-E033E4A265AA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良医汇现有肿瘤医生用户与职考产品基础，降低了中级题库的接入成本。</a:t>
            </a:r>
          </a:p>
        </p:txBody>
      </p:sp>
      <p:sp>
        <p:nvSpPr>
          <p:cNvPr id="4" name="03">
            <a:extLst>
              <a:ext uri="{FF2B5EF4-FFF2-40B4-BE49-F238E27FC236}">
                <a16:creationId xmlns:a16="http://schemas.microsoft.com/office/drawing/2014/main" id="{C3FAC473-C1A7-452E-A8B9-8F1E69C669E8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6B37B7B-FA08-46DF-B177-D49375C3189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FD569B9-266E-41DE-AAA3-F98CADA22AD2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4C3E394-8D02-4603-B021-FE015156FA94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3 / 12">
            <a:extLst>
              <a:ext uri="{FF2B5EF4-FFF2-40B4-BE49-F238E27FC236}">
                <a16:creationId xmlns:a16="http://schemas.microsoft.com/office/drawing/2014/main" id="{63E80F1C-B0FD-4644-99C2-B3FE48604A6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03 / 12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B44DDB3-ED3C-4481-815A-A5B849623969}"/>
              </a:ext>
            </a:extLst>
          </p:cNvPr>
          <p:cNvSpPr>
            <a:spLocks noGrp="1"/>
          </p:cNvSpPr>
          <p:nvPr/>
        </p:nvSpPr>
        <p:spPr>
          <a:xfrm>
            <a:off x="533400" y="1781175"/>
            <a:ext cx="1295400" cy="323850"/>
          </a:xfrm>
          <a:prstGeom prst="roundRect">
            <a:avLst>
              <a:gd name="adj" fmla="val 50000"/>
            </a:avLst>
          </a:prstGeom>
          <a:solidFill>
            <a:srgbClr val="DDE9F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项目价值">
            <a:extLst>
              <a:ext uri="{FF2B5EF4-FFF2-40B4-BE49-F238E27FC236}">
                <a16:creationId xmlns:a16="http://schemas.microsoft.com/office/drawing/2014/main" id="{CF30EC5B-43F4-41EB-A4C5-F94C282F2D08}"/>
              </a:ext>
            </a:extLst>
          </p:cNvPr>
          <p:cNvSpPr>
            <a:spLocks noGrp="1"/>
          </p:cNvSpPr>
          <p:nvPr/>
        </p:nvSpPr>
        <p:spPr>
          <a:xfrm>
            <a:off x="533400" y="1838325"/>
            <a:ext cx="1295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rPr>
              <a:t>项目价值</a:t>
            </a:r>
          </a:p>
        </p:txBody>
      </p:sp>
      <p:sp>
        <p:nvSpPr>
          <p:cNvPr id="11" name="复用现有用户">
            <a:extLst>
              <a:ext uri="{FF2B5EF4-FFF2-40B4-BE49-F238E27FC236}">
                <a16:creationId xmlns:a16="http://schemas.microsoft.com/office/drawing/2014/main" id="{EC93B665-9935-4EC7-8DF3-620A819E9EC1}"/>
              </a:ext>
            </a:extLst>
          </p:cNvPr>
          <p:cNvSpPr>
            <a:spLocks noGrp="1"/>
          </p:cNvSpPr>
          <p:nvPr/>
        </p:nvSpPr>
        <p:spPr>
          <a:xfrm>
            <a:off x="533400" y="2276475"/>
            <a:ext cx="2781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复用现有用户</a:t>
            </a:r>
          </a:p>
        </p:txBody>
      </p:sp>
      <p:sp>
        <p:nvSpPr>
          <p:cNvPr id="12" name="降低目标用户触达与获取成本">
            <a:extLst>
              <a:ext uri="{FF2B5EF4-FFF2-40B4-BE49-F238E27FC236}">
                <a16:creationId xmlns:a16="http://schemas.microsoft.com/office/drawing/2014/main" id="{DB024E3A-1178-4556-856D-4EEC1996DD2B}"/>
              </a:ext>
            </a:extLst>
          </p:cNvPr>
          <p:cNvSpPr>
            <a:spLocks noGrp="1"/>
          </p:cNvSpPr>
          <p:nvPr/>
        </p:nvSpPr>
        <p:spPr>
          <a:xfrm>
            <a:off x="533400" y="2667000"/>
            <a:ext cx="2857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降低目标用户触达与获取成本</a:t>
            </a:r>
          </a:p>
        </p:txBody>
      </p:sp>
      <p:sp>
        <p:nvSpPr>
          <p:cNvPr id="13" name="满足晋升需求">
            <a:extLst>
              <a:ext uri="{FF2B5EF4-FFF2-40B4-BE49-F238E27FC236}">
                <a16:creationId xmlns:a16="http://schemas.microsoft.com/office/drawing/2014/main" id="{EE58EDBC-3DE2-4741-B4E2-4EB4CFA94085}"/>
              </a:ext>
            </a:extLst>
          </p:cNvPr>
          <p:cNvSpPr>
            <a:spLocks noGrp="1"/>
          </p:cNvSpPr>
          <p:nvPr/>
        </p:nvSpPr>
        <p:spPr>
          <a:xfrm>
            <a:off x="4229100" y="2276475"/>
            <a:ext cx="2781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满足晋升需求</a:t>
            </a:r>
          </a:p>
        </p:txBody>
      </p:sp>
      <p:sp>
        <p:nvSpPr>
          <p:cNvPr id="14" name="把学习服务延伸到职称晋升阶段">
            <a:extLst>
              <a:ext uri="{FF2B5EF4-FFF2-40B4-BE49-F238E27FC236}">
                <a16:creationId xmlns:a16="http://schemas.microsoft.com/office/drawing/2014/main" id="{83AE2FF4-F322-4531-8F3F-A82382D6C3AF}"/>
              </a:ext>
            </a:extLst>
          </p:cNvPr>
          <p:cNvSpPr>
            <a:spLocks noGrp="1"/>
          </p:cNvSpPr>
          <p:nvPr/>
        </p:nvSpPr>
        <p:spPr>
          <a:xfrm>
            <a:off x="4229100" y="2667000"/>
            <a:ext cx="2857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把学习服务延伸到职称晋升阶段</a:t>
            </a:r>
          </a:p>
        </p:txBody>
      </p:sp>
      <p:sp>
        <p:nvSpPr>
          <p:cNvPr id="15" name="拓展 AI 场景">
            <a:extLst>
              <a:ext uri="{FF2B5EF4-FFF2-40B4-BE49-F238E27FC236}">
                <a16:creationId xmlns:a16="http://schemas.microsoft.com/office/drawing/2014/main" id="{81364E9D-20C7-434F-8CAE-763F91ABD9EF}"/>
              </a:ext>
            </a:extLst>
          </p:cNvPr>
          <p:cNvSpPr>
            <a:spLocks noGrp="1"/>
          </p:cNvSpPr>
          <p:nvPr/>
        </p:nvSpPr>
        <p:spPr>
          <a:xfrm>
            <a:off x="7924800" y="2276475"/>
            <a:ext cx="2781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拓展 AI 场景</a:t>
            </a:r>
          </a:p>
        </p:txBody>
      </p:sp>
      <p:sp>
        <p:nvSpPr>
          <p:cNvPr id="16" name="将 AI 私教与追问迁移到职称考试">
            <a:extLst>
              <a:ext uri="{FF2B5EF4-FFF2-40B4-BE49-F238E27FC236}">
                <a16:creationId xmlns:a16="http://schemas.microsoft.com/office/drawing/2014/main" id="{5816822B-7674-416F-8C37-EA19AC26C136}"/>
              </a:ext>
            </a:extLst>
          </p:cNvPr>
          <p:cNvSpPr>
            <a:spLocks noGrp="1"/>
          </p:cNvSpPr>
          <p:nvPr/>
        </p:nvSpPr>
        <p:spPr>
          <a:xfrm>
            <a:off x="7924800" y="2667000"/>
            <a:ext cx="31242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将 AI 私教与追问迁移到职称考试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AC46A19-2AFD-439D-A715-6E89428F28D5}"/>
              </a:ext>
            </a:extLst>
          </p:cNvPr>
          <p:cNvSpPr>
            <a:spLocks noGrp="1"/>
          </p:cNvSpPr>
          <p:nvPr/>
        </p:nvSpPr>
        <p:spPr>
          <a:xfrm>
            <a:off x="533400" y="3295650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47B798AE-3FB2-45D6-8CD1-867E439BB92A}"/>
              </a:ext>
            </a:extLst>
          </p:cNvPr>
          <p:cNvSpPr>
            <a:spLocks noGrp="1"/>
          </p:cNvSpPr>
          <p:nvPr/>
        </p:nvSpPr>
        <p:spPr>
          <a:xfrm>
            <a:off x="533400" y="3581400"/>
            <a:ext cx="11125200" cy="952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369A3BB5-9B6E-4CBC-A180-9C4164B0F932}"/>
              </a:ext>
            </a:extLst>
          </p:cNvPr>
          <p:cNvSpPr>
            <a:spLocks noGrp="1"/>
          </p:cNvSpPr>
          <p:nvPr/>
        </p:nvSpPr>
        <p:spPr>
          <a:xfrm>
            <a:off x="723900" y="3810000"/>
            <a:ext cx="914400" cy="323850"/>
          </a:xfrm>
          <a:prstGeom prst="roundRect">
            <a:avLst>
              <a:gd name="adj" fmla="val 50000"/>
            </a:avLst>
          </a:prstGeom>
          <a:solidFill>
            <a:srgbClr val="0B234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中级">
            <a:extLst>
              <a:ext uri="{FF2B5EF4-FFF2-40B4-BE49-F238E27FC236}">
                <a16:creationId xmlns:a16="http://schemas.microsoft.com/office/drawing/2014/main" id="{04C5C3ED-4D80-45D6-A02A-39B02AA33620}"/>
              </a:ext>
            </a:extLst>
          </p:cNvPr>
          <p:cNvSpPr>
            <a:spLocks noGrp="1"/>
          </p:cNvSpPr>
          <p:nvPr/>
        </p:nvSpPr>
        <p:spPr>
          <a:xfrm>
            <a:off x="723900" y="3867150"/>
            <a:ext cx="914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中级</a:t>
            </a:r>
          </a:p>
        </p:txBody>
      </p:sp>
      <p:sp>
        <p:nvSpPr>
          <p:cNvPr id="21" name="全国统一考试">
            <a:extLst>
              <a:ext uri="{FF2B5EF4-FFF2-40B4-BE49-F238E27FC236}">
                <a16:creationId xmlns:a16="http://schemas.microsoft.com/office/drawing/2014/main" id="{3F385486-EE28-4FF3-A21E-F1FCA6A633F8}"/>
              </a:ext>
            </a:extLst>
          </p:cNvPr>
          <p:cNvSpPr>
            <a:spLocks noGrp="1"/>
          </p:cNvSpPr>
          <p:nvPr/>
        </p:nvSpPr>
        <p:spPr>
          <a:xfrm>
            <a:off x="1866900" y="3800475"/>
            <a:ext cx="2286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全国统一考试</a:t>
            </a:r>
          </a:p>
        </p:txBody>
      </p:sp>
      <p:sp>
        <p:nvSpPr>
          <p:cNvPr id="22" name="341 肿瘤内科学、342 肿瘤外科学、343 肿瘤放射治疗学、388 ">
            <a:extLst>
              <a:ext uri="{FF2B5EF4-FFF2-40B4-BE49-F238E27FC236}">
                <a16:creationId xmlns:a16="http://schemas.microsoft.com/office/drawing/2014/main" id="{A7B491B6-96F6-403D-AD30-17554C0DAF39}"/>
              </a:ext>
            </a:extLst>
          </p:cNvPr>
          <p:cNvSpPr>
            <a:spLocks noGrp="1"/>
          </p:cNvSpPr>
          <p:nvPr/>
        </p:nvSpPr>
        <p:spPr>
          <a:xfrm>
            <a:off x="4229100" y="3790950"/>
            <a:ext cx="70294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341 肿瘤内科学、342 肿瘤外科学、343 肿瘤放射治疗学、388 肿瘤放射治疗技术</a:t>
            </a:r>
          </a:p>
        </p:txBody>
      </p:sp>
      <p:sp>
        <p:nvSpPr>
          <p:cNvPr id="23" name="通常每年 4 月，标准化程度高；首期聚焦 341–343">
            <a:extLst>
              <a:ext uri="{FF2B5EF4-FFF2-40B4-BE49-F238E27FC236}">
                <a16:creationId xmlns:a16="http://schemas.microsoft.com/office/drawing/2014/main" id="{DB4A178E-8BAE-44EA-9E46-92BB498BA744}"/>
              </a:ext>
            </a:extLst>
          </p:cNvPr>
          <p:cNvSpPr>
            <a:spLocks noGrp="1"/>
          </p:cNvSpPr>
          <p:nvPr/>
        </p:nvSpPr>
        <p:spPr>
          <a:xfrm>
            <a:off x="1866900" y="4210050"/>
            <a:ext cx="9048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通常每年 4 月，标准化程度高；首期聚焦 341–343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B1A617D5-D6F6-4E14-B108-6434060F9889}"/>
              </a:ext>
            </a:extLst>
          </p:cNvPr>
          <p:cNvSpPr>
            <a:spLocks noGrp="1"/>
          </p:cNvSpPr>
          <p:nvPr/>
        </p:nvSpPr>
        <p:spPr>
          <a:xfrm>
            <a:off x="533400" y="4724400"/>
            <a:ext cx="11125200" cy="742950"/>
          </a:xfrm>
          <a:prstGeom prst="roundRect">
            <a:avLst>
              <a:gd name="adj" fmla="val 25641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AF082CE4-B7CC-456F-861E-D28E90F95D91}"/>
              </a:ext>
            </a:extLst>
          </p:cNvPr>
          <p:cNvSpPr>
            <a:spLocks noGrp="1"/>
          </p:cNvSpPr>
          <p:nvPr/>
        </p:nvSpPr>
        <p:spPr>
          <a:xfrm>
            <a:off x="723900" y="4933950"/>
            <a:ext cx="914400" cy="323850"/>
          </a:xfrm>
          <a:prstGeom prst="roundRect">
            <a:avLst>
              <a:gd name="adj" fmla="val 50000"/>
            </a:avLst>
          </a:prstGeom>
          <a:solidFill>
            <a:srgbClr val="E7EDF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高级">
            <a:extLst>
              <a:ext uri="{FF2B5EF4-FFF2-40B4-BE49-F238E27FC236}">
                <a16:creationId xmlns:a16="http://schemas.microsoft.com/office/drawing/2014/main" id="{29DDD654-6E0C-41DC-A140-3CB351E67DF9}"/>
              </a:ext>
            </a:extLst>
          </p:cNvPr>
          <p:cNvSpPr>
            <a:spLocks noGrp="1"/>
          </p:cNvSpPr>
          <p:nvPr/>
        </p:nvSpPr>
        <p:spPr>
          <a:xfrm>
            <a:off x="723900" y="4991100"/>
            <a:ext cx="914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高级</a:t>
            </a:r>
          </a:p>
        </p:txBody>
      </p:sp>
      <p:sp>
        <p:nvSpPr>
          <p:cNvPr id="27" name="各省组织考试">
            <a:extLst>
              <a:ext uri="{FF2B5EF4-FFF2-40B4-BE49-F238E27FC236}">
                <a16:creationId xmlns:a16="http://schemas.microsoft.com/office/drawing/2014/main" id="{12AC85D6-1A1A-441F-8EEB-58ACB4FD5639}"/>
              </a:ext>
            </a:extLst>
          </p:cNvPr>
          <p:cNvSpPr>
            <a:spLocks noGrp="1"/>
          </p:cNvSpPr>
          <p:nvPr/>
        </p:nvSpPr>
        <p:spPr>
          <a:xfrm>
            <a:off x="1866900" y="4924425"/>
            <a:ext cx="2286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各省组织考试</a:t>
            </a:r>
          </a:p>
        </p:txBody>
      </p:sp>
      <p:sp>
        <p:nvSpPr>
          <p:cNvPr id="28" name="专业代码与要求因省份而异，通常集中在 4–7 月，首期暂不纳入">
            <a:extLst>
              <a:ext uri="{FF2B5EF4-FFF2-40B4-BE49-F238E27FC236}">
                <a16:creationId xmlns:a16="http://schemas.microsoft.com/office/drawing/2014/main" id="{5F5CC258-51E9-4E20-AFCD-B56B60E5660C}"/>
              </a:ext>
            </a:extLst>
          </p:cNvPr>
          <p:cNvSpPr>
            <a:spLocks noGrp="1"/>
          </p:cNvSpPr>
          <p:nvPr/>
        </p:nvSpPr>
        <p:spPr>
          <a:xfrm>
            <a:off x="4229100" y="4924425"/>
            <a:ext cx="70294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专业代码与要求因省份而异，通常集中在 4–7 月，首期暂不纳入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E33C24F8-D8BE-416B-AF7C-838921E83915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本章结论">
            <a:extLst>
              <a:ext uri="{FF2B5EF4-FFF2-40B4-BE49-F238E27FC236}">
                <a16:creationId xmlns:a16="http://schemas.microsoft.com/office/drawing/2014/main" id="{CB8F9250-F957-4FD0-906D-DABD7DAF98ED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31" name="现有用户与职考产品基础降低了触达和接入成本，首期聚焦 341、342、3">
            <a:extLst>
              <a:ext uri="{FF2B5EF4-FFF2-40B4-BE49-F238E27FC236}">
                <a16:creationId xmlns:a16="http://schemas.microsoft.com/office/drawing/2014/main" id="{FEF49A02-0159-4E81-914A-52BF3B2A067E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现有用户与职考产品基础降低了触达和接入成本，首期聚焦 341、342、343。</a:t>
            </a:r>
          </a:p>
        </p:txBody>
      </p:sp>
    </p:spTree>
    <p:extLst>
      <p:ext uri="{BB962C8B-B14F-4D97-AF65-F5344CB8AC3E}">
        <p14:creationId xmlns:p14="http://schemas.microsoft.com/office/powerpoint/2010/main" val="1517325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考试类型与专业方向">
            <a:extLst>
              <a:ext uri="{FF2B5EF4-FFF2-40B4-BE49-F238E27FC236}">
                <a16:creationId xmlns:a16="http://schemas.microsoft.com/office/drawing/2014/main" id="{73D4D974-DB67-425C-B849-AB45D5DED1E1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考试类型与专业方向</a:t>
            </a:r>
          </a:p>
        </p:txBody>
      </p:sp>
      <p:sp>
        <p:nvSpPr>
          <p:cNvPr id="2" name="中级职称更适合首期规模化建设">
            <a:extLst>
              <a:ext uri="{FF2B5EF4-FFF2-40B4-BE49-F238E27FC236}">
                <a16:creationId xmlns:a16="http://schemas.microsoft.com/office/drawing/2014/main" id="{4D72FAE1-B1EF-424E-B2F0-065CFCA9BE9E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中级职称更适合首期规模化建设</a:t>
            </a:r>
          </a:p>
        </p:txBody>
      </p:sp>
      <p:sp>
        <p:nvSpPr>
          <p:cNvPr id="3" name="全国统一考试的标准化程度更高；高级职称需要适配不同省份。">
            <a:extLst>
              <a:ext uri="{FF2B5EF4-FFF2-40B4-BE49-F238E27FC236}">
                <a16:creationId xmlns:a16="http://schemas.microsoft.com/office/drawing/2014/main" id="{CE71843F-14CE-4CDA-8A67-5A995842406F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全国统一考试的标准化程度更高；高级职称需要适配不同省份。</a:t>
            </a:r>
          </a:p>
        </p:txBody>
      </p:sp>
      <p:sp>
        <p:nvSpPr>
          <p:cNvPr id="4" name="04">
            <a:extLst>
              <a:ext uri="{FF2B5EF4-FFF2-40B4-BE49-F238E27FC236}">
                <a16:creationId xmlns:a16="http://schemas.microsoft.com/office/drawing/2014/main" id="{B1EA4107-5710-47D1-A5A2-C7830E7901A0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1F7A4C-15F0-42D1-BAB7-D793BEA0E070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53DCFC-D250-4706-84EF-7D9C5086F63E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F44A4F7-B79B-479E-B2D6-0385F086C1E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4 / 12">
            <a:extLst>
              <a:ext uri="{FF2B5EF4-FFF2-40B4-BE49-F238E27FC236}">
                <a16:creationId xmlns:a16="http://schemas.microsoft.com/office/drawing/2014/main" id="{72C00603-6C73-4D2F-8453-9CA263E87779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04 / 12</a:t>
            </a:r>
          </a:p>
        </p:txBody>
      </p:sp>
      <p:graphicFrame>
        <p:nvGraphicFramePr>
          <p:cNvPr id="21" name="表格 20"/>
          <p:cNvGraphicFramePr/>
          <p:nvPr/>
        </p:nvGraphicFramePr>
        <p:xfrm>
          <a:off x="533400" y="1752600"/>
          <a:ext cx="11125200" cy="36385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中级职称（主治医师）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高级职称（副高 / 正高）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考试性质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全国统一考试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各省组织考试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用户特点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职业晋升阶段集中，备考需求较明确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高年资医生，需求强但地区差异明显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产品价值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标准化程度高，适合 AI 辅助与规模化复制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用户价值较高，但需要逐省适配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主要挑战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四科成绩两年滚动，备考周期可能跨年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考试形式、时间和要求不统一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本期建议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第一阶段优先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后续根据用户需求验证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1E6B1019-6EEC-456F-A80B-0A424621C57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本章结论">
            <a:extLst>
              <a:ext uri="{FF2B5EF4-FFF2-40B4-BE49-F238E27FC236}">
                <a16:creationId xmlns:a16="http://schemas.microsoft.com/office/drawing/2014/main" id="{F51AAF65-86CA-486A-80C3-A06E16E98586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中级全国统考更适合首期建设，高级职称因省级差异暂不纳入。">
            <a:extLst>
              <a:ext uri="{FF2B5EF4-FFF2-40B4-BE49-F238E27FC236}">
                <a16:creationId xmlns:a16="http://schemas.microsoft.com/office/drawing/2014/main" id="{75CB1CAE-96F1-4330-8D2C-109E9546180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中级全国统考更适合首期建设，高级职称因省级差异暂不纳入。</a:t>
            </a:r>
          </a:p>
        </p:txBody>
      </p:sp>
    </p:spTree>
    <p:extLst>
      <p:ext uri="{BB962C8B-B14F-4D97-AF65-F5344CB8AC3E}">
        <p14:creationId xmlns:p14="http://schemas.microsoft.com/office/powerpoint/2010/main" val="1298257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中级专业方向">
            <a:extLst>
              <a:ext uri="{FF2B5EF4-FFF2-40B4-BE49-F238E27FC236}">
                <a16:creationId xmlns:a16="http://schemas.microsoft.com/office/drawing/2014/main" id="{54DDF6B6-6C20-4067-BC7A-A5BF4A558E4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中级专业方向</a:t>
            </a:r>
          </a:p>
        </p:txBody>
      </p:sp>
      <p:sp>
        <p:nvSpPr>
          <p:cNvPr id="2" name="341、342、343 面向不同人群，适合同步上线">
            <a:extLst>
              <a:ext uri="{FF2B5EF4-FFF2-40B4-BE49-F238E27FC236}">
                <a16:creationId xmlns:a16="http://schemas.microsoft.com/office/drawing/2014/main" id="{29136708-264F-4066-9F83-60B79421C50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341、342、343 面向不同人群，适合同步上线</a:t>
            </a:r>
          </a:p>
        </p:txBody>
      </p:sp>
      <p:sp>
        <p:nvSpPr>
          <p:cNvPr id="3" name="三者均为全国统考专业，本期不再设置单专业优先级。">
            <a:extLst>
              <a:ext uri="{FF2B5EF4-FFF2-40B4-BE49-F238E27FC236}">
                <a16:creationId xmlns:a16="http://schemas.microsoft.com/office/drawing/2014/main" id="{2EC52E06-68F1-4698-96E3-7046A58CE366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三者均为全国统考专业，本期不再设置单专业优先级。</a:t>
            </a:r>
          </a:p>
        </p:txBody>
      </p:sp>
      <p:sp>
        <p:nvSpPr>
          <p:cNvPr id="4" name="05">
            <a:extLst>
              <a:ext uri="{FF2B5EF4-FFF2-40B4-BE49-F238E27FC236}">
                <a16:creationId xmlns:a16="http://schemas.microsoft.com/office/drawing/2014/main" id="{4938C85E-43C0-4522-AF9A-90F0E52821F2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015DBF7-F8E8-47DE-802A-8693DD108AA9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6F1D6A-5472-465E-8A9F-525E65D3C927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9240769C-C252-41F4-8CFF-56D121255288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5 / 12">
            <a:extLst>
              <a:ext uri="{FF2B5EF4-FFF2-40B4-BE49-F238E27FC236}">
                <a16:creationId xmlns:a16="http://schemas.microsoft.com/office/drawing/2014/main" id="{93C1086B-AC35-49F1-AE11-6B68E6340828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05 / 12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05635B9-FD99-4026-835F-76C37AC5DFBA}"/>
              </a:ext>
            </a:extLst>
          </p:cNvPr>
          <p:cNvSpPr>
            <a:spLocks noGrp="1"/>
          </p:cNvSpPr>
          <p:nvPr/>
        </p:nvSpPr>
        <p:spPr>
          <a:xfrm>
            <a:off x="5334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341">
            <a:extLst>
              <a:ext uri="{FF2B5EF4-FFF2-40B4-BE49-F238E27FC236}">
                <a16:creationId xmlns:a16="http://schemas.microsoft.com/office/drawing/2014/main" id="{A17D4156-49C3-45E9-AB0F-55CB6401C453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1333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341</a:t>
            </a:r>
          </a:p>
        </p:txBody>
      </p:sp>
      <p:sp>
        <p:nvSpPr>
          <p:cNvPr id="11" name="肿瘤内科学">
            <a:extLst>
              <a:ext uri="{FF2B5EF4-FFF2-40B4-BE49-F238E27FC236}">
                <a16:creationId xmlns:a16="http://schemas.microsoft.com/office/drawing/2014/main" id="{85D6F821-C30C-4163-A85C-570925B21744}"/>
              </a:ext>
            </a:extLst>
          </p:cNvPr>
          <p:cNvSpPr>
            <a:spLocks noGrp="1"/>
          </p:cNvSpPr>
          <p:nvPr/>
        </p:nvSpPr>
        <p:spPr>
          <a:xfrm>
            <a:off x="7429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肿瘤内科学</a:t>
            </a:r>
          </a:p>
        </p:txBody>
      </p:sp>
      <p:sp>
        <p:nvSpPr>
          <p:cNvPr id="12" name="主要用户">
            <a:extLst>
              <a:ext uri="{FF2B5EF4-FFF2-40B4-BE49-F238E27FC236}">
                <a16:creationId xmlns:a16="http://schemas.microsoft.com/office/drawing/2014/main" id="{7F1FF740-42B7-4D13-8E24-31B2BD02A881}"/>
              </a:ext>
            </a:extLst>
          </p:cNvPr>
          <p:cNvSpPr>
            <a:spLocks noGrp="1"/>
          </p:cNvSpPr>
          <p:nvPr/>
        </p:nvSpPr>
        <p:spPr>
          <a:xfrm>
            <a:off x="742950" y="33337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AFC5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FC5E0"/>
                </a:solidFill>
                <a:latin typeface="Microsoft YaHei"/>
                <a:ea typeface="Microsoft YaHei"/>
                <a:cs typeface="Microsoft YaHei"/>
              </a:rPr>
              <a:t>主要用户</a:t>
            </a:r>
          </a:p>
        </p:txBody>
      </p:sp>
      <p:sp>
        <p:nvSpPr>
          <p:cNvPr id="13" name="肿瘤科、内科医生">
            <a:extLst>
              <a:ext uri="{FF2B5EF4-FFF2-40B4-BE49-F238E27FC236}">
                <a16:creationId xmlns:a16="http://schemas.microsoft.com/office/drawing/2014/main" id="{89D659A3-191C-4722-BC4F-9EB086738146}"/>
              </a:ext>
            </a:extLst>
          </p:cNvPr>
          <p:cNvSpPr>
            <a:spLocks noGrp="1"/>
          </p:cNvSpPr>
          <p:nvPr/>
        </p:nvSpPr>
        <p:spPr>
          <a:xfrm>
            <a:off x="7429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肿瘤科、内科医生</a:t>
            </a:r>
          </a:p>
        </p:txBody>
      </p:sp>
      <p:sp>
        <p:nvSpPr>
          <p:cNvPr id="14" name="与既有用户结构匹配度较高，是主要需求来源">
            <a:extLst>
              <a:ext uri="{FF2B5EF4-FFF2-40B4-BE49-F238E27FC236}">
                <a16:creationId xmlns:a16="http://schemas.microsoft.com/office/drawing/2014/main" id="{D54A6F3A-A69E-4344-993C-7A7D62416B64}"/>
              </a:ext>
            </a:extLst>
          </p:cNvPr>
          <p:cNvSpPr>
            <a:spLocks noGrp="1"/>
          </p:cNvSpPr>
          <p:nvPr/>
        </p:nvSpPr>
        <p:spPr>
          <a:xfrm>
            <a:off x="742950" y="4305300"/>
            <a:ext cx="27813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D6E2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6E2F2"/>
                </a:solidFill>
                <a:latin typeface="Microsoft YaHei"/>
                <a:ea typeface="Microsoft YaHei"/>
                <a:cs typeface="Microsoft YaHei"/>
              </a:rPr>
              <a:t>与既有用户结构匹配度较高，是主要需求来源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FC4C68E3-62CB-424D-BDA8-F6863BCF1A24}"/>
              </a:ext>
            </a:extLst>
          </p:cNvPr>
          <p:cNvSpPr>
            <a:spLocks noGrp="1"/>
          </p:cNvSpPr>
          <p:nvPr/>
        </p:nvSpPr>
        <p:spPr>
          <a:xfrm>
            <a:off x="42672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342">
            <a:extLst>
              <a:ext uri="{FF2B5EF4-FFF2-40B4-BE49-F238E27FC236}">
                <a16:creationId xmlns:a16="http://schemas.microsoft.com/office/drawing/2014/main" id="{D6C0367E-6400-4917-9F0C-FAF28EF4F218}"/>
              </a:ext>
            </a:extLst>
          </p:cNvPr>
          <p:cNvSpPr>
            <a:spLocks noGrp="1"/>
          </p:cNvSpPr>
          <p:nvPr/>
        </p:nvSpPr>
        <p:spPr>
          <a:xfrm>
            <a:off x="4476750" y="2038350"/>
            <a:ext cx="1333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342</a:t>
            </a:r>
          </a:p>
        </p:txBody>
      </p:sp>
      <p:sp>
        <p:nvSpPr>
          <p:cNvPr id="17" name="肿瘤外科学">
            <a:extLst>
              <a:ext uri="{FF2B5EF4-FFF2-40B4-BE49-F238E27FC236}">
                <a16:creationId xmlns:a16="http://schemas.microsoft.com/office/drawing/2014/main" id="{47667000-1A1E-4B5E-8704-C524EC9B581E}"/>
              </a:ext>
            </a:extLst>
          </p:cNvPr>
          <p:cNvSpPr>
            <a:spLocks noGrp="1"/>
          </p:cNvSpPr>
          <p:nvPr/>
        </p:nvSpPr>
        <p:spPr>
          <a:xfrm>
            <a:off x="44767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肿瘤外科学</a:t>
            </a:r>
          </a:p>
        </p:txBody>
      </p:sp>
      <p:sp>
        <p:nvSpPr>
          <p:cNvPr id="18" name="主要用户">
            <a:extLst>
              <a:ext uri="{FF2B5EF4-FFF2-40B4-BE49-F238E27FC236}">
                <a16:creationId xmlns:a16="http://schemas.microsoft.com/office/drawing/2014/main" id="{F8E79459-F6C7-4C70-89FE-EAB2DCF811FB}"/>
              </a:ext>
            </a:extLst>
          </p:cNvPr>
          <p:cNvSpPr>
            <a:spLocks noGrp="1"/>
          </p:cNvSpPr>
          <p:nvPr/>
        </p:nvSpPr>
        <p:spPr>
          <a:xfrm>
            <a:off x="4476750" y="33337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主要用户</a:t>
            </a:r>
          </a:p>
        </p:txBody>
      </p:sp>
      <p:sp>
        <p:nvSpPr>
          <p:cNvPr id="19" name="肿瘤外科医生">
            <a:extLst>
              <a:ext uri="{FF2B5EF4-FFF2-40B4-BE49-F238E27FC236}">
                <a16:creationId xmlns:a16="http://schemas.microsoft.com/office/drawing/2014/main" id="{F89C9C49-CE64-424D-AD77-C2F24A185E0F}"/>
              </a:ext>
            </a:extLst>
          </p:cNvPr>
          <p:cNvSpPr>
            <a:spLocks noGrp="1"/>
          </p:cNvSpPr>
          <p:nvPr/>
        </p:nvSpPr>
        <p:spPr>
          <a:xfrm>
            <a:off x="44767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肿瘤外科医生</a:t>
            </a:r>
          </a:p>
        </p:txBody>
      </p:sp>
      <p:sp>
        <p:nvSpPr>
          <p:cNvPr id="20" name="器官专科分散，但完整覆盖更利于承接真实需求">
            <a:extLst>
              <a:ext uri="{FF2B5EF4-FFF2-40B4-BE49-F238E27FC236}">
                <a16:creationId xmlns:a16="http://schemas.microsoft.com/office/drawing/2014/main" id="{361167A0-A06D-4EBD-86CE-3304A1BBD058}"/>
              </a:ext>
            </a:extLst>
          </p:cNvPr>
          <p:cNvSpPr>
            <a:spLocks noGrp="1"/>
          </p:cNvSpPr>
          <p:nvPr/>
        </p:nvSpPr>
        <p:spPr>
          <a:xfrm>
            <a:off x="4476750" y="4305300"/>
            <a:ext cx="27813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器官专科分散，但完整覆盖更利于承接真实需求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E5B29C22-81F2-44EF-BDE1-FC378120DFBF}"/>
              </a:ext>
            </a:extLst>
          </p:cNvPr>
          <p:cNvSpPr>
            <a:spLocks noGrp="1"/>
          </p:cNvSpPr>
          <p:nvPr/>
        </p:nvSpPr>
        <p:spPr>
          <a:xfrm>
            <a:off x="8001000" y="1828800"/>
            <a:ext cx="3276600" cy="3171825"/>
          </a:xfrm>
          <a:prstGeom prst="roundRect">
            <a:avLst>
              <a:gd name="adj" fmla="val 660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343">
            <a:extLst>
              <a:ext uri="{FF2B5EF4-FFF2-40B4-BE49-F238E27FC236}">
                <a16:creationId xmlns:a16="http://schemas.microsoft.com/office/drawing/2014/main" id="{86F40B49-8983-4343-BF63-7564539F1751}"/>
              </a:ext>
            </a:extLst>
          </p:cNvPr>
          <p:cNvSpPr>
            <a:spLocks noGrp="1"/>
          </p:cNvSpPr>
          <p:nvPr/>
        </p:nvSpPr>
        <p:spPr>
          <a:xfrm>
            <a:off x="8210550" y="2038350"/>
            <a:ext cx="1333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343</a:t>
            </a:r>
          </a:p>
        </p:txBody>
      </p:sp>
      <p:sp>
        <p:nvSpPr>
          <p:cNvPr id="23" name="肿瘤放射治疗学">
            <a:extLst>
              <a:ext uri="{FF2B5EF4-FFF2-40B4-BE49-F238E27FC236}">
                <a16:creationId xmlns:a16="http://schemas.microsoft.com/office/drawing/2014/main" id="{249614C3-16B5-434D-80F0-DC06E28E3268}"/>
              </a:ext>
            </a:extLst>
          </p:cNvPr>
          <p:cNvSpPr>
            <a:spLocks noGrp="1"/>
          </p:cNvSpPr>
          <p:nvPr/>
        </p:nvSpPr>
        <p:spPr>
          <a:xfrm>
            <a:off x="8210550" y="2724150"/>
            <a:ext cx="2781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肿瘤放射治疗学</a:t>
            </a:r>
          </a:p>
        </p:txBody>
      </p:sp>
      <p:sp>
        <p:nvSpPr>
          <p:cNvPr id="24" name="主要用户">
            <a:extLst>
              <a:ext uri="{FF2B5EF4-FFF2-40B4-BE49-F238E27FC236}">
                <a16:creationId xmlns:a16="http://schemas.microsoft.com/office/drawing/2014/main" id="{7EFB15BC-D31C-403D-9A04-09700F0032E5}"/>
              </a:ext>
            </a:extLst>
          </p:cNvPr>
          <p:cNvSpPr>
            <a:spLocks noGrp="1"/>
          </p:cNvSpPr>
          <p:nvPr/>
        </p:nvSpPr>
        <p:spPr>
          <a:xfrm>
            <a:off x="8210550" y="3333750"/>
            <a:ext cx="1047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主要用户</a:t>
            </a:r>
          </a:p>
        </p:txBody>
      </p:sp>
      <p:sp>
        <p:nvSpPr>
          <p:cNvPr id="25" name="放疗医生">
            <a:extLst>
              <a:ext uri="{FF2B5EF4-FFF2-40B4-BE49-F238E27FC236}">
                <a16:creationId xmlns:a16="http://schemas.microsoft.com/office/drawing/2014/main" id="{1B9F0978-7684-476B-B62E-2D997B013319}"/>
              </a:ext>
            </a:extLst>
          </p:cNvPr>
          <p:cNvSpPr>
            <a:spLocks noGrp="1"/>
          </p:cNvSpPr>
          <p:nvPr/>
        </p:nvSpPr>
        <p:spPr>
          <a:xfrm>
            <a:off x="8210550" y="3648075"/>
            <a:ext cx="2781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放疗医生</a:t>
            </a:r>
          </a:p>
        </p:txBody>
      </p:sp>
      <p:sp>
        <p:nvSpPr>
          <p:cNvPr id="26" name="用户群体较明确，可复用部分基础知识与产品能力">
            <a:extLst>
              <a:ext uri="{FF2B5EF4-FFF2-40B4-BE49-F238E27FC236}">
                <a16:creationId xmlns:a16="http://schemas.microsoft.com/office/drawing/2014/main" id="{4741E8C2-67C5-4715-9D77-9A535FE2CD4C}"/>
              </a:ext>
            </a:extLst>
          </p:cNvPr>
          <p:cNvSpPr>
            <a:spLocks noGrp="1"/>
          </p:cNvSpPr>
          <p:nvPr/>
        </p:nvSpPr>
        <p:spPr>
          <a:xfrm>
            <a:off x="8210550" y="4305300"/>
            <a:ext cx="27813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用户群体较明确，可复用部分基础知识与产品能力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2EBD2F2D-15C2-429F-8009-41CBF5F78909}"/>
              </a:ext>
            </a:extLst>
          </p:cNvPr>
          <p:cNvSpPr>
            <a:spLocks noGrp="1"/>
          </p:cNvSpPr>
          <p:nvPr/>
        </p:nvSpPr>
        <p:spPr>
          <a:xfrm>
            <a:off x="533400" y="539115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本章结论">
            <a:extLst>
              <a:ext uri="{FF2B5EF4-FFF2-40B4-BE49-F238E27FC236}">
                <a16:creationId xmlns:a16="http://schemas.microsoft.com/office/drawing/2014/main" id="{7530977A-4857-4EEA-8D5A-76F41EFCA8A7}"/>
              </a:ext>
            </a:extLst>
          </p:cNvPr>
          <p:cNvSpPr>
            <a:spLocks noGrp="1"/>
          </p:cNvSpPr>
          <p:nvPr/>
        </p:nvSpPr>
        <p:spPr>
          <a:xfrm>
            <a:off x="704850" y="554355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29" name="341、342、343 面向不同医生群体，可复用产品框架，建议同步上线。">
            <a:extLst>
              <a:ext uri="{FF2B5EF4-FFF2-40B4-BE49-F238E27FC236}">
                <a16:creationId xmlns:a16="http://schemas.microsoft.com/office/drawing/2014/main" id="{E6C5082D-F2B7-4F64-A120-46C79B5B3C98}"/>
              </a:ext>
            </a:extLst>
          </p:cNvPr>
          <p:cNvSpPr>
            <a:spLocks noGrp="1"/>
          </p:cNvSpPr>
          <p:nvPr/>
        </p:nvSpPr>
        <p:spPr>
          <a:xfrm>
            <a:off x="2133600" y="551497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341、342、343 面向不同医生群体，可复用产品框架，建议同步上线。</a:t>
            </a:r>
          </a:p>
        </p:txBody>
      </p:sp>
    </p:spTree>
    <p:extLst>
      <p:ext uri="{BB962C8B-B14F-4D97-AF65-F5344CB8AC3E}">
        <p14:creationId xmlns:p14="http://schemas.microsoft.com/office/powerpoint/2010/main" val="1422171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中级考试结构">
            <a:extLst>
              <a:ext uri="{FF2B5EF4-FFF2-40B4-BE49-F238E27FC236}">
                <a16:creationId xmlns:a16="http://schemas.microsoft.com/office/drawing/2014/main" id="{AC8F32C9-F18A-4E28-AC3F-76F1BF512ED3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中级考试结构</a:t>
            </a:r>
          </a:p>
        </p:txBody>
      </p:sp>
      <p:sp>
        <p:nvSpPr>
          <p:cNvPr id="2" name="四个考试科目决定题库结构，案例题规则决定产品准确性">
            <a:extLst>
              <a:ext uri="{FF2B5EF4-FFF2-40B4-BE49-F238E27FC236}">
                <a16:creationId xmlns:a16="http://schemas.microsoft.com/office/drawing/2014/main" id="{A7B841EF-AA67-4502-9F59-D50408FDA59B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四个考试科目决定题库结构，案例题规则决定产品准确性</a:t>
            </a:r>
          </a:p>
        </p:txBody>
      </p:sp>
      <p:sp>
        <p:nvSpPr>
          <p:cNvPr id="3" name="适用于 341、342、343 等全国统一组织的中级职称考试。">
            <a:extLst>
              <a:ext uri="{FF2B5EF4-FFF2-40B4-BE49-F238E27FC236}">
                <a16:creationId xmlns:a16="http://schemas.microsoft.com/office/drawing/2014/main" id="{53BAB61A-BE68-4A0F-A75E-F5BCB91FD330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适用于 341、342、343 等全国统一组织的中级职称考试。</a:t>
            </a:r>
          </a:p>
        </p:txBody>
      </p:sp>
      <p:sp>
        <p:nvSpPr>
          <p:cNvPr id="4" name="06">
            <a:extLst>
              <a:ext uri="{FF2B5EF4-FFF2-40B4-BE49-F238E27FC236}">
                <a16:creationId xmlns:a16="http://schemas.microsoft.com/office/drawing/2014/main" id="{56BAF788-0B5A-420D-9386-95C1E2DE1E88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AF9DA1-C8E8-4423-AC0A-B9483CCB1983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AECA09-0004-4ADD-BDBF-F57A3FE6D6B0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213E7CF-8E60-4587-97C3-B9241A70FC7E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6 / 12">
            <a:extLst>
              <a:ext uri="{FF2B5EF4-FFF2-40B4-BE49-F238E27FC236}">
                <a16:creationId xmlns:a16="http://schemas.microsoft.com/office/drawing/2014/main" id="{3C0DDA9C-0B52-4DF8-8D0D-340F9C416633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06 / 12</a:t>
            </a:r>
          </a:p>
        </p:txBody>
      </p:sp>
      <p:graphicFrame>
        <p:nvGraphicFramePr>
          <p:cNvPr id="28" name="表格 27"/>
          <p:cNvGraphicFramePr/>
          <p:nvPr/>
        </p:nvGraphicFramePr>
        <p:xfrm>
          <a:off x="533400" y="1752600"/>
          <a:ext cx="11125200" cy="2895600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科目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题量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题型构成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 题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 / A2 型题及 B1 型题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相关专业知识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 题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 / A2、A3 / A4 及 B1 型题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专业知识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 题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A1 / A2 及 A3 / A4 型题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专业实践能力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 75 题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 分钟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案例分析题，选项数量不固定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产品必须准确适配">
            <a:extLst>
              <a:ext uri="{FF2B5EF4-FFF2-40B4-BE49-F238E27FC236}">
                <a16:creationId xmlns:a16="http://schemas.microsoft.com/office/drawing/2014/main" id="{FD3CD28A-81A6-4EB9-B8AA-5B9E6DAC66AA}"/>
              </a:ext>
            </a:extLst>
          </p:cNvPr>
          <p:cNvSpPr>
            <a:spLocks noGrp="1"/>
          </p:cNvSpPr>
          <p:nvPr/>
        </p:nvSpPr>
        <p:spPr>
          <a:xfrm>
            <a:off x="533400" y="4953000"/>
            <a:ext cx="2381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产品必须准确适配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DEB607DE-A7B2-4B11-B4CB-C860943239F6}"/>
              </a:ext>
            </a:extLst>
          </p:cNvPr>
          <p:cNvSpPr>
            <a:spLocks noGrp="1"/>
          </p:cNvSpPr>
          <p:nvPr/>
        </p:nvSpPr>
        <p:spPr>
          <a:xfrm>
            <a:off x="31432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案例分析题选错扣分">
            <a:extLst>
              <a:ext uri="{FF2B5EF4-FFF2-40B4-BE49-F238E27FC236}">
                <a16:creationId xmlns:a16="http://schemas.microsoft.com/office/drawing/2014/main" id="{BFE24780-3E37-4A0F-AE67-7B7E2F47B4DD}"/>
              </a:ext>
            </a:extLst>
          </p:cNvPr>
          <p:cNvSpPr>
            <a:spLocks noGrp="1"/>
          </p:cNvSpPr>
          <p:nvPr/>
        </p:nvSpPr>
        <p:spPr>
          <a:xfrm>
            <a:off x="31432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案例分析题选错扣分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C2D0A369-5519-44DD-95AC-610CE50469BE}"/>
              </a:ext>
            </a:extLst>
          </p:cNvPr>
          <p:cNvSpPr>
            <a:spLocks noGrp="1"/>
          </p:cNvSpPr>
          <p:nvPr/>
        </p:nvSpPr>
        <p:spPr>
          <a:xfrm>
            <a:off x="58864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单向作答，不可回退">
            <a:extLst>
              <a:ext uri="{FF2B5EF4-FFF2-40B4-BE49-F238E27FC236}">
                <a16:creationId xmlns:a16="http://schemas.microsoft.com/office/drawing/2014/main" id="{B247E62C-EF04-46B8-9683-C64516E0DEDB}"/>
              </a:ext>
            </a:extLst>
          </p:cNvPr>
          <p:cNvSpPr>
            <a:spLocks noGrp="1"/>
          </p:cNvSpPr>
          <p:nvPr/>
        </p:nvSpPr>
        <p:spPr>
          <a:xfrm>
            <a:off x="58864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单向作答，不可回退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1831E238-BFB3-4D91-9098-B5B33A9AC59D}"/>
              </a:ext>
            </a:extLst>
          </p:cNvPr>
          <p:cNvSpPr>
            <a:spLocks noGrp="1"/>
          </p:cNvSpPr>
          <p:nvPr/>
        </p:nvSpPr>
        <p:spPr>
          <a:xfrm>
            <a:off x="8629650" y="4829175"/>
            <a:ext cx="2514600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四科成绩两年滚动">
            <a:extLst>
              <a:ext uri="{FF2B5EF4-FFF2-40B4-BE49-F238E27FC236}">
                <a16:creationId xmlns:a16="http://schemas.microsoft.com/office/drawing/2014/main" id="{FEC089A2-98A5-41BE-96E1-8E266C5A56E2}"/>
              </a:ext>
            </a:extLst>
          </p:cNvPr>
          <p:cNvSpPr>
            <a:spLocks noGrp="1"/>
          </p:cNvSpPr>
          <p:nvPr/>
        </p:nvSpPr>
        <p:spPr>
          <a:xfrm>
            <a:off x="8629650" y="4972050"/>
            <a:ext cx="25146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四科成绩两年滚动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5F78D1C2-5A9F-494D-8E56-61D92B397819}"/>
              </a:ext>
            </a:extLst>
          </p:cNvPr>
          <p:cNvSpPr>
            <a:spLocks noGrp="1"/>
          </p:cNvSpPr>
          <p:nvPr/>
        </p:nvSpPr>
        <p:spPr>
          <a:xfrm>
            <a:off x="533400" y="56388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本章结论">
            <a:extLst>
              <a:ext uri="{FF2B5EF4-FFF2-40B4-BE49-F238E27FC236}">
                <a16:creationId xmlns:a16="http://schemas.microsoft.com/office/drawing/2014/main" id="{913F418F-19A8-4651-BD05-A059309D6451}"/>
              </a:ext>
            </a:extLst>
          </p:cNvPr>
          <p:cNvSpPr>
            <a:spLocks noGrp="1"/>
          </p:cNvSpPr>
          <p:nvPr/>
        </p:nvSpPr>
        <p:spPr>
          <a:xfrm>
            <a:off x="704850" y="57912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9" name="三专业都要覆盖四科并适配考试规则，首期重点是题库、题型与解析准确。">
            <a:extLst>
              <a:ext uri="{FF2B5EF4-FFF2-40B4-BE49-F238E27FC236}">
                <a16:creationId xmlns:a16="http://schemas.microsoft.com/office/drawing/2014/main" id="{0054385D-0F92-4822-8BF1-48E0BE973442}"/>
              </a:ext>
            </a:extLst>
          </p:cNvPr>
          <p:cNvSpPr>
            <a:spLocks noGrp="1"/>
          </p:cNvSpPr>
          <p:nvPr/>
        </p:nvSpPr>
        <p:spPr>
          <a:xfrm>
            <a:off x="2133600" y="57626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三专业都要覆盖四科并适配考试规则，首期重点是题库、题型与解析准确。</a:t>
            </a:r>
          </a:p>
        </p:txBody>
      </p:sp>
    </p:spTree>
    <p:extLst>
      <p:ext uri="{BB962C8B-B14F-4D97-AF65-F5344CB8AC3E}">
        <p14:creationId xmlns:p14="http://schemas.microsoft.com/office/powerpoint/2010/main" val="1094101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竞品分析">
            <a:extLst>
              <a:ext uri="{FF2B5EF4-FFF2-40B4-BE49-F238E27FC236}">
                <a16:creationId xmlns:a16="http://schemas.microsoft.com/office/drawing/2014/main" id="{129A57BA-87EB-4F40-85A8-C975A6DE4CE4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竞品分析</a:t>
            </a:r>
          </a:p>
        </p:txBody>
      </p:sp>
      <p:sp>
        <p:nvSpPr>
          <p:cNvPr id="2" name="市场供给分为四类，五家重点对象构成直接竞争">
            <a:extLst>
              <a:ext uri="{FF2B5EF4-FFF2-40B4-BE49-F238E27FC236}">
                <a16:creationId xmlns:a16="http://schemas.microsoft.com/office/drawing/2014/main" id="{650B2B35-1E74-4D8F-8ECF-144BF38EB3C6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市场供给分为四类，五家重点对象构成直接竞争</a:t>
            </a:r>
          </a:p>
        </p:txBody>
      </p:sp>
      <p:sp>
        <p:nvSpPr>
          <p:cNvPr id="3" name="不同产品形态覆盖从传统权威题集到移动端题库与会员社区。">
            <a:extLst>
              <a:ext uri="{FF2B5EF4-FFF2-40B4-BE49-F238E27FC236}">
                <a16:creationId xmlns:a16="http://schemas.microsoft.com/office/drawing/2014/main" id="{0406A92C-770F-402A-B75D-6E40C7550662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不同产品形态覆盖从传统权威题集到移动端题库与会员社区。</a:t>
            </a:r>
          </a:p>
        </p:txBody>
      </p:sp>
      <p:sp>
        <p:nvSpPr>
          <p:cNvPr id="4" name="07">
            <a:extLst>
              <a:ext uri="{FF2B5EF4-FFF2-40B4-BE49-F238E27FC236}">
                <a16:creationId xmlns:a16="http://schemas.microsoft.com/office/drawing/2014/main" id="{FD5C8C1C-316F-4D43-BE4D-EB3942FF0BA4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277D41-4BB5-4482-ACFA-15918AD340A2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F8F1C1-8F83-4154-B9A6-5059D067CCF4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61F0064-945D-410A-A84B-D8868FA542B0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7 / 12">
            <a:extLst>
              <a:ext uri="{FF2B5EF4-FFF2-40B4-BE49-F238E27FC236}">
                <a16:creationId xmlns:a16="http://schemas.microsoft.com/office/drawing/2014/main" id="{ACBC2C74-AE84-43C9-BE5E-091EEE883E68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07 / 12</a:t>
            </a:r>
          </a:p>
        </p:txBody>
      </p:sp>
      <p:graphicFrame>
        <p:nvGraphicFramePr>
          <p:cNvPr id="32" name="表格 31"/>
          <p:cNvGraphicFramePr/>
          <p:nvPr/>
        </p:nvGraphicFramePr>
        <p:xfrm>
          <a:off x="533400" y="1752600"/>
          <a:ext cx="11125200" cy="28765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9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产品形态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代表产品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主要优势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主要不足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传统题库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人卫版习题集、军医版电子试卷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权威、经典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缺少个性化，更新较慢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图书题库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《肿瘤内科5000题》等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体系较完整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缺少学习反馈与智能分析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在线题库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阿虎医考、考试宝典等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使用方便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学习路径较固定，AI 能力有限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题库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阿虎医考 VIP 题库等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可提供智能推荐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专业深度、内容质量与定价仍需验证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五家直接竞品">
            <a:extLst>
              <a:ext uri="{FF2B5EF4-FFF2-40B4-BE49-F238E27FC236}">
                <a16:creationId xmlns:a16="http://schemas.microsoft.com/office/drawing/2014/main" id="{A8F4D703-03C8-482D-964D-3B7EA71FC593}"/>
              </a:ext>
            </a:extLst>
          </p:cNvPr>
          <p:cNvSpPr>
            <a:spLocks noGrp="1"/>
          </p:cNvSpPr>
          <p:nvPr/>
        </p:nvSpPr>
        <p:spPr>
          <a:xfrm>
            <a:off x="533400" y="4953000"/>
            <a:ext cx="18097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五家直接竞品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F53A55CB-25CD-466B-A71C-4E43CB4AF5A9}"/>
              </a:ext>
            </a:extLst>
          </p:cNvPr>
          <p:cNvSpPr>
            <a:spLocks noGrp="1"/>
          </p:cNvSpPr>
          <p:nvPr/>
        </p:nvSpPr>
        <p:spPr>
          <a:xfrm>
            <a:off x="241935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阿虎医考">
            <a:extLst>
              <a:ext uri="{FF2B5EF4-FFF2-40B4-BE49-F238E27FC236}">
                <a16:creationId xmlns:a16="http://schemas.microsoft.com/office/drawing/2014/main" id="{2C959D8C-A6E1-4FFB-9E8F-DF7DCD19CF0E}"/>
              </a:ext>
            </a:extLst>
          </p:cNvPr>
          <p:cNvSpPr>
            <a:spLocks noGrp="1"/>
          </p:cNvSpPr>
          <p:nvPr/>
        </p:nvSpPr>
        <p:spPr>
          <a:xfrm>
            <a:off x="241935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阿虎医考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FBACF073-F54D-49C4-84C6-35D673AD09C1}"/>
              </a:ext>
            </a:extLst>
          </p:cNvPr>
          <p:cNvSpPr>
            <a:spLocks noGrp="1"/>
          </p:cNvSpPr>
          <p:nvPr/>
        </p:nvSpPr>
        <p:spPr>
          <a:xfrm>
            <a:off x="4200525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考试宝典">
            <a:extLst>
              <a:ext uri="{FF2B5EF4-FFF2-40B4-BE49-F238E27FC236}">
                <a16:creationId xmlns:a16="http://schemas.microsoft.com/office/drawing/2014/main" id="{A7CEE3D8-3757-421E-BFDF-F4870B58D32B}"/>
              </a:ext>
            </a:extLst>
          </p:cNvPr>
          <p:cNvSpPr>
            <a:spLocks noGrp="1"/>
          </p:cNvSpPr>
          <p:nvPr/>
        </p:nvSpPr>
        <p:spPr>
          <a:xfrm>
            <a:off x="4200525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考试宝典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6A58742C-B265-4D32-ACE8-CA4FCAF6E99B}"/>
              </a:ext>
            </a:extLst>
          </p:cNvPr>
          <p:cNvSpPr>
            <a:spLocks noGrp="1"/>
          </p:cNvSpPr>
          <p:nvPr/>
        </p:nvSpPr>
        <p:spPr>
          <a:xfrm>
            <a:off x="598170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肿瘤学圣题库">
            <a:extLst>
              <a:ext uri="{FF2B5EF4-FFF2-40B4-BE49-F238E27FC236}">
                <a16:creationId xmlns:a16="http://schemas.microsoft.com/office/drawing/2014/main" id="{096858BA-59EC-4064-B52C-0CD29FB0A5CC}"/>
              </a:ext>
            </a:extLst>
          </p:cNvPr>
          <p:cNvSpPr>
            <a:spLocks noGrp="1"/>
          </p:cNvSpPr>
          <p:nvPr/>
        </p:nvSpPr>
        <p:spPr>
          <a:xfrm>
            <a:off x="598170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肿瘤学圣题库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7F8637EC-5C06-420E-A36D-B20992544F75}"/>
              </a:ext>
            </a:extLst>
          </p:cNvPr>
          <p:cNvSpPr>
            <a:spLocks noGrp="1"/>
          </p:cNvSpPr>
          <p:nvPr/>
        </p:nvSpPr>
        <p:spPr>
          <a:xfrm>
            <a:off x="7762875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蓝基因">
            <a:extLst>
              <a:ext uri="{FF2B5EF4-FFF2-40B4-BE49-F238E27FC236}">
                <a16:creationId xmlns:a16="http://schemas.microsoft.com/office/drawing/2014/main" id="{6C87C19D-251F-4AFD-8A14-2F45A8FD5A79}"/>
              </a:ext>
            </a:extLst>
          </p:cNvPr>
          <p:cNvSpPr>
            <a:spLocks noGrp="1"/>
          </p:cNvSpPr>
          <p:nvPr/>
        </p:nvSpPr>
        <p:spPr>
          <a:xfrm>
            <a:off x="7762875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蓝基因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D489DE2C-0BD2-4482-B961-18EADA9F0F34}"/>
              </a:ext>
            </a:extLst>
          </p:cNvPr>
          <p:cNvSpPr>
            <a:spLocks noGrp="1"/>
          </p:cNvSpPr>
          <p:nvPr/>
        </p:nvSpPr>
        <p:spPr>
          <a:xfrm>
            <a:off x="9544050" y="4857750"/>
            <a:ext cx="1590675" cy="47625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医考帮">
            <a:extLst>
              <a:ext uri="{FF2B5EF4-FFF2-40B4-BE49-F238E27FC236}">
                <a16:creationId xmlns:a16="http://schemas.microsoft.com/office/drawing/2014/main" id="{DD659093-383D-4D44-AD50-559FD39E791F}"/>
              </a:ext>
            </a:extLst>
          </p:cNvPr>
          <p:cNvSpPr>
            <a:spLocks noGrp="1"/>
          </p:cNvSpPr>
          <p:nvPr/>
        </p:nvSpPr>
        <p:spPr>
          <a:xfrm>
            <a:off x="9544050" y="4991100"/>
            <a:ext cx="15906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医考帮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F58A219-479B-482D-B95F-59032D7DC76F}"/>
              </a:ext>
            </a:extLst>
          </p:cNvPr>
          <p:cNvSpPr>
            <a:spLocks noGrp="1"/>
          </p:cNvSpPr>
          <p:nvPr/>
        </p:nvSpPr>
        <p:spPr>
          <a:xfrm>
            <a:off x="533400" y="56388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本章结论">
            <a:extLst>
              <a:ext uri="{FF2B5EF4-FFF2-40B4-BE49-F238E27FC236}">
                <a16:creationId xmlns:a16="http://schemas.microsoft.com/office/drawing/2014/main" id="{6479907B-2FBE-4098-8BA0-00336FFB264D}"/>
              </a:ext>
            </a:extLst>
          </p:cNvPr>
          <p:cNvSpPr>
            <a:spLocks noGrp="1"/>
          </p:cNvSpPr>
          <p:nvPr/>
        </p:nvSpPr>
        <p:spPr>
          <a:xfrm>
            <a:off x="704850" y="57912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23" name="五家均为直接竞品，市场已有成熟链路、合并题库、低价单题库和会员制。">
            <a:extLst>
              <a:ext uri="{FF2B5EF4-FFF2-40B4-BE49-F238E27FC236}">
                <a16:creationId xmlns:a16="http://schemas.microsoft.com/office/drawing/2014/main" id="{BAB7DFA5-2B18-42E4-9BA3-D9EDA3504B0F}"/>
              </a:ext>
            </a:extLst>
          </p:cNvPr>
          <p:cNvSpPr>
            <a:spLocks noGrp="1"/>
          </p:cNvSpPr>
          <p:nvPr/>
        </p:nvSpPr>
        <p:spPr>
          <a:xfrm>
            <a:off x="2133600" y="57626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五家均为直接竞品，市场已有成熟链路、合并题库、低价单题库和会员制。</a:t>
            </a:r>
          </a:p>
        </p:txBody>
      </p:sp>
    </p:spTree>
    <p:extLst>
      <p:ext uri="{BB962C8B-B14F-4D97-AF65-F5344CB8AC3E}">
        <p14:creationId xmlns:p14="http://schemas.microsoft.com/office/powerpoint/2010/main" val="1172209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竞品横向对比">
            <a:extLst>
              <a:ext uri="{FF2B5EF4-FFF2-40B4-BE49-F238E27FC236}">
                <a16:creationId xmlns:a16="http://schemas.microsoft.com/office/drawing/2014/main" id="{F7C0092D-40E8-4F96-B4E4-0A8BC09026C1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竞品横向对比</a:t>
            </a:r>
          </a:p>
        </p:txBody>
      </p:sp>
      <p:sp>
        <p:nvSpPr>
          <p:cNvPr id="2" name="竞品价格与产品模式已形成清晰锚点">
            <a:extLst>
              <a:ext uri="{FF2B5EF4-FFF2-40B4-BE49-F238E27FC236}">
                <a16:creationId xmlns:a16="http://schemas.microsoft.com/office/drawing/2014/main" id="{01F89279-665C-4C11-9F24-0DB65CDFA0DA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竞品价格与产品模式已形成清晰锚点</a:t>
            </a:r>
          </a:p>
        </p:txBody>
      </p:sp>
      <p:sp>
        <p:nvSpPr>
          <p:cNvPr id="3" name="公开价格样本用于理解购买门槛，不代表长期售价或完整权益完全可比。">
            <a:extLst>
              <a:ext uri="{FF2B5EF4-FFF2-40B4-BE49-F238E27FC236}">
                <a16:creationId xmlns:a16="http://schemas.microsoft.com/office/drawing/2014/main" id="{AE81A8E3-2999-4074-830B-575F000CCB5E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公开价格样本用于理解购买门槛，不代表长期售价或完整权益完全可比。</a:t>
            </a:r>
          </a:p>
        </p:txBody>
      </p:sp>
      <p:sp>
        <p:nvSpPr>
          <p:cNvPr id="4" name="08">
            <a:extLst>
              <a:ext uri="{FF2B5EF4-FFF2-40B4-BE49-F238E27FC236}">
                <a16:creationId xmlns:a16="http://schemas.microsoft.com/office/drawing/2014/main" id="{DBF95B45-38A9-4406-8233-8D364CE63740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2B2FA7-CF81-4A0F-9F6F-FC48F1B1B17C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1E2CD4E-96A4-4706-AE8D-3421F82817C2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91535925-55CB-4854-B966-6B2902EAC36C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8 / 12">
            <a:extLst>
              <a:ext uri="{FF2B5EF4-FFF2-40B4-BE49-F238E27FC236}">
                <a16:creationId xmlns:a16="http://schemas.microsoft.com/office/drawing/2014/main" id="{878C7DDC-9D22-45ED-9771-CAAD96B71B33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08 / 12</a:t>
            </a:r>
          </a:p>
        </p:txBody>
      </p:sp>
      <p:graphicFrame>
        <p:nvGraphicFramePr>
          <p:cNvPr id="21" name="表格 20"/>
          <p:cNvGraphicFramePr/>
          <p:nvPr/>
        </p:nvGraphicFramePr>
        <p:xfrm>
          <a:off x="533400" y="1695450"/>
          <a:ext cx="11125200" cy="3848100"/>
        </p:xfrm>
        <a:graphic>
          <a:graphicData uri="http://schemas.openxmlformats.org/drawingml/2006/table">
            <a:tbl>
              <a:tblPr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竞品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 / 价格样本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核心优势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对良医汇的启示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阿虎医考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医学职称综合平台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肿瘤内科、外科题库均 ¥160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全专业覆盖，学习链路完整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竞争肿瘤专业深度、可信解析与既有用户触达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考试宝典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大题库、多考试品类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 / 342 / 343 合并题库 ¥168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覆盖广、合并销售、多终端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在解析质量与更新速度上建立差异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肿瘤学圣题库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长尾单科低价题库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341 ¥58；342 ¥68；343 ¥58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低价、单科购买、决策简单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低价下限已形成，溢价要由内容与 AI 证明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蓝基因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移动医学题库平台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肿瘤中级相关题库 ¥58 / 套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低价，基础刷题与错题完整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首期定价和基础体验的重点对标对象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1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医考帮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题库 + 社区会员平台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统一会员制，非单题库购买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题库广、评论统计与社区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首期不宜强制采用全站会员模式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03D54830-11BE-4CE1-ABF1-CA8A87FD5883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本章结论">
            <a:extLst>
              <a:ext uri="{FF2B5EF4-FFF2-40B4-BE49-F238E27FC236}">
                <a16:creationId xmlns:a16="http://schemas.microsoft.com/office/drawing/2014/main" id="{C5D727C6-56C7-4440-8917-4BA2B00C0D19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2" name="首期优先单题库或三专业组合包，降低购买门槛，不强制全站会员。">
            <a:extLst>
              <a:ext uri="{FF2B5EF4-FFF2-40B4-BE49-F238E27FC236}">
                <a16:creationId xmlns:a16="http://schemas.microsoft.com/office/drawing/2014/main" id="{4789B8D0-830E-433A-8BA7-B858585EB97D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首期优先单题库或三专业组合包，降低购买门槛，不强制全站会员。</a:t>
            </a:r>
          </a:p>
        </p:txBody>
      </p:sp>
    </p:spTree>
    <p:extLst>
      <p:ext uri="{BB962C8B-B14F-4D97-AF65-F5344CB8AC3E}">
        <p14:creationId xmlns:p14="http://schemas.microsoft.com/office/powerpoint/2010/main" val="1819888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能力对标与产品响应">
            <a:extLst>
              <a:ext uri="{FF2B5EF4-FFF2-40B4-BE49-F238E27FC236}">
                <a16:creationId xmlns:a16="http://schemas.microsoft.com/office/drawing/2014/main" id="{2B99E6C7-B340-4532-91E1-B4D56C5C041D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能力对标与产品响应</a:t>
            </a:r>
          </a:p>
        </p:txBody>
      </p:sp>
      <p:sp>
        <p:nvSpPr>
          <p:cNvPr id="2" name="差异化应集中在专科内容、可信解析与持续更新">
            <a:extLst>
              <a:ext uri="{FF2B5EF4-FFF2-40B4-BE49-F238E27FC236}">
                <a16:creationId xmlns:a16="http://schemas.microsoft.com/office/drawing/2014/main" id="{24AE10CE-1D40-4330-9BA1-D24E531DE9E0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差异化应集中在专科内容、可信解析与持续更新</a:t>
            </a:r>
          </a:p>
        </p:txBody>
      </p:sp>
      <p:sp>
        <p:nvSpPr>
          <p:cNvPr id="3" name="复杂功能不能替代肿瘤专业内容质量。">
            <a:extLst>
              <a:ext uri="{FF2B5EF4-FFF2-40B4-BE49-F238E27FC236}">
                <a16:creationId xmlns:a16="http://schemas.microsoft.com/office/drawing/2014/main" id="{89524116-8BCE-4156-AB02-20D82B61E525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复杂功能不能替代肿瘤专业内容质量。</a:t>
            </a:r>
          </a:p>
        </p:txBody>
      </p:sp>
      <p:sp>
        <p:nvSpPr>
          <p:cNvPr id="4" name="09">
            <a:extLst>
              <a:ext uri="{FF2B5EF4-FFF2-40B4-BE49-F238E27FC236}">
                <a16:creationId xmlns:a16="http://schemas.microsoft.com/office/drawing/2014/main" id="{5B1196EF-FC1B-47A5-9434-FBF554FAE16D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F7B168-E0E1-48A4-BFB2-E9120C04159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2C2161-E314-4B61-AF25-2C48B02C82C6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C28B47DD-13A1-4D4A-AF20-A796D8B2E2FD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09 / 12">
            <a:extLst>
              <a:ext uri="{FF2B5EF4-FFF2-40B4-BE49-F238E27FC236}">
                <a16:creationId xmlns:a16="http://schemas.microsoft.com/office/drawing/2014/main" id="{21450161-8807-4271-B8F1-BEB5968CC885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09 / 12</a:t>
            </a:r>
          </a:p>
        </p:txBody>
      </p:sp>
      <p:graphicFrame>
        <p:nvGraphicFramePr>
          <p:cNvPr id="24" name="表格 23"/>
          <p:cNvGraphicFramePr/>
          <p:nvPr/>
        </p:nvGraphicFramePr>
        <p:xfrm>
          <a:off x="533400" y="1752600"/>
          <a:ext cx="11125200" cy="306705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关键能力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首要对标对象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良医汇首期响应</a:t>
                      </a:r>
                      <a:endParaRPr sz="135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三专业完整覆盖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阿虎医考、考试宝典、医考帮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同步上线 341 / 342 / 343；按各自考纲组织题目与解析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题目与解析质量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阿虎医考、传统权威题集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保证考纲覆盖、解析依据、错题修订和持续更新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价格与售卖方式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蓝基因、圣才、考试宝典、医考帮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采用单题库或三专业组合包；不强制全站会员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现有功能复用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阿虎医考、医考帮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复用答题、错题和</a:t>
                      </a:r>
                      <a:r>
                        <a:rPr sz="1350" b="0" dirty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350" b="0" dirty="0" err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AI；首期不新增课程、师资或社区</a:t>
                      </a:r>
                      <a:endParaRPr sz="1350" b="0" dirty="0">
                        <a:solidFill>
                          <a:srgbClr val="102744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圆角矩形 9">
            <a:extLst>
              <a:ext uri="{FF2B5EF4-FFF2-40B4-BE49-F238E27FC236}">
                <a16:creationId xmlns:a16="http://schemas.microsoft.com/office/drawing/2014/main" id="{AA3F006B-AE44-42F0-96E2-FE3057DCFB1F}"/>
              </a:ext>
            </a:extLst>
          </p:cNvPr>
          <p:cNvSpPr>
            <a:spLocks noGrp="1"/>
          </p:cNvSpPr>
          <p:nvPr/>
        </p:nvSpPr>
        <p:spPr>
          <a:xfrm>
            <a:off x="533400" y="5010150"/>
            <a:ext cx="11125200" cy="49530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内容可信">
            <a:extLst>
              <a:ext uri="{FF2B5EF4-FFF2-40B4-BE49-F238E27FC236}">
                <a16:creationId xmlns:a16="http://schemas.microsoft.com/office/drawing/2014/main" id="{15D37B3F-1266-4111-9113-96D8BBFAA90A}"/>
              </a:ext>
            </a:extLst>
          </p:cNvPr>
          <p:cNvSpPr>
            <a:spLocks noGrp="1"/>
          </p:cNvSpPr>
          <p:nvPr/>
        </p:nvSpPr>
        <p:spPr>
          <a:xfrm>
            <a:off x="723900" y="514350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3A67"/>
                </a:solidFill>
                <a:latin typeface="Microsoft YaHei"/>
                <a:ea typeface="Microsoft YaHei"/>
                <a:cs typeface="Microsoft YaHei"/>
              </a:rPr>
              <a:t>内容可信</a:t>
            </a:r>
          </a:p>
        </p:txBody>
      </p:sp>
      <p:sp>
        <p:nvSpPr>
          <p:cNvPr id="12" name="每道题都要有可核验的考纲与解析依据">
            <a:extLst>
              <a:ext uri="{FF2B5EF4-FFF2-40B4-BE49-F238E27FC236}">
                <a16:creationId xmlns:a16="http://schemas.microsoft.com/office/drawing/2014/main" id="{F8BE9883-864F-486F-8DB7-DF091825518F}"/>
              </a:ext>
            </a:extLst>
          </p:cNvPr>
          <p:cNvSpPr>
            <a:spLocks noGrp="1"/>
          </p:cNvSpPr>
          <p:nvPr/>
        </p:nvSpPr>
        <p:spPr>
          <a:xfrm>
            <a:off x="2476500" y="5124450"/>
            <a:ext cx="8572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每道题都要有可核验的考纲与解析依据</a:t>
            </a:r>
            <a:endParaRPr sz="1575" b="0" dirty="0">
              <a:solidFill>
                <a:srgbClr val="6F84A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2D2B6224-F637-4D6C-9950-EA671BDC7B9E}"/>
              </a:ext>
            </a:extLst>
          </p:cNvPr>
          <p:cNvSpPr>
            <a:spLocks noGrp="1"/>
          </p:cNvSpPr>
          <p:nvPr/>
        </p:nvSpPr>
        <p:spPr>
          <a:xfrm>
            <a:off x="533400" y="56769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本章结论">
            <a:extLst>
              <a:ext uri="{FF2B5EF4-FFF2-40B4-BE49-F238E27FC236}">
                <a16:creationId xmlns:a16="http://schemas.microsoft.com/office/drawing/2014/main" id="{377B6138-CCD7-450F-AEB0-6467CAE95FD5}"/>
              </a:ext>
            </a:extLst>
          </p:cNvPr>
          <p:cNvSpPr>
            <a:spLocks noGrp="1"/>
          </p:cNvSpPr>
          <p:nvPr/>
        </p:nvSpPr>
        <p:spPr>
          <a:xfrm>
            <a:off x="704850" y="58293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5" name="以三专业覆盖、可信解析、持续更新和既有用户触达形成差异。">
            <a:extLst>
              <a:ext uri="{FF2B5EF4-FFF2-40B4-BE49-F238E27FC236}">
                <a16:creationId xmlns:a16="http://schemas.microsoft.com/office/drawing/2014/main" id="{A0E52664-A368-44B3-BE4F-7BED36B750A7}"/>
              </a:ext>
            </a:extLst>
          </p:cNvPr>
          <p:cNvSpPr>
            <a:spLocks noGrp="1"/>
          </p:cNvSpPr>
          <p:nvPr/>
        </p:nvSpPr>
        <p:spPr>
          <a:xfrm>
            <a:off x="2133600" y="58007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以三专业覆盖、可信解析、持续更新和既有用户触达形成差异。</a:t>
            </a:r>
          </a:p>
        </p:txBody>
      </p:sp>
    </p:spTree>
    <p:extLst>
      <p:ext uri="{BB962C8B-B14F-4D97-AF65-F5344CB8AC3E}">
        <p14:creationId xmlns:p14="http://schemas.microsoft.com/office/powerpoint/2010/main" val="465197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市场规模">
            <a:extLst>
              <a:ext uri="{FF2B5EF4-FFF2-40B4-BE49-F238E27FC236}">
                <a16:creationId xmlns:a16="http://schemas.microsoft.com/office/drawing/2014/main" id="{E7C70AD0-BBB4-43CB-81E8-BF7EDFEF9422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市场规模</a:t>
            </a:r>
          </a:p>
        </p:txBody>
      </p:sp>
      <p:sp>
        <p:nvSpPr>
          <p:cNvPr id="2" name="市场规模需要区分官方数据、同口径推算与内部情景">
            <a:extLst>
              <a:ext uri="{FF2B5EF4-FFF2-40B4-BE49-F238E27FC236}">
                <a16:creationId xmlns:a16="http://schemas.microsoft.com/office/drawing/2014/main" id="{E94545EB-8EAA-4FA1-BA5A-FC7E7AB06E24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市场规模需要区分官方数据、同口径推算与内部情景</a:t>
            </a:r>
          </a:p>
        </p:txBody>
      </p:sp>
      <p:sp>
        <p:nvSpPr>
          <p:cNvPr id="3" name="不同证据承担不同用途，内部情景不能表述为官方报名率。">
            <a:extLst>
              <a:ext uri="{FF2B5EF4-FFF2-40B4-BE49-F238E27FC236}">
                <a16:creationId xmlns:a16="http://schemas.microsoft.com/office/drawing/2014/main" id="{1AF6AE0C-5B7E-4F1F-938A-1B612DA5E828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不同证据承担不同用途，内部情景不能表述为官方报名率。</a:t>
            </a:r>
          </a:p>
        </p:txBody>
      </p:sp>
      <p:sp>
        <p:nvSpPr>
          <p:cNvPr id="4" name="10">
            <a:extLst>
              <a:ext uri="{FF2B5EF4-FFF2-40B4-BE49-F238E27FC236}">
                <a16:creationId xmlns:a16="http://schemas.microsoft.com/office/drawing/2014/main" id="{CFF82211-2469-4CE2-B0E4-C06CB9BED7EF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8943C90-6FB4-403C-9CDC-791DE2E46F24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840F00C-783D-4222-913C-135669D4B691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49D48DF-2040-4A1C-B7B5-30D9FFF10659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0 / 12">
            <a:extLst>
              <a:ext uri="{FF2B5EF4-FFF2-40B4-BE49-F238E27FC236}">
                <a16:creationId xmlns:a16="http://schemas.microsoft.com/office/drawing/2014/main" id="{EB94C54E-58ED-49D2-9E7E-FEFB5004F96B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10 / 12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A8CF82C2-46AA-4AA7-BD16-BF9DAE5D42AE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3524250" cy="838200"/>
          </a:xfrm>
          <a:prstGeom prst="roundRect">
            <a:avLst>
              <a:gd name="adj" fmla="val 22727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A｜官方数据">
            <a:extLst>
              <a:ext uri="{FF2B5EF4-FFF2-40B4-BE49-F238E27FC236}">
                <a16:creationId xmlns:a16="http://schemas.microsoft.com/office/drawing/2014/main" id="{72635B7C-F7FD-4391-A445-CE753BD9FC94}"/>
              </a:ext>
            </a:extLst>
          </p:cNvPr>
          <p:cNvSpPr>
            <a:spLocks noGrp="1"/>
          </p:cNvSpPr>
          <p:nvPr/>
        </p:nvSpPr>
        <p:spPr>
          <a:xfrm>
            <a:off x="704850" y="19050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A｜官方数据</a:t>
            </a:r>
          </a:p>
        </p:txBody>
      </p:sp>
      <p:sp>
        <p:nvSpPr>
          <p:cNvPr id="11" name="医师总量、分科占比、村卫生室人数">
            <a:extLst>
              <a:ext uri="{FF2B5EF4-FFF2-40B4-BE49-F238E27FC236}">
                <a16:creationId xmlns:a16="http://schemas.microsoft.com/office/drawing/2014/main" id="{8381095A-72C6-445B-AD4A-E29FD43FFFF8}"/>
              </a:ext>
            </a:extLst>
          </p:cNvPr>
          <p:cNvSpPr>
            <a:spLocks noGrp="1"/>
          </p:cNvSpPr>
          <p:nvPr/>
        </p:nvSpPr>
        <p:spPr>
          <a:xfrm>
            <a:off x="704850" y="2238375"/>
            <a:ext cx="3181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医师总量、分科占比、村卫生室人数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F132C8F5-A09A-4B8A-AE8C-7AA48D3F576F}"/>
              </a:ext>
            </a:extLst>
          </p:cNvPr>
          <p:cNvSpPr>
            <a:spLocks noGrp="1"/>
          </p:cNvSpPr>
          <p:nvPr/>
        </p:nvSpPr>
        <p:spPr>
          <a:xfrm>
            <a:off x="4276725" y="1752600"/>
            <a:ext cx="3524250" cy="8382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B｜同口径推算">
            <a:extLst>
              <a:ext uri="{FF2B5EF4-FFF2-40B4-BE49-F238E27FC236}">
                <a16:creationId xmlns:a16="http://schemas.microsoft.com/office/drawing/2014/main" id="{FE267912-9826-48CF-B035-68845150AE5A}"/>
              </a:ext>
            </a:extLst>
          </p:cNvPr>
          <p:cNvSpPr>
            <a:spLocks noGrp="1"/>
          </p:cNvSpPr>
          <p:nvPr/>
        </p:nvSpPr>
        <p:spPr>
          <a:xfrm>
            <a:off x="4448175" y="19050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B｜同口径推算</a:t>
            </a:r>
          </a:p>
        </p:txBody>
      </p:sp>
      <p:sp>
        <p:nvSpPr>
          <p:cNvPr id="14" name="扣除村卫生室医师，再乘肿瘤科占比">
            <a:extLst>
              <a:ext uri="{FF2B5EF4-FFF2-40B4-BE49-F238E27FC236}">
                <a16:creationId xmlns:a16="http://schemas.microsoft.com/office/drawing/2014/main" id="{9A3A41E4-7BDB-46A3-9C76-B5ECE070AA39}"/>
              </a:ext>
            </a:extLst>
          </p:cNvPr>
          <p:cNvSpPr>
            <a:spLocks noGrp="1"/>
          </p:cNvSpPr>
          <p:nvPr/>
        </p:nvSpPr>
        <p:spPr>
          <a:xfrm>
            <a:off x="4448175" y="2238375"/>
            <a:ext cx="3181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扣除村卫生室医师，再乘肿瘤科占比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2E3DFDC3-9B27-4064-B604-945034BAAE83}"/>
              </a:ext>
            </a:extLst>
          </p:cNvPr>
          <p:cNvSpPr>
            <a:spLocks noGrp="1"/>
          </p:cNvSpPr>
          <p:nvPr/>
        </p:nvSpPr>
        <p:spPr>
          <a:xfrm>
            <a:off x="8020050" y="1752600"/>
            <a:ext cx="3524250" cy="8382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C｜内部情景">
            <a:extLst>
              <a:ext uri="{FF2B5EF4-FFF2-40B4-BE49-F238E27FC236}">
                <a16:creationId xmlns:a16="http://schemas.microsoft.com/office/drawing/2014/main" id="{5F6EB28D-CE83-4D6B-AE20-051E0D779E7A}"/>
              </a:ext>
            </a:extLst>
          </p:cNvPr>
          <p:cNvSpPr>
            <a:spLocks noGrp="1"/>
          </p:cNvSpPr>
          <p:nvPr/>
        </p:nvSpPr>
        <p:spPr>
          <a:xfrm>
            <a:off x="8191500" y="1905000"/>
            <a:ext cx="314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C｜内部情景</a:t>
            </a:r>
          </a:p>
        </p:txBody>
      </p:sp>
      <p:sp>
        <p:nvSpPr>
          <p:cNvPr id="17" name="年度报考窗口占存量医师 5%–10%">
            <a:extLst>
              <a:ext uri="{FF2B5EF4-FFF2-40B4-BE49-F238E27FC236}">
                <a16:creationId xmlns:a16="http://schemas.microsoft.com/office/drawing/2014/main" id="{5C64DFD8-80E2-4766-962F-26320C1C3755}"/>
              </a:ext>
            </a:extLst>
          </p:cNvPr>
          <p:cNvSpPr>
            <a:spLocks noGrp="1"/>
          </p:cNvSpPr>
          <p:nvPr/>
        </p:nvSpPr>
        <p:spPr>
          <a:xfrm>
            <a:off x="8191500" y="2238375"/>
            <a:ext cx="3181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年度报考窗口占存量医师 5%–10%</a:t>
            </a:r>
          </a:p>
        </p:txBody>
      </p:sp>
      <p:graphicFrame>
        <p:nvGraphicFramePr>
          <p:cNvPr id="48" name="表格 47"/>
          <p:cNvGraphicFramePr/>
          <p:nvPr/>
        </p:nvGraphicFramePr>
        <p:xfrm>
          <a:off x="533400" y="2857500"/>
          <a:ext cx="11125200" cy="142875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年份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医师总量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村卫生室医师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同口径分母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肿瘤科占比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中心值推算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4,782,086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508,452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4,273,634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1.5%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64,105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5,081,532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521,665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4,559,867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1.5%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68,398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圆角矩形 18">
            <a:extLst>
              <a:ext uri="{FF2B5EF4-FFF2-40B4-BE49-F238E27FC236}">
                <a16:creationId xmlns:a16="http://schemas.microsoft.com/office/drawing/2014/main" id="{72D49A1B-3E81-4CC7-B1C1-C2BA6D2E8881}"/>
              </a:ext>
            </a:extLst>
          </p:cNvPr>
          <p:cNvSpPr>
            <a:spLocks noGrp="1"/>
          </p:cNvSpPr>
          <p:nvPr/>
        </p:nvSpPr>
        <p:spPr>
          <a:xfrm>
            <a:off x="533400" y="4552950"/>
            <a:ext cx="3381375" cy="952500"/>
          </a:xfrm>
          <a:prstGeom prst="roundRect">
            <a:avLst>
              <a:gd name="adj" fmla="val 20000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68,398 人">
            <a:extLst>
              <a:ext uri="{FF2B5EF4-FFF2-40B4-BE49-F238E27FC236}">
                <a16:creationId xmlns:a16="http://schemas.microsoft.com/office/drawing/2014/main" id="{65A9F115-A940-416A-BCD4-4A5E7F474C2E}"/>
              </a:ext>
            </a:extLst>
          </p:cNvPr>
          <p:cNvSpPr>
            <a:spLocks noGrp="1"/>
          </p:cNvSpPr>
          <p:nvPr/>
        </p:nvSpPr>
        <p:spPr>
          <a:xfrm>
            <a:off x="742950" y="4686300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68,398 人</a:t>
            </a:r>
          </a:p>
        </p:txBody>
      </p:sp>
      <p:sp>
        <p:nvSpPr>
          <p:cNvPr id="21" name="2024 年中心值推算">
            <a:extLst>
              <a:ext uri="{FF2B5EF4-FFF2-40B4-BE49-F238E27FC236}">
                <a16:creationId xmlns:a16="http://schemas.microsoft.com/office/drawing/2014/main" id="{8D2F79F9-5A4B-49C1-8B50-ACC20E283FA2}"/>
              </a:ext>
            </a:extLst>
          </p:cNvPr>
          <p:cNvSpPr>
            <a:spLocks noGrp="1"/>
          </p:cNvSpPr>
          <p:nvPr/>
        </p:nvSpPr>
        <p:spPr>
          <a:xfrm>
            <a:off x="742950" y="5172075"/>
            <a:ext cx="27622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7D7EA"/>
                </a:solidFill>
                <a:latin typeface="Microsoft YaHei"/>
                <a:ea typeface="Microsoft YaHei"/>
                <a:cs typeface="Microsoft YaHei"/>
              </a:rPr>
              <a:t>2024 年中心值推算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BFE17780-7650-452C-9266-B07AD9E7F09E}"/>
              </a:ext>
            </a:extLst>
          </p:cNvPr>
          <p:cNvSpPr>
            <a:spLocks noGrp="1"/>
          </p:cNvSpPr>
          <p:nvPr/>
        </p:nvSpPr>
        <p:spPr>
          <a:xfrm>
            <a:off x="4105275" y="4552950"/>
            <a:ext cx="3429000" cy="952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6.61–7.07 万人">
            <a:extLst>
              <a:ext uri="{FF2B5EF4-FFF2-40B4-BE49-F238E27FC236}">
                <a16:creationId xmlns:a16="http://schemas.microsoft.com/office/drawing/2014/main" id="{FB1FCCCB-B1C3-45BB-8E95-4964434C099A}"/>
              </a:ext>
            </a:extLst>
          </p:cNvPr>
          <p:cNvSpPr>
            <a:spLocks noGrp="1"/>
          </p:cNvSpPr>
          <p:nvPr/>
        </p:nvSpPr>
        <p:spPr>
          <a:xfrm>
            <a:off x="4314825" y="4686300"/>
            <a:ext cx="300037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6.61–7.07 万人</a:t>
            </a:r>
          </a:p>
        </p:txBody>
      </p:sp>
      <p:sp>
        <p:nvSpPr>
          <p:cNvPr id="24" name="按 1.45%–1.55% 取整误差">
            <a:extLst>
              <a:ext uri="{FF2B5EF4-FFF2-40B4-BE49-F238E27FC236}">
                <a16:creationId xmlns:a16="http://schemas.microsoft.com/office/drawing/2014/main" id="{D4A79A7B-4161-400E-A403-174EEE9F50F6}"/>
              </a:ext>
            </a:extLst>
          </p:cNvPr>
          <p:cNvSpPr>
            <a:spLocks noGrp="1"/>
          </p:cNvSpPr>
          <p:nvPr/>
        </p:nvSpPr>
        <p:spPr>
          <a:xfrm>
            <a:off x="4314825" y="5172075"/>
            <a:ext cx="290512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按 1.45%–1.55% 取整误差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2EF2E22E-C4C6-4874-8E0B-F8B4D10D8ED5}"/>
              </a:ext>
            </a:extLst>
          </p:cNvPr>
          <p:cNvSpPr>
            <a:spLocks noGrp="1"/>
          </p:cNvSpPr>
          <p:nvPr/>
        </p:nvSpPr>
        <p:spPr>
          <a:xfrm>
            <a:off x="7724775" y="4552950"/>
            <a:ext cx="3933825" cy="952500"/>
          </a:xfrm>
          <a:prstGeom prst="roundRect">
            <a:avLst>
              <a:gd name="adj" fmla="val 20000"/>
            </a:avLst>
          </a:prstGeom>
          <a:solidFill>
            <a:srgbClr val="F5EBDD"/>
          </a:solidFill>
          <a:ln w="9525">
            <a:solidFill>
              <a:srgbClr val="E8D4B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口径更正">
            <a:extLst>
              <a:ext uri="{FF2B5EF4-FFF2-40B4-BE49-F238E27FC236}">
                <a16:creationId xmlns:a16="http://schemas.microsoft.com/office/drawing/2014/main" id="{EBE52730-ECC1-4A4F-B5CB-AC1C81436512}"/>
              </a:ext>
            </a:extLst>
          </p:cNvPr>
          <p:cNvSpPr>
            <a:spLocks noGrp="1"/>
          </p:cNvSpPr>
          <p:nvPr/>
        </p:nvSpPr>
        <p:spPr>
          <a:xfrm>
            <a:off x="7934325" y="4695825"/>
            <a:ext cx="1143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1">
                <a:solidFill>
                  <a:srgbClr val="B477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47712"/>
                </a:solidFill>
                <a:latin typeface="Microsoft YaHei"/>
                <a:ea typeface="Microsoft YaHei"/>
                <a:cs typeface="Microsoft YaHei"/>
              </a:rPr>
              <a:t>口径更正</a:t>
            </a:r>
          </a:p>
        </p:txBody>
      </p:sp>
      <p:sp>
        <p:nvSpPr>
          <p:cNvPr id="27" name="10–12.5 万人不能直接作考试市场分母">
            <a:extLst>
              <a:ext uri="{FF2B5EF4-FFF2-40B4-BE49-F238E27FC236}">
                <a16:creationId xmlns:a16="http://schemas.microsoft.com/office/drawing/2014/main" id="{2D7CD48C-E673-4CD8-8378-8FB1A847DC70}"/>
              </a:ext>
            </a:extLst>
          </p:cNvPr>
          <p:cNvSpPr>
            <a:spLocks noGrp="1"/>
          </p:cNvSpPr>
          <p:nvPr/>
        </p:nvSpPr>
        <p:spPr>
          <a:xfrm>
            <a:off x="7934325" y="5057775"/>
            <a:ext cx="34290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10–12.5 万人不能直接作考试市场分母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BBF5E0A1-D1BE-42F4-B846-1CCEDAA11B1A}"/>
              </a:ext>
            </a:extLst>
          </p:cNvPr>
          <p:cNvSpPr>
            <a:spLocks noGrp="1"/>
          </p:cNvSpPr>
          <p:nvPr/>
        </p:nvSpPr>
        <p:spPr>
          <a:xfrm>
            <a:off x="533400" y="57150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本章结论">
            <a:extLst>
              <a:ext uri="{FF2B5EF4-FFF2-40B4-BE49-F238E27FC236}">
                <a16:creationId xmlns:a16="http://schemas.microsoft.com/office/drawing/2014/main" id="{F48CE99C-2D99-4FB4-9A2A-22766C7874E4}"/>
              </a:ext>
            </a:extLst>
          </p:cNvPr>
          <p:cNvSpPr>
            <a:spLocks noGrp="1"/>
          </p:cNvSpPr>
          <p:nvPr/>
        </p:nvSpPr>
        <p:spPr>
          <a:xfrm>
            <a:off x="704850" y="58674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30" name="全国狭义肿瘤科医师约 6.6–7.1 万人，广义口径不能直接作为考试分母">
            <a:extLst>
              <a:ext uri="{FF2B5EF4-FFF2-40B4-BE49-F238E27FC236}">
                <a16:creationId xmlns:a16="http://schemas.microsoft.com/office/drawing/2014/main" id="{D16464C1-6C04-4151-956A-C3EF52785C17}"/>
              </a:ext>
            </a:extLst>
          </p:cNvPr>
          <p:cNvSpPr>
            <a:spLocks noGrp="1"/>
          </p:cNvSpPr>
          <p:nvPr/>
        </p:nvSpPr>
        <p:spPr>
          <a:xfrm>
            <a:off x="2133600" y="58388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全国狭义肿瘤科医师约 6.6–7.1 万人，广义口径不能直接作为考试分母。</a:t>
            </a:r>
          </a:p>
        </p:txBody>
      </p:sp>
    </p:spTree>
    <p:extLst>
      <p:ext uri="{BB962C8B-B14F-4D97-AF65-F5344CB8AC3E}">
        <p14:creationId xmlns:p14="http://schemas.microsoft.com/office/powerpoint/2010/main" val="146297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年度考生规模">
            <a:extLst>
              <a:ext uri="{FF2B5EF4-FFF2-40B4-BE49-F238E27FC236}">
                <a16:creationId xmlns:a16="http://schemas.microsoft.com/office/drawing/2014/main" id="{E6E38A0E-CAB2-4014-8B57-BD8C1F071426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年度考生规模</a:t>
            </a:r>
          </a:p>
        </p:txBody>
      </p:sp>
      <p:sp>
        <p:nvSpPr>
          <p:cNvPr id="2" name="潜在年度考生约 0.33–0.71 万人，中性规划值约 0.51 万人">
            <a:extLst>
              <a:ext uri="{FF2B5EF4-FFF2-40B4-BE49-F238E27FC236}">
                <a16:creationId xmlns:a16="http://schemas.microsoft.com/office/drawing/2014/main" id="{1DCB4A24-7F27-44CD-871F-14C1829C880A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 err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潜在年度考生约</a:t>
            </a:r>
            <a:r>
              <a:rPr sz="2850" b="1" dirty="0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 0.33–0.71 </a:t>
            </a:r>
            <a:r>
              <a:rPr sz="2850" b="1" dirty="0" err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万人</a:t>
            </a:r>
            <a:endParaRPr sz="2850" b="1" dirty="0">
              <a:solidFill>
                <a:srgbClr val="10274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情景测算用于规划，分专业拆分用于内容投入，两者都需要真实报名数据校准。">
            <a:extLst>
              <a:ext uri="{FF2B5EF4-FFF2-40B4-BE49-F238E27FC236}">
                <a16:creationId xmlns:a16="http://schemas.microsoft.com/office/drawing/2014/main" id="{FFFB5443-A291-4F2D-9A7E-5F5D57315776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情景测算用于规划，分专业拆分用于内容投入，两者都需要真实报名数据校准。</a:t>
            </a:r>
          </a:p>
        </p:txBody>
      </p:sp>
      <p:sp>
        <p:nvSpPr>
          <p:cNvPr id="4" name="11">
            <a:extLst>
              <a:ext uri="{FF2B5EF4-FFF2-40B4-BE49-F238E27FC236}">
                <a16:creationId xmlns:a16="http://schemas.microsoft.com/office/drawing/2014/main" id="{289D1014-F833-4808-BB8B-71583C8CF87B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E64CF8-9E11-4BC8-8225-A9BB9AB0FC8E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FDAF31-80EE-47B3-BD08-A340F85DD351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0B05C885-4C2C-4E32-9517-AA06FE34AD26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1 / 12">
            <a:extLst>
              <a:ext uri="{FF2B5EF4-FFF2-40B4-BE49-F238E27FC236}">
                <a16:creationId xmlns:a16="http://schemas.microsoft.com/office/drawing/2014/main" id="{A7057A54-8F07-4C7B-9E2A-847314DC64D6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11 / 12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4BD7961-C0F1-402F-8435-2A1B40EAE56E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6667500" cy="3048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7" name="Chart"/>
          <p:cNvGraphicFramePr/>
          <p:nvPr/>
        </p:nvGraphicFramePr>
        <p:xfrm>
          <a:off x="723900" y="1962150"/>
          <a:ext cx="6191250" cy="259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8" name="表格 27"/>
          <p:cNvGraphicFramePr/>
          <p:nvPr/>
        </p:nvGraphicFramePr>
        <p:xfrm>
          <a:off x="7524750" y="1752600"/>
          <a:ext cx="4133850" cy="3048000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年度推算</a:t>
                      </a:r>
                    </a:p>
                  </a:txBody>
                  <a:tcPr marL="95250" marR="95250" marT="66675" marB="66675" anchor="ctr">
                    <a:solidFill>
                      <a:srgbClr val="0B2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341 肿瘤内科学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1,700–3,400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342 肿瘤外科学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700–1,400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343 肿瘤放射治疗学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1,000–2,000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027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3,400–6,800</a:t>
                      </a:r>
                    </a:p>
                  </a:txBody>
                  <a:tcPr marL="95250" marR="95250" marT="66675" marB="66675" anchor="ctr">
                    <a:solidFill>
                      <a:srgbClr val="EEF4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圆角矩形 11">
            <a:extLst>
              <a:ext uri="{FF2B5EF4-FFF2-40B4-BE49-F238E27FC236}">
                <a16:creationId xmlns:a16="http://schemas.microsoft.com/office/drawing/2014/main" id="{6858F274-5F58-48ED-AA72-4A3ACC86C5A4}"/>
              </a:ext>
            </a:extLst>
          </p:cNvPr>
          <p:cNvSpPr>
            <a:spLocks noGrp="1"/>
          </p:cNvSpPr>
          <p:nvPr/>
        </p:nvSpPr>
        <p:spPr>
          <a:xfrm>
            <a:off x="533400" y="5029200"/>
            <a:ext cx="11125200" cy="4572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口径提示">
            <a:extLst>
              <a:ext uri="{FF2B5EF4-FFF2-40B4-BE49-F238E27FC236}">
                <a16:creationId xmlns:a16="http://schemas.microsoft.com/office/drawing/2014/main" id="{0CF2A386-3015-4BFF-8FB3-FA29666E8F70}"/>
              </a:ext>
            </a:extLst>
          </p:cNvPr>
          <p:cNvSpPr>
            <a:spLocks noGrp="1"/>
          </p:cNvSpPr>
          <p:nvPr/>
        </p:nvSpPr>
        <p:spPr>
          <a:xfrm>
            <a:off x="723900" y="5153025"/>
            <a:ext cx="1190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口径提示</a:t>
            </a:r>
          </a:p>
        </p:txBody>
      </p:sp>
      <p:sp>
        <p:nvSpPr>
          <p:cNvPr id="14" name="考虑肿瘤科占比取整误差，情景范围约 3,306–7,068 人；测算人数">
            <a:extLst>
              <a:ext uri="{FF2B5EF4-FFF2-40B4-BE49-F238E27FC236}">
                <a16:creationId xmlns:a16="http://schemas.microsoft.com/office/drawing/2014/main" id="{B595953E-D32C-456F-858E-0CD3B1DAFD87}"/>
              </a:ext>
            </a:extLst>
          </p:cNvPr>
          <p:cNvSpPr>
            <a:spLocks noGrp="1"/>
          </p:cNvSpPr>
          <p:nvPr/>
        </p:nvSpPr>
        <p:spPr>
          <a:xfrm>
            <a:off x="2038350" y="5133975"/>
            <a:ext cx="9239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考虑肿瘤科占比取整误差，情景范围约 3,306–7,068 人；测算人数不等于付费用户。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576D3394-96C4-4F0A-8B55-B29037459AC7}"/>
              </a:ext>
            </a:extLst>
          </p:cNvPr>
          <p:cNvSpPr>
            <a:spLocks noGrp="1"/>
          </p:cNvSpPr>
          <p:nvPr/>
        </p:nvSpPr>
        <p:spPr>
          <a:xfrm>
            <a:off x="533400" y="5715000"/>
            <a:ext cx="11125200" cy="609600"/>
          </a:xfrm>
          <a:prstGeom prst="roundRect">
            <a:avLst>
              <a:gd name="adj" fmla="val 28125"/>
            </a:avLst>
          </a:prstGeom>
          <a:solidFill>
            <a:srgbClr val="EEF4FD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本章结论">
            <a:extLst>
              <a:ext uri="{FF2B5EF4-FFF2-40B4-BE49-F238E27FC236}">
                <a16:creationId xmlns:a16="http://schemas.microsoft.com/office/drawing/2014/main" id="{D6462E35-2F94-4CFC-A006-D07598FF48E6}"/>
              </a:ext>
            </a:extLst>
          </p:cNvPr>
          <p:cNvSpPr>
            <a:spLocks noGrp="1"/>
          </p:cNvSpPr>
          <p:nvPr/>
        </p:nvSpPr>
        <p:spPr>
          <a:xfrm>
            <a:off x="704850" y="58674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本章结论</a:t>
            </a:r>
          </a:p>
        </p:txBody>
      </p:sp>
      <p:sp>
        <p:nvSpPr>
          <p:cNvPr id="17" name="潜在年度考生约 0.3–0.7 万人，中性约 0.5 万人，只支持低成本">
            <a:extLst>
              <a:ext uri="{FF2B5EF4-FFF2-40B4-BE49-F238E27FC236}">
                <a16:creationId xmlns:a16="http://schemas.microsoft.com/office/drawing/2014/main" id="{E0A251F4-348A-4066-86CF-BCC0E2BA8254}"/>
              </a:ext>
            </a:extLst>
          </p:cNvPr>
          <p:cNvSpPr>
            <a:spLocks noGrp="1"/>
          </p:cNvSpPr>
          <p:nvPr/>
        </p:nvSpPr>
        <p:spPr>
          <a:xfrm>
            <a:off x="2133600" y="5838825"/>
            <a:ext cx="92392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潜在年度考生约 0.3–0.7 万人，中性约 0.5 万人，只支持低成本试点。</a:t>
            </a:r>
          </a:p>
        </p:txBody>
      </p:sp>
    </p:spTree>
    <p:extLst>
      <p:ext uri="{BB962C8B-B14F-4D97-AF65-F5344CB8AC3E}">
        <p14:creationId xmlns:p14="http://schemas.microsoft.com/office/powerpoint/2010/main" val="619859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结论与行动">
            <a:extLst>
              <a:ext uri="{FF2B5EF4-FFF2-40B4-BE49-F238E27FC236}">
                <a16:creationId xmlns:a16="http://schemas.microsoft.com/office/drawing/2014/main" id="{87C92FE7-A8BC-43BF-A97C-D88CA4D6BD3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结论与行动</a:t>
            </a:r>
          </a:p>
        </p:txBody>
      </p:sp>
      <p:sp>
        <p:nvSpPr>
          <p:cNvPr id="2" name="轻量化题库先上线，用真实使用率和付费决定追加投入">
            <a:extLst>
              <a:ext uri="{FF2B5EF4-FFF2-40B4-BE49-F238E27FC236}">
                <a16:creationId xmlns:a16="http://schemas.microsoft.com/office/drawing/2014/main" id="{EC017959-A219-496A-AEF8-4B762C969745}"/>
              </a:ext>
            </a:extLst>
          </p:cNvPr>
          <p:cNvSpPr>
            <a:spLocks noGrp="1"/>
          </p:cNvSpPr>
          <p:nvPr/>
        </p:nvSpPr>
        <p:spPr>
          <a:xfrm>
            <a:off x="533400" y="609600"/>
            <a:ext cx="10001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轻量化题库先上线，用真实使用率和付费决定追加投入</a:t>
            </a:r>
          </a:p>
        </p:txBody>
      </p:sp>
      <p:sp>
        <p:nvSpPr>
          <p:cNvPr id="3" name="产品定位：面向肿瘤医生的职称备考题库，复用职考 Go 现有 AI 能力。">
            <a:extLst>
              <a:ext uri="{FF2B5EF4-FFF2-40B4-BE49-F238E27FC236}">
                <a16:creationId xmlns:a16="http://schemas.microsoft.com/office/drawing/2014/main" id="{8BCC8C79-94DD-4DA0-901D-72C2C358DE0A}"/>
              </a:ext>
            </a:extLst>
          </p:cNvPr>
          <p:cNvSpPr>
            <a:spLocks noGrp="1"/>
          </p:cNvSpPr>
          <p:nvPr/>
        </p:nvSpPr>
        <p:spPr>
          <a:xfrm>
            <a:off x="533400" y="1162050"/>
            <a:ext cx="10191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产品定位：面向肿瘤医生的职称备考题库，复用职考 Go 现有 AI 能力。</a:t>
            </a:r>
          </a:p>
        </p:txBody>
      </p:sp>
      <p:sp>
        <p:nvSpPr>
          <p:cNvPr id="4" name="12">
            <a:extLst>
              <a:ext uri="{FF2B5EF4-FFF2-40B4-BE49-F238E27FC236}">
                <a16:creationId xmlns:a16="http://schemas.microsoft.com/office/drawing/2014/main" id="{A598D58A-DA2A-4524-AE8C-E6842B35A701}"/>
              </a:ext>
            </a:extLst>
          </p:cNvPr>
          <p:cNvSpPr>
            <a:spLocks noGrp="1"/>
          </p:cNvSpPr>
          <p:nvPr/>
        </p:nvSpPr>
        <p:spPr>
          <a:xfrm>
            <a:off x="10325100" y="142875"/>
            <a:ext cx="1333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DDE9F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A736EF-B5E7-4DB0-98B3-F558E116FC6A}"/>
              </a:ext>
            </a:extLst>
          </p:cNvPr>
          <p:cNvSpPr>
            <a:spLocks noGrp="1"/>
          </p:cNvSpPr>
          <p:nvPr/>
        </p:nvSpPr>
        <p:spPr>
          <a:xfrm>
            <a:off x="533400" y="14954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0D708E5-A728-48B5-9709-A00025895E95}"/>
              </a:ext>
            </a:extLst>
          </p:cNvPr>
          <p:cNvSpPr>
            <a:spLocks noGrp="1"/>
          </p:cNvSpPr>
          <p:nvPr/>
        </p:nvSpPr>
        <p:spPr>
          <a:xfrm>
            <a:off x="533400" y="6486525"/>
            <a:ext cx="11125200" cy="9525"/>
          </a:xfrm>
          <a:prstGeom prst="rect">
            <a:avLst/>
          </a:prstGeom>
          <a:solidFill>
            <a:srgbClr val="D7E2F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职考项目拓展｜肿瘤职称市场分析">
            <a:extLst>
              <a:ext uri="{FF2B5EF4-FFF2-40B4-BE49-F238E27FC236}">
                <a16:creationId xmlns:a16="http://schemas.microsoft.com/office/drawing/2014/main" id="{A0E04006-EA1A-497D-91FC-9FF63ECA0577}"/>
              </a:ext>
            </a:extLst>
          </p:cNvPr>
          <p:cNvSpPr>
            <a:spLocks noGrp="1"/>
          </p:cNvSpPr>
          <p:nvPr/>
        </p:nvSpPr>
        <p:spPr>
          <a:xfrm>
            <a:off x="533400" y="6553200"/>
            <a:ext cx="7239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职考项目拓展｜肿瘤职称市场分析</a:t>
            </a:r>
          </a:p>
        </p:txBody>
      </p:sp>
      <p:sp>
        <p:nvSpPr>
          <p:cNvPr id="8" name="12 / 12">
            <a:extLst>
              <a:ext uri="{FF2B5EF4-FFF2-40B4-BE49-F238E27FC236}">
                <a16:creationId xmlns:a16="http://schemas.microsoft.com/office/drawing/2014/main" id="{EE7851BB-D692-4193-B8C7-AEFF2360B400}"/>
              </a:ext>
            </a:extLst>
          </p:cNvPr>
          <p:cNvSpPr>
            <a:spLocks noGrp="1"/>
          </p:cNvSpPr>
          <p:nvPr/>
        </p:nvSpPr>
        <p:spPr>
          <a:xfrm>
            <a:off x="10858500" y="6553200"/>
            <a:ext cx="800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8000"/>
              </a:lnSpc>
              <a:buNone/>
              <a:def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93A5BD"/>
                </a:solidFill>
                <a:latin typeface="Microsoft YaHei"/>
                <a:ea typeface="Microsoft YaHei"/>
                <a:cs typeface="Microsoft YaHei"/>
              </a:rPr>
              <a:t>12 / 12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3F4F1D04-6749-451E-81D2-6B13A5D59B11}"/>
              </a:ext>
            </a:extLst>
          </p:cNvPr>
          <p:cNvSpPr>
            <a:spLocks noGrp="1"/>
          </p:cNvSpPr>
          <p:nvPr/>
        </p:nvSpPr>
        <p:spPr>
          <a:xfrm>
            <a:off x="533400" y="17526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FA7CF3EE-B993-405E-BFBB-9B2233890BED}"/>
              </a:ext>
            </a:extLst>
          </p:cNvPr>
          <p:cNvSpPr>
            <a:spLocks noGrp="1"/>
          </p:cNvSpPr>
          <p:nvPr/>
        </p:nvSpPr>
        <p:spPr>
          <a:xfrm>
            <a:off x="723900" y="18764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建设">
            <a:extLst>
              <a:ext uri="{FF2B5EF4-FFF2-40B4-BE49-F238E27FC236}">
                <a16:creationId xmlns:a16="http://schemas.microsoft.com/office/drawing/2014/main" id="{DA340057-2DF6-4041-B49C-0C0D113DB691}"/>
              </a:ext>
            </a:extLst>
          </p:cNvPr>
          <p:cNvSpPr>
            <a:spLocks noGrp="1"/>
          </p:cNvSpPr>
          <p:nvPr/>
        </p:nvSpPr>
        <p:spPr>
          <a:xfrm>
            <a:off x="1504950" y="18859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建设</a:t>
            </a:r>
          </a:p>
        </p:txBody>
      </p:sp>
      <p:sp>
        <p:nvSpPr>
          <p:cNvPr id="12" name="同步建设 341、342、343；按各自考纲组织题目与解析。">
            <a:extLst>
              <a:ext uri="{FF2B5EF4-FFF2-40B4-BE49-F238E27FC236}">
                <a16:creationId xmlns:a16="http://schemas.microsoft.com/office/drawing/2014/main" id="{C8A50A57-0360-48B2-BC01-00D616EBBB4D}"/>
              </a:ext>
            </a:extLst>
          </p:cNvPr>
          <p:cNvSpPr>
            <a:spLocks noGrp="1"/>
          </p:cNvSpPr>
          <p:nvPr/>
        </p:nvSpPr>
        <p:spPr>
          <a:xfrm>
            <a:off x="4953000" y="18859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同步建设 341、342、343；按各自考纲组织题目与解析。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0575A807-467E-4B44-987A-77F28D8B1FAB}"/>
              </a:ext>
            </a:extLst>
          </p:cNvPr>
          <p:cNvSpPr>
            <a:spLocks noGrp="1"/>
          </p:cNvSpPr>
          <p:nvPr/>
        </p:nvSpPr>
        <p:spPr>
          <a:xfrm>
            <a:off x="533400" y="26289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02">
            <a:extLst>
              <a:ext uri="{FF2B5EF4-FFF2-40B4-BE49-F238E27FC236}">
                <a16:creationId xmlns:a16="http://schemas.microsoft.com/office/drawing/2014/main" id="{E37A98A1-95F9-4007-86D4-808DBBF42D65}"/>
              </a:ext>
            </a:extLst>
          </p:cNvPr>
          <p:cNvSpPr>
            <a:spLocks noGrp="1"/>
          </p:cNvSpPr>
          <p:nvPr/>
        </p:nvSpPr>
        <p:spPr>
          <a:xfrm>
            <a:off x="723900" y="27527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接入">
            <a:extLst>
              <a:ext uri="{FF2B5EF4-FFF2-40B4-BE49-F238E27FC236}">
                <a16:creationId xmlns:a16="http://schemas.microsoft.com/office/drawing/2014/main" id="{63960A65-FCEA-414E-8C10-A47F131FE74E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接入</a:t>
            </a:r>
          </a:p>
        </p:txBody>
      </p:sp>
      <p:sp>
        <p:nvSpPr>
          <p:cNvPr id="16" name="直接接入现有小程序，复用答题、诊断、错题与 AI 辅助。">
            <a:extLst>
              <a:ext uri="{FF2B5EF4-FFF2-40B4-BE49-F238E27FC236}">
                <a16:creationId xmlns:a16="http://schemas.microsoft.com/office/drawing/2014/main" id="{8A502E91-DAF2-4B22-BB70-60B04BC332F9}"/>
              </a:ext>
            </a:extLst>
          </p:cNvPr>
          <p:cNvSpPr>
            <a:spLocks noGrp="1"/>
          </p:cNvSpPr>
          <p:nvPr/>
        </p:nvSpPr>
        <p:spPr>
          <a:xfrm>
            <a:off x="4953000" y="27622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直接接入现有小程序，复用答题、诊断、错题与 AI 辅助。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694CA383-AB63-492A-BBAB-1DFA3F60BC40}"/>
              </a:ext>
            </a:extLst>
          </p:cNvPr>
          <p:cNvSpPr>
            <a:spLocks noGrp="1"/>
          </p:cNvSpPr>
          <p:nvPr/>
        </p:nvSpPr>
        <p:spPr>
          <a:xfrm>
            <a:off x="533400" y="35052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03">
            <a:extLst>
              <a:ext uri="{FF2B5EF4-FFF2-40B4-BE49-F238E27FC236}">
                <a16:creationId xmlns:a16="http://schemas.microsoft.com/office/drawing/2014/main" id="{EE709DFF-174C-4861-95BF-5A40DA899255}"/>
              </a:ext>
            </a:extLst>
          </p:cNvPr>
          <p:cNvSpPr>
            <a:spLocks noGrp="1"/>
          </p:cNvSpPr>
          <p:nvPr/>
        </p:nvSpPr>
        <p:spPr>
          <a:xfrm>
            <a:off x="723900" y="36290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售卖">
            <a:extLst>
              <a:ext uri="{FF2B5EF4-FFF2-40B4-BE49-F238E27FC236}">
                <a16:creationId xmlns:a16="http://schemas.microsoft.com/office/drawing/2014/main" id="{7CC82F79-3266-4DB0-A69A-0C2793F20753}"/>
              </a:ext>
            </a:extLst>
          </p:cNvPr>
          <p:cNvSpPr>
            <a:spLocks noGrp="1"/>
          </p:cNvSpPr>
          <p:nvPr/>
        </p:nvSpPr>
        <p:spPr>
          <a:xfrm>
            <a:off x="1504950" y="36385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售卖</a:t>
            </a:r>
          </a:p>
        </p:txBody>
      </p:sp>
      <p:sp>
        <p:nvSpPr>
          <p:cNvPr id="20" name="优先单题库或三专业组合包，避免强制采用全站会员制。">
            <a:extLst>
              <a:ext uri="{FF2B5EF4-FFF2-40B4-BE49-F238E27FC236}">
                <a16:creationId xmlns:a16="http://schemas.microsoft.com/office/drawing/2014/main" id="{B5594200-4A1E-41E3-BA1B-C23536D582B6}"/>
              </a:ext>
            </a:extLst>
          </p:cNvPr>
          <p:cNvSpPr>
            <a:spLocks noGrp="1"/>
          </p:cNvSpPr>
          <p:nvPr/>
        </p:nvSpPr>
        <p:spPr>
          <a:xfrm>
            <a:off x="4953000" y="36385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优先单题库或三专业组合包，避免强制采用全站会员制。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52D763B-8DF4-4995-B3FB-4FE6D550729C}"/>
              </a:ext>
            </a:extLst>
          </p:cNvPr>
          <p:cNvSpPr>
            <a:spLocks noGrp="1"/>
          </p:cNvSpPr>
          <p:nvPr/>
        </p:nvSpPr>
        <p:spPr>
          <a:xfrm>
            <a:off x="533400" y="4381500"/>
            <a:ext cx="111252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7E2F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04">
            <a:extLst>
              <a:ext uri="{FF2B5EF4-FFF2-40B4-BE49-F238E27FC236}">
                <a16:creationId xmlns:a16="http://schemas.microsoft.com/office/drawing/2014/main" id="{5946E440-989A-4CD8-859C-D3B1CB021A2D}"/>
              </a:ext>
            </a:extLst>
          </p:cNvPr>
          <p:cNvSpPr>
            <a:spLocks noGrp="1"/>
          </p:cNvSpPr>
          <p:nvPr/>
        </p:nvSpPr>
        <p:spPr>
          <a:xfrm>
            <a:off x="723900" y="45053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F66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验证">
            <a:extLst>
              <a:ext uri="{FF2B5EF4-FFF2-40B4-BE49-F238E27FC236}">
                <a16:creationId xmlns:a16="http://schemas.microsoft.com/office/drawing/2014/main" id="{E7444CDF-220D-4837-B62F-9D64576E5A9C}"/>
              </a:ext>
            </a:extLst>
          </p:cNvPr>
          <p:cNvSpPr>
            <a:spLocks noGrp="1"/>
          </p:cNvSpPr>
          <p:nvPr/>
        </p:nvSpPr>
        <p:spPr>
          <a:xfrm>
            <a:off x="1504950" y="4514850"/>
            <a:ext cx="3095625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744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24" name="跟踪真实使用率、付费转化和内容维护成本，再决定追加投入。">
            <a:extLst>
              <a:ext uri="{FF2B5EF4-FFF2-40B4-BE49-F238E27FC236}">
                <a16:creationId xmlns:a16="http://schemas.microsoft.com/office/drawing/2014/main" id="{341F2A23-D5BE-4AA7-823C-8A7F89D98D6D}"/>
              </a:ext>
            </a:extLst>
          </p:cNvPr>
          <p:cNvSpPr>
            <a:spLocks noGrp="1"/>
          </p:cNvSpPr>
          <p:nvPr/>
        </p:nvSpPr>
        <p:spPr>
          <a:xfrm>
            <a:off x="4953000" y="4514850"/>
            <a:ext cx="6381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6000"/>
              </a:lnSpc>
              <a:buNone/>
              <a:def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F84A0"/>
                </a:solidFill>
                <a:latin typeface="Microsoft YaHei"/>
                <a:ea typeface="Microsoft YaHei"/>
                <a:cs typeface="Microsoft YaHei"/>
              </a:rPr>
              <a:t>跟踪真实使用率、付费转化和内容维护成本，再决定追加投入。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CDB893DD-2B33-4F29-AB5E-07BD3A84D72E}"/>
              </a:ext>
            </a:extLst>
          </p:cNvPr>
          <p:cNvSpPr>
            <a:spLocks noGrp="1"/>
          </p:cNvSpPr>
          <p:nvPr/>
        </p:nvSpPr>
        <p:spPr>
          <a:xfrm>
            <a:off x="533400" y="5438775"/>
            <a:ext cx="11125200" cy="723900"/>
          </a:xfrm>
          <a:prstGeom prst="roundRect">
            <a:avLst>
              <a:gd name="adj" fmla="val 26316"/>
            </a:avLst>
          </a:prstGeom>
          <a:solidFill>
            <a:srgbClr val="0B2343"/>
          </a:solidFill>
          <a:ln w="9525">
            <a:solidFill>
              <a:srgbClr val="0B2343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核心结论">
            <a:extLst>
              <a:ext uri="{FF2B5EF4-FFF2-40B4-BE49-F238E27FC236}">
                <a16:creationId xmlns:a16="http://schemas.microsoft.com/office/drawing/2014/main" id="{91114CE1-AE27-45EC-AD39-B6111591EEB5}"/>
              </a:ext>
            </a:extLst>
          </p:cNvPr>
          <p:cNvSpPr>
            <a:spLocks noGrp="1"/>
          </p:cNvSpPr>
          <p:nvPr/>
        </p:nvSpPr>
        <p:spPr>
          <a:xfrm>
            <a:off x="742950" y="5648325"/>
            <a:ext cx="1333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AA7FF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27" name="同步上线三专业并接入现有小程序，用使用率、付费转化和维护成本决定追加投入">
            <a:extLst>
              <a:ext uri="{FF2B5EF4-FFF2-40B4-BE49-F238E27FC236}">
                <a16:creationId xmlns:a16="http://schemas.microsoft.com/office/drawing/2014/main" id="{547294E3-478B-4B3E-B974-59D622492B44}"/>
              </a:ext>
            </a:extLst>
          </p:cNvPr>
          <p:cNvSpPr>
            <a:spLocks noGrp="1"/>
          </p:cNvSpPr>
          <p:nvPr/>
        </p:nvSpPr>
        <p:spPr>
          <a:xfrm>
            <a:off x="2209800" y="5591175"/>
            <a:ext cx="8953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同步上线三专业并接入现有小程序，用使用率、付费转化和维护成本决定追加投入。</a:t>
            </a:r>
          </a:p>
        </p:txBody>
      </p:sp>
    </p:spTree>
    <p:extLst>
      <p:ext uri="{BB962C8B-B14F-4D97-AF65-F5344CB8AC3E}">
        <p14:creationId xmlns:p14="http://schemas.microsoft.com/office/powerpoint/2010/main" val="182431603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1150</Words>
  <Application>Microsoft Macintosh PowerPoint</Application>
  <DocSecurity>0</DocSecurity>
  <PresentationFormat>宽屏</PresentationFormat>
  <Paragraphs>337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翼 杜</cp:lastModifiedBy>
  <cp:revision>1</cp:revision>
  <dcterms:created xsi:type="dcterms:W3CDTF">2026-09-17T03:47:42Z</dcterms:created>
  <dcterms:modified xsi:type="dcterms:W3CDTF">2026-09-17T05:18:11Z</dcterms:modified>
</cp:coreProperties>
</file>