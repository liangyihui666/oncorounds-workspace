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73" r:id="rId10"/>
    <p:sldId id="274" r:id="rId11"/>
    <p:sldId id="275" r:id="rId12"/>
    <p:sldId id="276" r:id="rId13"/>
    <p:sldId id="270" r:id="rId14"/>
    <p:sldId id="262" r:id="rId15"/>
    <p:sldId id="263" r:id="rId16"/>
    <p:sldId id="268" r:id="rId17"/>
    <p:sldId id="269" r:id="rId18"/>
    <p:sldId id="264" r:id="rId19"/>
    <p:sldId id="265" r:id="rId20"/>
    <p:sldId id="266" r:id="rId21"/>
    <p:sldId id="26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02" d="100"/>
          <a:sy n="102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潜在年度考生</c:v>
          </c:tx>
          <c:spPr>
            <a:solidFill>
              <a:srgbClr val="2F66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7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保守 5.0%</c:v>
              </c:pt>
              <c:pt idx="1">
                <c:v>中性 7.5%</c:v>
              </c:pt>
              <c:pt idx="2">
                <c:v>积极 10.0%</c:v>
              </c:pt>
            </c:strLit>
          </c:cat>
          <c:val>
            <c:numLit>
              <c:formatCode>General</c:formatCode>
              <c:ptCount val="3"/>
              <c:pt idx="0">
                <c:v>3420</c:v>
              </c:pt>
              <c:pt idx="1">
                <c:v>5130</c:v>
              </c:pt>
              <c:pt idx="2">
                <c:v>6840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B7-5B49-AE63-0533C6D439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2F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来源：人民卫生电子音像出版社主办的人卫医学网《2023年考试五个题型重点剖析》，2022-12-26发布，2026-09-18查阅。https://uat.ipmph.com/examzcms/c/2022-12-26/556633.shtml 。原文说明每案例3–12问、每问6–12个备选答案、正确及错误答案个数不定，包含普通正确、关键、无关和错误选项，按得分点加减并逐问以0为下限，进入下一问不可返回前问。文章位于内科学主治栏目，是参考题型说明，不代表已独立确认当前341/342/343所有规则完全相同。示例由本次制作，假设ABDE为普通正确项、CF为错误项，未涉及关键或无关项；不给出得分点向卷面分折算公式。原用户示例“选对+0.5分，选错−1分”混用不同权重，不直接采用；漏选表示未取得对应点数，不另认定处罚。“可能12个答案全正确”“第一问错后面全错”“不提示答案数量”均未有充分原文依据，本页只说明答案数量不固定、需逐项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原始截图：C:\Users\admin\Documents\ChatGPT\大查房\output\肿瘤职称方案\评论截图\img_v3_0215l_db74811d-78b0-4cc4-b41f-a9f0e3b9e7dg.jpg；裁剪区域：(40, 15, 1405, 1010)；等比显示倍率：0.41。保留原文，未经独立核验。</a:t>
            </a:r>
          </a:p>
          <a:p>
            <a:r>
              <a:t>原始截图：C:\Users\admin\Documents\ChatGPT\大查房\output\肿瘤职称方案\评论截图\img_v3_0215l_eb3c8fe2-3ad2-4c10-93cc-75c8dcf6f97g.jpg；裁剪区域：(40, 15, 1405, 680)；等比显示倍率：0.41。保留原文，未经独立核验。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原始截图：C:\Users\admin\Documents\ChatGPT\大查房\output\肿瘤职称方案\评论截图\img_v3_0215l_5e99037b-e0be-451a-93c5-013e508009bg.jpg；裁剪区域：(40, 20, 1405, 705)；等比显示倍率：0.41。保留原文，未经独立核验。</a:t>
            </a:r>
          </a:p>
          <a:p>
            <a:r>
              <a:t>原始截图：C:\Users\admin\Documents\ChatGPT\大查房\output\肿瘤职称方案\评论截图\img_v3_0215l_5e99037b-e0be-451a-93c5-013e508009bg.jpg；裁剪区域：(40, 755, 1405, 1450)；等比显示倍率：0.41。保留原文，未经独立核验。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原始截图：C:\Users\admin\Documents\ChatGPT\大查房\output\肿瘤职称方案\评论截图\codex-clipboard-c28ebe64-a384-4809-99a2-d0610be839fd.png；裁剪区域：(10, 0, 538, 522)；等比显示倍率：1.0。保留原文，未经独立核验。</a:t>
            </a:r>
          </a:p>
          <a:p>
            <a:r>
              <a:t>原始截图：C:\Users\admin\Documents\ChatGPT\大查房\output\肿瘤职称方案\评论截图\codex-clipboard-c28ebe64-a384-4809-99a2-d0610be839fd.png；裁剪区域：(10, 527, 538, 958)；等比显示倍率：1.0。保留原文，未经独立核验。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原始截图：C:\Users\admin\Documents\ChatGPT\大查房\output\肿瘤职称方案\评论截图\img_v3_0215l_c2398879-19b9-41b8-b1fe-c4ca63e164ag.jpg；裁剪区域：(40, 20, 1405, 1270)；等比显示倍率：0.41。保留原文，未经独立核验。</a:t>
            </a:r>
          </a:p>
          <a:p>
            <a:r>
              <a:t>原始截图：C:\Users\admin\Documents\ChatGPT\大查房\output\肿瘤职称方案\评论截图\img_v3_0215l_d479295a-ae7e-4307-a9c0-8bb3af31e48g.jpg；裁剪区域：(40, 20, 1405, 1210)；等比显示倍率：0.41。保留原文，未经独立核验。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原始截图：C:\Users\admin\Documents\ChatGPT\大查房\output\肿瘤职称方案\评论截图\img_v3_0215l_12a867c7-b7a7-4d8f-8467-eab350bcba9g.jpg；裁剪区域：(40, 20, 1405, 1030)；等比显示倍率：0.41。保留原文，未经独立核验。</a:t>
            </a:r>
          </a:p>
          <a:p>
            <a:r>
              <a:t>原始截图：C:\Users\admin\Documents\ChatGPT\大查房\output\肿瘤职称方案\评论截图\img_v3_0215l_12a867c7-b7a7-4d8f-8467-eab350bcba9g.jpg；裁剪区域：(40, 1040, 1405, 1450)；等比显示倍率：0.41。保留原文，未经独立核验。</a:t>
            </a:r>
          </a:p>
          <a:p>
            <a:r>
              <a:t>原始截图：C:\Users\admin\Documents\ChatGPT\大查房\output\肿瘤职称方案\评论截图\img_v3_0215l_12a867c7-b7a7-4d8f-8467-eab350bcba9g.jpg；裁剪区域：(40, 1510, 1405, 2350)；等比显示倍率：0.41。保留原文，未经独立核验。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本页为新增市场需求分析，其他原页内容保持用户提供版本，仅页码顺延。</a:t>
            </a:r>
          </a:p>
          <a:p>
            <a:r>
              <a:t>来源1：人卫医学网《2023年考试五个题型重点剖析》（2022-12-26）：https://uat.ipmph.com/examzcms/c/2022-12-26/556633.shtml。2026-09-18查阅。该文说明案例分析题使用模拟临床情境，侧重病情分析、判断和处理。仅引用题型特点，不将旧年份说明作为2026年341/342/343题型占比或计分依据。</a:t>
            </a:r>
          </a:p>
          <a:p>
            <a:r>
              <a:t>来源2：用户提供341 342 343肿瘤学考试大纲.pdf，PDF第20、25、33–34、38–39页涉及毒副反应评估、药物毒性、影像学检查、病理及基因检测、分期和治疗原则；该文件本次未重新认定其年度。</a:t>
            </a:r>
          </a:p>
          <a:p>
            <a:r>
              <a:t>来源3：用户提供机构沟通截图及本轮文字，主要讨论肿瘤内科；一线/二线方案和相似选项作为调研难点，非官方题量统计或全部三个专业的统一难度结论。表中以一线/后线作为学习需求例子，不提供临床处方建议。未采用“病例题占比非常高”“大量题来自真实病例”断言。各项市场需求为材料归纳，尚非代表性考生样本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  <a:p>
            <a:r>
              <a:t>本次增补：依据用户提供的评论截图归纳定性需求，不代表总体比例。CSCO、TNM、大查房资源由用户确认持有；表中内容联动、场景练习和备考价值属于拟转化方向，不宣称已上线或学习效果已证实。未独立核实竞品均缺少这些资源，不使用“竞品都没有”或独家声明。指南及TNM版本和适用考纲须在内容转化时匹配。第15页价格沿用旧表，本次未重新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  <a:p>
            <a:r>
              <a:t>本次增补：依据用户提供的评论截图归纳定性需求，不代表总体比例。CSCO、TNM、大查房资源由用户确认持有；表中内容联动、场景练习和备考价值属于拟转化方向，不宣称已上线或学习效果已证实。未独立核实竞品均缺少这些资源，不使用“竞品都没有”或独家声明。指南及TNM版本和适用考纲须在内容转化时匹配。第15页价格沿用旧表，本次未重新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公开来源：</a:t>
            </a:r>
          </a:p>
          <a:p>
            <a:r>
              <a:t>https://www.csco.org.cn/cn/ncontent.aspx?oid=9278</a:t>
            </a:r>
          </a:p>
          <a:p>
            <a:r>
              <a:t>https://www-search.liangyihui.net/doc/166633</a:t>
            </a:r>
          </a:p>
          <a:p>
            <a:r>
              <a:t>2026-09-17已查阅。资源归属依据用户说明。商业意义为分析判断，不是已验证的付费转化结果。大查房公开专栏与本地题目分别作为证据，不声称专栏专家审核本地题目。</a:t>
            </a:r>
          </a:p>
          <a:p>
            <a:r>
              <a:t>本次增补：依据用户提供的评论截图归纳定性需求，不代表总体比例。CSCO、TNM、大查房资源由用户确认持有；表中内容联动、场景练习和备考价值属于拟转化方向，不宣称已上线或学习效果已证实。未独立核实竞品均缺少这些资源，不使用“竞品都没有”或独家声明。指南及TNM版本和适用考纲须在内容转化时匹配。第15页价格沿用旧表，本次未重新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公开来源：</a:t>
            </a:r>
          </a:p>
          <a:p>
            <a:r>
              <a:t>https://www-search.liangyihui.net/column/162</a:t>
            </a:r>
          </a:p>
          <a:p>
            <a:r>
              <a:t>https://www-search.liangyihui.net/column/158</a:t>
            </a:r>
          </a:p>
          <a:p>
            <a:r>
              <a:t>2026-09-17已查阅。资源归属依据用户说明。商业意义为分析判断，不是已验证的付费转化结果。大查房公开专栏与本地题目分别作为证据，不声称专栏专家审核本地题目。</a:t>
            </a:r>
          </a:p>
          <a:p>
            <a:r>
              <a:t>本次增补：依据用户提供的评论截图归纳定性需求，不代表总体比例。CSCO、TNM、大查房资源由用户确认持有；表中内容联动、场景练习和备考价值属于拟转化方向，不宣称已上线或学习效果已证实。未独立核实竞品均缺少这些资源，不使用“竞品都没有”或独家声明。指南及TNM版本和适用考纲须在内容转化时匹配。第15页价格沿用旧表，本次未重新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  <a:p>
            <a:r>
              <a:t>本次增补：依据用户提供的评论截图归纳定性需求，不代表总体比例。CSCO、TNM、大查房资源由用户确认持有；表中内容联动、场景练习和备考价值属于拟转化方向，不宣称已上线或学习效果已证实。未独立核实竞品均缺少这些资源，不使用“竞品都没有”或独家声明。指南及TNM版本和适用考纲须在内容转化时匹配。第15页价格沿用旧表，本次未重新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  <a:p>
            <a:r>
              <a:t>本次增补：依据用户提供的评论截图归纳定性需求，不代表总体比例。CSCO、TNM、大查房资源由用户确认持有；表中内容联动、场景练习和备考价值属于拟转化方向，不宣称已上线或学习效果已证实。未独立核实竞品均缺少这些资源，不使用“竞品都没有”或独家声明。指南及TNM版本和适用考纲须在内容转化时匹配。第15页价格沿用旧表，本次未重新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at.ipmph.com/examzcms/c/2022-12-26/556633.s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肿瘤职称是细分市场，机会在专科内容与现有用户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沿用原方案规模估算；结合肿瘤医生 APP 的内容积累与目标用户触达，判断进入机会。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6.6–7.1 万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原方案医师存量估算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0.33–0.71 万</a:t>
            </a: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原方案年度考生估算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结合付费意愿与成本决策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从现有肿瘤医生用户中承接职称备考需求，实际考生数量需盘点。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 CSCO 指南和大查房的内容积累，建立肿瘤专科备考的差异化。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围绕三个中级专业进入细分市场，以付费需求和服务成本判断商业可行性。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项目背景">
            <a:extLst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肿瘤医生 APP 已有专科用户和内容积累，为拓展职称备考业务提供基础。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noGrp="1"/>
          </p:cNvSpPr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DDE9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项目价值">
            <a:extLst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noGrp="1"/>
          </p:cNvSpPr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  <a:endParaRPr sz="1875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降低目标用户触达与获取成本">
            <a:extLst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通过现有渠道触达潜在考生</a:t>
            </a:r>
          </a:p>
        </p:txBody>
      </p:sp>
      <p:sp>
        <p:nvSpPr>
          <p:cNvPr id="13" name="满足晋升需求">
            <a:extLst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noGrp="1"/>
          </p:cNvSpPr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延伸内容价值</a:t>
            </a:r>
          </a:p>
        </p:txBody>
      </p:sp>
      <p:sp>
        <p:nvSpPr>
          <p:cNvPr id="16" name="将 AI 私教与追问迁移到职称考试">
            <a:extLst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noGrp="1"/>
          </p:cNvSpPr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将指南与大查房内容延伸至备考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中级">
            <a:extLst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noGrp="1"/>
          </p:cNvSpPr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具体考试安排以当年官方通知为准；本次研究341–343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高级">
            <a:extLst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noGrp="1"/>
          </p:cNvSpPr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专业代码、考试安排与要求存在地区差异，本次暂不纳入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本章结论">
            <a:extLst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从已有肿瘤学术用户中寻找备考需求，是本项目的市场进入基础。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首期聚焦中级市场，高级职称后续评估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中级考试按全国专业目录组织，适合统一分析；高级职称需按地区进一步拆分。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高级职称（副高／正高）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按地区政策与安排核对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取得中级资格的备考需求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晋升高级职称的考试与评审需求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市场分析口径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按专业及年度报名人数分析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按地区、专业及晋升要求拆分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同专业成绩两年滚动，包含补考需求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考试与评审要求存在地区差异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341、342、343三个专业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本次暂不纳入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三个专业对应不同需求，统一纳入市场分析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从实际报考专业识别市场；以下科室只作潜在用户触达线索。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肿瘤科、内科医生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现有平台用户可提供线索；实际报考人数和需求占比需盘点。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肿瘤外科医生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按实际报考代码识别，不能将所有外科医生计入342市场。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放疗医生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通过放疗相关用户渠道触达，按报考年度识别当期需求。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三个专业共同构成研究范围；医生所属科室不能直接等同报考专业。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四科及考试时间按已收集官方资料；题型按用户提供截图列作参考，适用年度与专业范围待核实。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278146415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）、共用题干单选题（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题量不固定  </a:t>
                      </a: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题目详情｜案例分析题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以下依据人卫2023年题型说明；具体考试须以当年、对应专业的实际题型说明为准。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333750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>
                <a:solidFill>
                  <a:srgbClr val="102744"/>
                </a:solidFill>
                <a:latin typeface="Microsoft YaHei"/>
              </a:rPr>
              <a:t>怎样计分：先区分选项性质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790950"/>
            <a:ext cx="5524500" cy="1457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普通正确选项：选中 +1 个得分点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关键选项：选中 +2 个得分点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错误选项：选中 −1；无关选项：0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3675" y="3305175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276975"/>
            <a:ext cx="111252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6F84A0"/>
                </a:solidFill>
                <a:latin typeface="Microsoft YaHei"/>
              </a:rPr>
              <a:t>得分点不直接等于卷面分；不采用未经证实的“每题2分”换算和“第一问错、后面全错”说法。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591300"/>
            <a:ext cx="10287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3"/>
              </a:rPr>
              <a:t>来源：人卫医学网《2023年考试五个题型重点剖析》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750" y="65913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第四科：多选还是少选，考生拿不准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 dirty="0" err="1">
                <a:solidFill>
                  <a:srgbClr val="6F84A0"/>
                </a:solidFill>
                <a:latin typeface="Microsoft YaHei"/>
              </a:rPr>
              <a:t>来源：用户提供的评论截图</a:t>
            </a:r>
            <a:endParaRPr sz="90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08 / 21</a:t>
            </a:r>
          </a:p>
        </p:txBody>
      </p:sp>
      <p:pic>
        <p:nvPicPr>
          <p:cNvPr id="8" name="原图2裁剪_40_15_1405_1010" descr="img_v3_0215l_db74811d-78b0-4cc4-b41f-a9f0e3b9e7dg.jpg"/>
          <p:cNvPicPr>
            <a:picLocks noChangeAspect="1"/>
          </p:cNvPicPr>
          <p:nvPr/>
        </p:nvPicPr>
        <p:blipFill>
          <a:blip r:embed="rId3"/>
          <a:srcRect l="2778" t="1468" r="2431" b="1174"/>
          <a:stretch>
            <a:fillRect/>
          </a:stretch>
        </p:blipFill>
        <p:spPr>
          <a:xfrm>
            <a:off x="533400" y="1352550"/>
            <a:ext cx="5330666" cy="3885723"/>
          </a:xfrm>
          <a:prstGeom prst="rect">
            <a:avLst/>
          </a:prstGeom>
        </p:spPr>
      </p:pic>
      <p:pic>
        <p:nvPicPr>
          <p:cNvPr id="9" name="原图6裁剪_40_15_1405_680" descr="img_v3_0215l_eb3c8fe2-3ad2-4c10-93cc-75c8dcf6f97g.jpg"/>
          <p:cNvPicPr>
            <a:picLocks noChangeAspect="1"/>
          </p:cNvPicPr>
          <p:nvPr/>
        </p:nvPicPr>
        <p:blipFill>
          <a:blip r:embed="rId4"/>
          <a:srcRect l="2778" t="2177" r="2431" b="1306"/>
          <a:stretch>
            <a:fillRect/>
          </a:stretch>
        </p:blipFill>
        <p:spPr>
          <a:xfrm>
            <a:off x="6286500" y="1352550"/>
            <a:ext cx="5330666" cy="2596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第三、四科：评论中的考试体验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 dirty="0" err="1">
                <a:solidFill>
                  <a:srgbClr val="6F84A0"/>
                </a:solidFill>
                <a:latin typeface="Microsoft YaHei"/>
              </a:rPr>
              <a:t>来源：用户提供的评论截图</a:t>
            </a:r>
            <a:endParaRPr sz="90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09 / 21</a:t>
            </a:r>
          </a:p>
        </p:txBody>
      </p:sp>
      <p:pic>
        <p:nvPicPr>
          <p:cNvPr id="8" name="原图7裁剪_40_20_1405_705" descr="img_v3_0215l_5e99037b-e0be-451a-93c5-013e508009bg.jpg"/>
          <p:cNvPicPr>
            <a:picLocks noChangeAspect="1"/>
          </p:cNvPicPr>
          <p:nvPr/>
        </p:nvPicPr>
        <p:blipFill>
          <a:blip r:embed="rId3"/>
          <a:srcRect l="2778" t="1366" r="2431" b="51844"/>
          <a:stretch>
            <a:fillRect/>
          </a:stretch>
        </p:blipFill>
        <p:spPr>
          <a:xfrm>
            <a:off x="533400" y="1352550"/>
            <a:ext cx="5330666" cy="2675096"/>
          </a:xfrm>
          <a:prstGeom prst="rect">
            <a:avLst/>
          </a:prstGeom>
        </p:spPr>
      </p:pic>
      <p:pic>
        <p:nvPicPr>
          <p:cNvPr id="9" name="原图7裁剪_40_755_1405_1450" descr="img_v3_0215l_5e99037b-e0be-451a-93c5-013e508009bg.jpg"/>
          <p:cNvPicPr>
            <a:picLocks noChangeAspect="1"/>
          </p:cNvPicPr>
          <p:nvPr/>
        </p:nvPicPr>
        <p:blipFill>
          <a:blip r:embed="rId3"/>
          <a:srcRect l="2778" t="51571" r="2431" b="956"/>
          <a:stretch>
            <a:fillRect/>
          </a:stretch>
        </p:blipFill>
        <p:spPr>
          <a:xfrm>
            <a:off x="6286500" y="1352550"/>
            <a:ext cx="5330666" cy="27141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肿瘤外科：综合判断与 TNM 分期的复习困惑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 dirty="0" err="1">
                <a:solidFill>
                  <a:srgbClr val="6F84A0"/>
                </a:solidFill>
                <a:latin typeface="Microsoft YaHei"/>
              </a:rPr>
              <a:t>来源：用户提供的评论截图</a:t>
            </a:r>
            <a:endParaRPr sz="90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10 / 21</a:t>
            </a:r>
          </a:p>
        </p:txBody>
      </p:sp>
      <p:pic>
        <p:nvPicPr>
          <p:cNvPr id="8" name="原图3裁剪_10_0_538_522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r="1825" b="45511"/>
          <a:stretch>
            <a:fillRect/>
          </a:stretch>
        </p:blipFill>
        <p:spPr>
          <a:xfrm>
            <a:off x="609600" y="1333500"/>
            <a:ext cx="5029200" cy="4972050"/>
          </a:xfrm>
          <a:prstGeom prst="rect">
            <a:avLst/>
          </a:prstGeom>
        </p:spPr>
      </p:pic>
      <p:pic>
        <p:nvPicPr>
          <p:cNvPr id="9" name="原图3裁剪_10_527_538_958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t="55010" r="1825"/>
          <a:stretch>
            <a:fillRect/>
          </a:stretch>
        </p:blipFill>
        <p:spPr>
          <a:xfrm>
            <a:off x="6362700" y="1333500"/>
            <a:ext cx="5029200" cy="4105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指南与 TNM 分期：考生怎样准备后两科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 dirty="0" err="1">
                <a:solidFill>
                  <a:srgbClr val="6F84A0"/>
                </a:solidFill>
                <a:latin typeface="Microsoft YaHei"/>
              </a:rPr>
              <a:t>来源：用户提供的评论截图</a:t>
            </a:r>
            <a:endParaRPr sz="90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11 / 21</a:t>
            </a:r>
          </a:p>
        </p:txBody>
      </p:sp>
      <p:pic>
        <p:nvPicPr>
          <p:cNvPr id="8" name="原图1裁剪_40_20_1405_1270" descr="img_v3_0215l_c2398879-19b9-41b8-b1fe-c4ca63e164ag.jpg"/>
          <p:cNvPicPr>
            <a:picLocks noChangeAspect="1"/>
          </p:cNvPicPr>
          <p:nvPr/>
        </p:nvPicPr>
        <p:blipFill>
          <a:blip r:embed="rId3"/>
          <a:srcRect l="2778" t="1562" r="2431" b="781"/>
          <a:stretch>
            <a:fillRect/>
          </a:stretch>
        </p:blipFill>
        <p:spPr>
          <a:xfrm>
            <a:off x="533400" y="1333500"/>
            <a:ext cx="5330666" cy="4881562"/>
          </a:xfrm>
          <a:prstGeom prst="rect">
            <a:avLst/>
          </a:prstGeom>
        </p:spPr>
      </p:pic>
      <p:pic>
        <p:nvPicPr>
          <p:cNvPr id="9" name="原图4裁剪_40_20_1405_1210" descr="img_v3_0215l_d479295a-ae7e-4307-a9c0-8bb3af31e48g.jpg"/>
          <p:cNvPicPr>
            <a:picLocks noChangeAspect="1"/>
          </p:cNvPicPr>
          <p:nvPr/>
        </p:nvPicPr>
        <p:blipFill>
          <a:blip r:embed="rId4"/>
          <a:srcRect l="2778" t="1633" r="2431" b="1224"/>
          <a:stretch>
            <a:fillRect/>
          </a:stretch>
        </p:blipFill>
        <p:spPr>
          <a:xfrm>
            <a:off x="6286500" y="1333500"/>
            <a:ext cx="5330666" cy="46472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题库选择：考生关心有效题目和使用体验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 dirty="0" err="1">
                <a:solidFill>
                  <a:srgbClr val="6F84A0"/>
                </a:solidFill>
                <a:latin typeface="Microsoft YaHei"/>
              </a:rPr>
              <a:t>来源：用户提供的评论截图</a:t>
            </a:r>
            <a:endParaRPr sz="90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12 / 21</a:t>
            </a:r>
          </a:p>
        </p:txBody>
      </p:sp>
      <p:pic>
        <p:nvPicPr>
          <p:cNvPr id="8" name="原图5裁剪_40_20_1405_103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804" r="2431" b="58585"/>
          <a:stretch>
            <a:fillRect/>
          </a:stretch>
        </p:blipFill>
        <p:spPr>
          <a:xfrm>
            <a:off x="533400" y="1333500"/>
            <a:ext cx="5330666" cy="3944302"/>
          </a:xfrm>
          <a:prstGeom prst="rect">
            <a:avLst/>
          </a:prstGeom>
        </p:spPr>
      </p:pic>
      <p:pic>
        <p:nvPicPr>
          <p:cNvPr id="9" name="原图5裁剪_40_1040_1405_14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41817" r="2431" b="41697"/>
          <a:stretch>
            <a:fillRect/>
          </a:stretch>
        </p:blipFill>
        <p:spPr>
          <a:xfrm>
            <a:off x="6286500" y="1333500"/>
            <a:ext cx="5330666" cy="1601152"/>
          </a:xfrm>
          <a:prstGeom prst="rect">
            <a:avLst/>
          </a:prstGeom>
        </p:spPr>
      </p:pic>
      <p:pic>
        <p:nvPicPr>
          <p:cNvPr id="10" name="原图5裁剪_40_1510_1405_23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60716" r="2431" b="5509"/>
          <a:stretch>
            <a:fillRect/>
          </a:stretch>
        </p:blipFill>
        <p:spPr>
          <a:xfrm>
            <a:off x="6286500" y="3038475"/>
            <a:ext cx="5330666" cy="32804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备考需求｜病例分析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病例分析侧重临床判断，备考需要理解与应用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人卫题型说明强调病情分析、判断与处理；结合所提供肿瘤学大纲及调研线索，归纳以下备考需求。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需要完成的判断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病例中的信息与易混点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对应的备考需求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综合分析病例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结合病史、影像与病理报告，判断诊断及分期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学习如何提取线索、串联检查结果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辨别治疗方案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结合分期、分型与既往治疗，辨别方案适用条件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理解治疗顺序及方案差异，如一线／后线选择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识别并发症与不良反应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结合症状、检查与用药史，区分可能原因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掌握鉴别依据与处理原则，梳理易错点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排除相似选项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选项看似都合理，但适用条件可能不同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理解为何选、为何不选，避免只记答案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资料说明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病例题占比及真实病例来源尚无可靠依据；相似选项难点来自机构调研线索。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市场需求线索：除知识记忆外，考生还需要病例分析、方案辨别和易错点讲解。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买了题库，考生仍在找指南、分期与病例判断依据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前述评论出现“另找指南”“TNM死记易忘”“多选拿不准”等反馈，提示现有备考体验中的缺口。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graphicFrame>
        <p:nvGraphicFramePr>
          <p:cNvPr id="32" name="表格 31"/>
          <p:cNvGraphicFramePr/>
          <p:nvPr>
            <p:extLst>
              <p:ext uri="{D42A27DB-BD31-4B8C-83A1-F6EECF244321}">
                <p14:modId xmlns:p14="http://schemas.microsoft.com/office/powerpoint/2010/main" val="504412076"/>
              </p:ext>
            </p:extLst>
          </p:nvPr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32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用户反馈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现有备考方式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仍未解决的问题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我们的切入点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另找指南补充复习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教材、多个题库搭配使用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资料分散，答案依据需自己找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CSCO指南关联考点与解析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TNM靠硬背，考完易忘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看书、记分期、做习题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难把分期条件用于具体病例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分期对照与病例判断结合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第四科多选拿不准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交流多选、少选等技巧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缺少逐项判断与排错依据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用病例线索解释选与不选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觉得有效题目少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尝试、比较不同题库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练习是否贴合需求仍有疑虑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按考纲筛选大查房病例题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评论提及与原调研对象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差异化切入点：将指南依据、TNM分期和病例实战连起来，补足单纯刷题的不足。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题库已有价格竞争，我们要提供更明确的购买理由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75" dirty="0">
                <a:solidFill>
                  <a:srgbClr val="6F84A0"/>
                </a:solidFill>
                <a:latin typeface="Microsoft YaHei"/>
              </a:rPr>
              <a:t>价格与权益沿用原调研表；从评论看，指南、分期和病例判断是值得进一步验证的付费需求。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graphicFrame>
        <p:nvGraphicFramePr>
          <p:cNvPr id="21" name="表格 20"/>
          <p:cNvGraphicFramePr/>
          <p:nvPr>
            <p:extLst>
              <p:ext uri="{D42A27DB-BD31-4B8C-83A1-F6EECF244321}">
                <p14:modId xmlns:p14="http://schemas.microsoft.com/office/powerpoint/2010/main" val="2271942251"/>
              </p:ext>
            </p:extLst>
          </p:nvPr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价格依据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核心优势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对良医汇的启示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  <a:endParaRPr sz="120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肿瘤内科、外科题库均 ¥160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全专业覆盖，学习链路完整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指南与病例解析补足刷题体验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341／342／343相关商品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/ 342 / 343 合并题库 ¥168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覆盖广、合并销售、多终端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把TNM分期放入病例情境理解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341 ¥58；342 ¥68；343 ¥58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低价、单科购买、决策简单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用内容价值竞争，避免只比低价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肿瘤中级相关题库 ¥58 / 套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低价，基础刷题与错题完整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突出逐项判断与错因解释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题库及会员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统一会员制，非单题库购买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题库广、评论统计与社区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把分散讨论整理为有依据的学习内容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  <a:endParaRPr sz="15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购买理由：做题时能查依据、辨分期、练病例判断；收费方式与价格另行确定。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我们的竞争优势｜CSCO指南与TNM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指南讲清治疗依据，TNM讲清分期条件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我们已有CSCO指南与TNM相关内容，可针对“资料分散、硬背易忘、方案易混”提供更连贯的备考支持。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评论中的痛点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我们的内容优势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可提供的备考价值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没看指南，考后后悔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CSCO指南与专家解读积累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结合考点找依据，理解方案适用条件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TNM死记，考完就忘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TNM分期相关内容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对照分期条件，在病例中识别关键线索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分期与治疗选择易混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指南推荐与分期内容可关联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看懂分期、分型变化如何影响方案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书、指南、题库分散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已有肿瘤专科内容积累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围绕一道题串联考点、分期和指南依据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考生价值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从“去哪里找资料”到“这一题为什么这样判断”，减少零散查找与机械记忆。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优势切入：用指南与分期解释答案依据，让专业内容成为考生购买的理由。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我们的竞争优势｜大查房实战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把考生放进病例场景，练习怎样判断和选择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我们已有大查房病例、影像和题目，可让考生结合具体诊疗情境理解知识，感受临床判断过程。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评论中的痛点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大查房的内容基础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可提供的场景体验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第四科难，不敢多选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病例讨论与已有题目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提取病例线索，逐项判断选项是否成立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肿瘤外科考综合能力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病史、检查与诊疗分析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串联影像、病理等信息，形成判断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TNM只记条文，难应用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包含诊疗条件的病例素材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把分期条件放进病例，说明判断依据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刷题后仍说不清原因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病例解析与诊疗讨论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结合具体场景理解为何选、为何排除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场景示意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阅读病史和检查资料 → 判断分期与方案 → 比较选项 → 对照解析，理解每一步依据。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优势切入：把大查房的临床情境转为备考练习，让考生在具体病例中练判断。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竞争机会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我们的切入点：指南有依据，分期能理解，病例可实战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面向已经刷题、仍在寻找判断依据的考生，以指南、TNM和大查房补足备考中的理解与应用。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需求缺口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我们的优势组合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对考生的价值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资料多，依据难找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CSCO指南与考点解析关联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围绕问题找到适用依据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TNM难记、难用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分期内容与病例条件对照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把分期规则用于具体判断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病例题选项拿不准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大查房情境与逐项解析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理解每个选项成立或排除的原因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不同资料需要自己拼接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指南、TNM与查房内容联动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围绕一个病例完成理解与练习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竞争表述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评论提示部分现有体验未满足需求；尚无证据证明所有竞品都没有指南、TNM或病例内容。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主张的购买价值：围绕同一病例，学会找依据、辨分期、选方案，而不只记住答案。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原方案估算：医师存量约6.6–7.1万人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保留原稿数字作内部情景；下表原始输入、扣减方式与1.5%占比未经充分核实，不作为官方统计。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A｜原始输入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原稿人数，来源及口径未核实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B｜原估算方法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原扣减方法和专业占比未验证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C｜内部情景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5%–10%报考比例为内部假设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村卫生室医师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同口径分母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肿瘤科占比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中心值推算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4,782,086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508,452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4,273,634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64,105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5,081,532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521,665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4,559,867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68,398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原2024年存量推算（非考生数）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原比例情景范围，非置信区间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医师存量不等于年度考生人数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这组数值仅保留原方案量级假设，不能据此宣称全国实际考生规模。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原年度考生估算约0.33–0.71万人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保留原稿图表与分专业拆分，用作内部情景；报考比例及专业分配均未得到真实报名数据验证。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723900" y="1962150"/>
          <a:ext cx="61912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原情景范围约3,306–7,068人；不是统计置信区间，考生人数也不等于付费用户。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原中性情景约5,000人／年；市场收入还取决于付费比例、客单价与成本。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以指南、TNM与病例实战，切入肿瘤职称备考市场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用户评论提供了明确线索：资料需要整合，分期需要理解，病例题需要有依据地判断。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聚焦341、342、343中需要补强分期与病例判断的考生。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补足评论中“另找指南、死记TNM、选项拿不准”的体验缺口。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用CSCO指南讲依据、TNM讲条件、大查房提供病例实战情境。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主要通过小程序承接购买，验证付费意愿；价格与权益待定。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用已有专科内容提供明确的购买价值：在病例场景中理解知识、练习判断。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2816</Words>
  <Application>Microsoft Office PowerPoint</Application>
  <DocSecurity>0</DocSecurity>
  <PresentationFormat>宽屏</PresentationFormat>
  <Paragraphs>473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Microsoft YaHei</vt:lpstr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5</cp:revision>
  <dcterms:created xsi:type="dcterms:W3CDTF">2026-09-17T03:47:42Z</dcterms:created>
  <dcterms:modified xsi:type="dcterms:W3CDTF">2026-09-18T05:37:38Z</dcterms:modified>
</cp:coreProperties>
</file>