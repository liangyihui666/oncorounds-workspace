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62" r:id="rId13"/>
    <p:sldId id="263" r:id="rId14"/>
    <p:sldId id="267" r:id="rId15"/>
    <p:sldId id="28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1"/>
    <p:restoredTop sz="94629"/>
  </p:normalViewPr>
  <p:slideViewPr>
    <p:cSldViewPr snapToGrid="0">
      <p:cViewPr>
        <p:scale>
          <a:sx n="82" d="100"/>
          <a:sy n="82" d="100"/>
        </p:scale>
        <p:origin x="14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60000" y="2887291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12680" y="5054491"/>
            <a:ext cx="330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1200">
              <a:lnSpc>
                <a:spcPct val="100000"/>
              </a:lnSpc>
              <a:tabLst>
                <a:tab pos="0" algn="l"/>
              </a:tabLst>
            </a:pPr>
            <a:r>
              <a:t>底数：肿瘤科执业医师约6.8万（2023年）</a:t>
            </a:r>
          </a:p>
          <a:p>
            <a:pPr defTabsz="1200">
              <a:lnSpc>
                <a:spcPct val="100000"/>
              </a:lnSpc>
              <a:tabLst>
                <a:tab pos="0" algn="l"/>
              </a:tabLst>
            </a:pPr>
            <a:r>
              <a:t>《中国卫生健康统计年鉴》2-3-3、2-3-6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265231"/>
            <a:ext cx="5076004" cy="3700091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188638"/>
            <a:ext cx="5330666" cy="259699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85260"/>
            <a:ext cx="5330666" cy="2675096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367144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314215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41612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5330666" cy="3944302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5330666" cy="1601152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3038475"/>
            <a:ext cx="5330666" cy="3280410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4152274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4152273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715000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当题库供给已经充分，用户愿意为“更快理解 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+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更少误判 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+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更清晰依据”付费的可能性更值得验证。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COMPETITIVE LANDSCAPE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竞品以通用题库为主，我们能补上指南、分期与病例实战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本次调研（2026-09，抽样5家竞品官方页面）：竞品以通用题库与通用考点课为主，未检索到针对341/342/343的专科指南依据、TNM专项与病例场景内容。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15</a:t>
            </a:r>
          </a:p>
        </p:txBody>
      </p:sp>
      <p:graphicFrame>
        <p:nvGraphicFramePr>
          <p:cNvPr id="32" name="表格 31"/>
          <p:cNvGraphicFramePr/>
          <p:nvPr>
            <p:extLst>
              <p:ext uri="{D42A27DB-BD31-4B8C-83A1-F6EECF244321}">
                <p14:modId xmlns:p14="http://schemas.microsoft.com/office/powerpoint/2010/main" val="1205618805"/>
              </p:ext>
            </p:extLst>
          </p:nvPr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99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考生需求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调研竞品供给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我们已有的内容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答案依据从哪里找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通用题库，未见专科指南依据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CSCO指南与专家解读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结合考点解释方案的适用依据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TNM如何理解和应用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有分期考点，未见TNM专项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TNM分期相关内容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对照分期条件，识别病例线索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病例中怎样判断选项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题目练习，未见专科病例场景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大查房、影像与病例素材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在具体情境中练判断、辨选项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怎样串联知识与实战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以题目练习为主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指南、TNM与查房内容积累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围绕病例组织理解与练习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本次调研竞品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我们的差异：在通用题库之外，提供指南依据、TNM分期理解与真实病例场景学习。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PRICING LANDSCAPE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题库与课程价格差异明显，我们要提供更明确的购买理由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t>价格抓取日期 2026-09-20（各竞品官方页面）；产品口径不同，详情见末页数据来源。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15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388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7959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购买理由：做题时能查依据、辨分期、练病例判断；收费方式与价格另行确定。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2B3C4C9-E287-D41B-10B8-E71F025220A3}"/>
              </a:ext>
            </a:extLst>
          </p:cNvPr>
          <p:cNvSpPr/>
          <p:nvPr/>
        </p:nvSpPr>
        <p:spPr>
          <a:xfrm>
            <a:off x="502919" y="1591200"/>
            <a:ext cx="8148711" cy="376185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ADBD371-85CC-D9D1-5AC6-9350A9F1E3D3}"/>
              </a:ext>
            </a:extLst>
          </p:cNvPr>
          <p:cNvSpPr/>
          <p:nvPr/>
        </p:nvSpPr>
        <p:spPr>
          <a:xfrm>
            <a:off x="704850" y="1820213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t>竞品价格快照（单价，元）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84F363A-2FBF-2F0E-CF59-38C17B9AEB30}"/>
              </a:ext>
            </a:extLst>
          </p:cNvPr>
          <p:cNvSpPr/>
          <p:nvPr/>
        </p:nvSpPr>
        <p:spPr>
          <a:xfrm>
            <a:off x="1371810" y="3831867"/>
            <a:ext cx="6327360" cy="360"/>
          </a:xfrm>
          <a:prstGeom prst="line">
            <a:avLst/>
          </a:prstGeom>
          <a:ln w="19050">
            <a:solidFill>
              <a:srgbClr val="BFC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E71FFE2-81C0-2040-698A-E049C7710EB5}"/>
              </a:ext>
            </a:extLst>
          </p:cNvPr>
          <p:cNvSpPr/>
          <p:nvPr/>
        </p:nvSpPr>
        <p:spPr>
          <a:xfrm>
            <a:off x="1371810" y="3740427"/>
            <a:ext cx="360" cy="182880"/>
          </a:xfrm>
          <a:prstGeom prst="line">
            <a:avLst/>
          </a:prstGeom>
          <a:ln w="12700">
            <a:solidFill>
              <a:srgbClr val="BFC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69589E7-819D-071E-73C5-D278591516BF}"/>
              </a:ext>
            </a:extLst>
          </p:cNvPr>
          <p:cNvSpPr/>
          <p:nvPr/>
        </p:nvSpPr>
        <p:spPr>
          <a:xfrm>
            <a:off x="3480690" y="3740427"/>
            <a:ext cx="360" cy="182880"/>
          </a:xfrm>
          <a:prstGeom prst="line">
            <a:avLst/>
          </a:prstGeom>
          <a:ln w="12700">
            <a:solidFill>
              <a:srgbClr val="BFC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06347F29-4DFB-AEE9-6618-27249C1484A5}"/>
              </a:ext>
            </a:extLst>
          </p:cNvPr>
          <p:cNvSpPr/>
          <p:nvPr/>
        </p:nvSpPr>
        <p:spPr>
          <a:xfrm>
            <a:off x="5589930" y="3740427"/>
            <a:ext cx="360" cy="182880"/>
          </a:xfrm>
          <a:prstGeom prst="line">
            <a:avLst/>
          </a:prstGeom>
          <a:ln w="12700">
            <a:solidFill>
              <a:srgbClr val="BFC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20AC3F22-0DE3-E48B-1849-E78DC6F74555}"/>
              </a:ext>
            </a:extLst>
          </p:cNvPr>
          <p:cNvSpPr/>
          <p:nvPr/>
        </p:nvSpPr>
        <p:spPr>
          <a:xfrm>
            <a:off x="7699170" y="3740427"/>
            <a:ext cx="360" cy="182880"/>
          </a:xfrm>
          <a:prstGeom prst="line">
            <a:avLst/>
          </a:prstGeom>
          <a:ln w="12700">
            <a:solidFill>
              <a:srgbClr val="BFC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087677F6-45A4-F3B9-4F62-2AED1F41749D}"/>
              </a:ext>
            </a:extLst>
          </p:cNvPr>
          <p:cNvSpPr/>
          <p:nvPr/>
        </p:nvSpPr>
        <p:spPr>
          <a:xfrm>
            <a:off x="850000" y="2310000"/>
            <a:ext cx="164160" cy="164160"/>
          </a:xfrm>
          <a:prstGeom prst="ellipse">
            <a:avLst/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5E78AF62-0304-53E4-BBCF-379FC59A15C3}"/>
              </a:ext>
            </a:extLst>
          </p:cNvPr>
          <p:cNvSpPr/>
          <p:nvPr/>
        </p:nvSpPr>
        <p:spPr>
          <a:xfrm>
            <a:off x="1080000" y="2250000"/>
            <a:ext cx="142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圣才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圣题库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53CD9B7D-2C9E-B01A-A6E4-F915F27C1E0E}"/>
              </a:ext>
            </a:extLst>
          </p:cNvPr>
          <p:cNvSpPr/>
          <p:nvPr/>
        </p:nvSpPr>
        <p:spPr>
          <a:xfrm>
            <a:off x="2620000" y="2180000"/>
            <a:ext cx="5900000" cy="4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AI题库按专业分售：341 ¥58、342 ¥68、343 ¥58（2027年考季）</a:t>
            </a: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79C34A4E-FBB8-D18D-A6E2-5AAE632C10EC}"/>
              </a:ext>
            </a:extLst>
          </p:cNvPr>
          <p:cNvSpPr/>
          <p:nvPr/>
        </p:nvSpPr>
        <p:spPr>
          <a:xfrm>
            <a:off x="850000" y="4950000"/>
            <a:ext cx="164160" cy="164160"/>
          </a:xfrm>
          <a:prstGeom prst="ellipse">
            <a:avLst/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BE8DEC50-21E8-B153-B8A0-FA6F20FDD4B2}"/>
              </a:ext>
            </a:extLst>
          </p:cNvPr>
          <p:cNvSpPr/>
          <p:nvPr/>
        </p:nvSpPr>
        <p:spPr>
          <a:xfrm>
            <a:off x="1080000" y="4890000"/>
            <a:ext cx="142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蓝基因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9141A0E7-42BB-2EF8-D301-DC6AA79C140A}"/>
              </a:ext>
            </a:extLst>
          </p:cNvPr>
          <p:cNvSpPr/>
          <p:nvPr/>
        </p:nvSpPr>
        <p:spPr>
          <a:xfrm>
            <a:off x="2620000" y="4820000"/>
            <a:ext cx="5900000" cy="4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官方未公开分专业价目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以 App 内实时报价为准，无公开证据</a:t>
            </a: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77D897CA-931A-3458-799F-8E0B5DDFAB24}"/>
              </a:ext>
            </a:extLst>
          </p:cNvPr>
          <p:cNvSpPr/>
          <p:nvPr/>
        </p:nvSpPr>
        <p:spPr>
          <a:xfrm>
            <a:off x="850000" y="4290000"/>
            <a:ext cx="164160" cy="1641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B8E575F6-AAA6-201D-1D0D-25BED1E4D80B}"/>
              </a:ext>
            </a:extLst>
          </p:cNvPr>
          <p:cNvSpPr/>
          <p:nvPr/>
        </p:nvSpPr>
        <p:spPr>
          <a:xfrm>
            <a:off x="1080000" y="4230000"/>
            <a:ext cx="142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阿虎医考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23A4A13D-2534-8DC7-C692-C913225D6BB1}"/>
              </a:ext>
            </a:extLst>
          </p:cNvPr>
          <p:cNvSpPr/>
          <p:nvPr/>
        </p:nvSpPr>
        <p:spPr>
          <a:xfrm>
            <a:off x="2620000" y="4160000"/>
            <a:ext cx="5900000" cy="4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以视频班课为主，官方标价 ¥480–¥4890，未披露题库价格</a:t>
            </a: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8B949CBC-CC17-D035-5748-E724FE8D53B6}"/>
              </a:ext>
            </a:extLst>
          </p:cNvPr>
          <p:cNvSpPr/>
          <p:nvPr/>
        </p:nvSpPr>
        <p:spPr>
          <a:xfrm>
            <a:off x="850000" y="2970000"/>
            <a:ext cx="164160" cy="164160"/>
          </a:xfrm>
          <a:prstGeom prst="ellipse">
            <a:avLst/>
          </a:prstGeom>
          <a:solidFill>
            <a:srgbClr val="E89B42"/>
          </a:solidFill>
          <a:ln w="12700">
            <a:solidFill>
              <a:srgbClr val="E89B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07D98F7-B1C6-B963-EE40-78336F4C04DD}"/>
              </a:ext>
            </a:extLst>
          </p:cNvPr>
          <p:cNvSpPr/>
          <p:nvPr/>
        </p:nvSpPr>
        <p:spPr>
          <a:xfrm>
            <a:off x="1080000" y="2910000"/>
            <a:ext cx="142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考试宝典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4763BCA9-804D-7C33-7BC1-D0478508F850}"/>
              </a:ext>
            </a:extLst>
          </p:cNvPr>
          <p:cNvSpPr/>
          <p:nvPr/>
        </p:nvSpPr>
        <p:spPr>
          <a:xfrm>
            <a:off x="2620000" y="2840000"/>
            <a:ext cx="5900000" cy="4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各为独立题库（非合并）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标价 ¥168/科，三科约 ¥453</a:t>
            </a: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2A5C7CC8-BF59-E205-1067-26FF68779645}"/>
              </a:ext>
            </a:extLst>
          </p:cNvPr>
          <p:cNvSpPr/>
          <p:nvPr/>
        </p:nvSpPr>
        <p:spPr>
          <a:xfrm>
            <a:off x="850000" y="3630000"/>
            <a:ext cx="164160" cy="164160"/>
          </a:xfrm>
          <a:prstGeom prst="ellipse">
            <a:avLst/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21937FC9-40DA-04D9-6814-8BBACB800C37}"/>
              </a:ext>
            </a:extLst>
          </p:cNvPr>
          <p:cNvSpPr/>
          <p:nvPr/>
        </p:nvSpPr>
        <p:spPr>
          <a:xfrm>
            <a:off x="1080000" y="3570000"/>
            <a:ext cx="142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18354F"/>
                </a:solidFill>
                <a:latin typeface="Noto Sans CJK SC"/>
              </a:rPr>
              <a:t>医考帮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E335DAEB-F18E-85D3-4BF4-8C04597DD147}"/>
              </a:ext>
            </a:extLst>
          </p:cNvPr>
          <p:cNvSpPr/>
          <p:nvPr/>
        </p:nvSpPr>
        <p:spPr>
          <a:xfrm>
            <a:off x="2620000" y="3500000"/>
            <a:ext cx="5900000" cy="4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无按月会员制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t>主治约 ¥300/科；无专科题库</a:t>
            </a: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556A7E55-49F4-59A5-7268-5C5DD9B32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206414"/>
              </p:ext>
            </p:extLst>
          </p:nvPr>
        </p:nvGraphicFramePr>
        <p:xfrm>
          <a:off x="8824470" y="1590675"/>
          <a:ext cx="2895600" cy="3724278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1400683671"/>
                    </a:ext>
                  </a:extLst>
                </a:gridCol>
              </a:tblGrid>
              <a:tr h="620713"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73479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指南与病例解析补足刷题体验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25871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把TNM分期放入病例情境理解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91447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用内容价值竞争，避免只比低价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959446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突出逐项判断与错因解释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357755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把分散讨论整理为有依据的学习内容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89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33400" y="266700"/>
            <a:ext cx="600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DATA SOURCES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609600"/>
            <a:ext cx="1000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数据来源与核实说明</a:t>
            </a:r>
          </a:p>
        </p:txBody>
      </p:sp>
      <p:sp>
        <p:nvSpPr>
          <p:cNvPr id="91" name="Line"/>
          <p:cNvSpPr/>
          <p:nvPr/>
        </p:nvSpPr>
        <p:spPr>
          <a:xfrm>
            <a:off x="533400" y="1181100"/>
            <a:ext cx="11112576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/>
          </a:p>
        </p:txBody>
      </p:sp>
      <p:graphicFrame>
        <p:nvGraphicFramePr>
          <p:cNvPr id="90" name="Table 1"/>
          <p:cNvGraphicFramePr>
            <a:graphicFrameLocks noGrp="1"/>
          </p:cNvGraphicFramePr>
          <p:nvPr/>
        </p:nvGraphicFramePr>
        <p:xfrm>
          <a:off x="533400" y="1422400"/>
          <a:ext cx="11112576" cy="3500000"/>
        </p:xfrm>
        <a:graphic>
          <a:graphicData uri="http://schemas.openxmlformats.org/drawingml/2006/table">
            <a:tbl>
              <a:tblPr firstRow="1" bandRow="1"/>
              <a:tblGrid>
                <a:gridCol w="3900000"/>
                <a:gridCol w="7212576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>
                          <a:solidFill>
                            <a:srgbClr val="0F2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说法</a:t>
                      </a:r>
                    </a:p>
                  </a:txBody>
                  <a:tcPr marL="91440" marR="91440" marT="45720" marB="45720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>
                          <a:solidFill>
                            <a:srgbClr val="0F2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来源与出处</a:t>
                      </a:r>
                    </a:p>
                  </a:txBody>
                  <a:tcPr marL="91440" marR="91440" marT="45720" marB="45720" anchor="ctr">
                    <a:solidFill>
                      <a:srgbClr val="EEF4FD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 341 / 342 / 343；基础知识与相关专业知识为三专业共用试卷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国家卫生健康委人才交流服务中心《卫生专业技术资格考试主亚专业设置目录（西医类）》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每科考试 90 分钟；成绩实行 2 年为一个周期的滚动管理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青岛市人社局《关于2026年度卫生专业技术资格考试工作有关问题的通知》（2025-12-04）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案例分析题规则：3–12 问、6–12 选项、＋1 / ＋2 / −1、作答不可回退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人卫智网（人民卫生电子音像出版社）《主治医师考试评分规则说明》（2025-07-18）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全国执业（助理）医师 530.6 万人（2025 年末）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国家卫生健康委《2025年我国卫生健康事业发展统计公报》（2026-08-28）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肿瘤科执业医师约 6.8 万人 ＝ 401.0 万 × 1.7%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《中国卫生健康统计年鉴》表 2-3-3（各类别执业医师数）× 表 2-3-6（分科构成），2023 年数据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竞品价格与产品形态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各竞品官方网站及官方授权销售页，抓取日期 2026-09-20</a:t>
                      </a:r>
                    </a:p>
                  </a:txBody>
                  <a:tcPr marL="91440" marR="91440" marT="45720" marB="45720" anchor="ctr">
                    <a:solidFill>
                      <a:srgbClr val="F7FAFE"/>
                    </a:solidFill>
                  </a:tcPr>
                </a:tc>
              </a:tr>
            </a:tbl>
          </a:graphicData>
        </a:graphic>
      </p:graphicFrame>
      <p:sp>
        <p:nvSpPr>
          <p:cNvPr id="92" name="Note"/>
          <p:cNvSpPr txBox="1"/>
          <p:nvPr/>
        </p:nvSpPr>
        <p:spPr>
          <a:xfrm>
            <a:off x="533400" y="5100000"/>
            <a:ext cx="11112576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zh-CN" altLang="en-US" sz="1000" b="0" dirty="0">
                <a:solidFill>
                  <a:srgbClr val="5B6B85"/>
                </a:solidFill>
                <a:latin typeface="Microsoft YaHei"/>
                <a:ea typeface="Microsoft YaHei"/>
                <a:cs typeface="Microsoft YaHei"/>
              </a:rPr>
              <a:t>说明：市场规模为基于上述公开统计的推算，底数为肿瘤科执业医师存量；报考比例 5%–10% 属情景假设，非引用数据。全国年度报名规模目前缺少公开权威统计。</a:t>
            </a:r>
          </a:p>
        </p:txBody>
      </p:sp>
      <p:sp>
        <p:nvSpPr>
          <p:cNvPr id="4" name="BigNo"/>
          <p:cNvSpPr txBox="1"/>
          <p:nvPr/>
        </p:nvSpPr>
        <p:spPr>
          <a:xfrm>
            <a:off x="1031244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altLang="zh-CN" sz="2400" b="1" dirty="0">
                <a:solidFill>
                  <a:srgbClr val="DDE9FB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5" name="Foot"/>
          <p:cNvSpPr txBox="1"/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altLang="zh-CN" sz="900" b="0" dirty="0">
                <a:solidFill>
                  <a:srgbClr val="7C8DA6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1140</Words>
  <Application>Microsoft Macintosh PowerPoint</Application>
  <DocSecurity>0</DocSecurity>
  <PresentationFormat>宽屏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</vt:lpstr>
      <vt:lpstr>Microsoft YaHei</vt:lpstr>
      <vt:lpstr>Noto Sans CJK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Hui Shao</cp:lastModifiedBy>
  <cp:revision>35</cp:revision>
  <dcterms:created xsi:type="dcterms:W3CDTF">2026-09-17T03:47:42Z</dcterms:created>
  <dcterms:modified xsi:type="dcterms:W3CDTF">2026-09-18T08:53:15Z</dcterms:modified>
</cp:coreProperties>
</file>