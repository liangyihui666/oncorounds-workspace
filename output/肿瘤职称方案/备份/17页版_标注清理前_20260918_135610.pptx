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74" r:id="rId10"/>
    <p:sldId id="275" r:id="rId11"/>
    <p:sldId id="276" r:id="rId12"/>
    <p:sldId id="270" r:id="rId13"/>
    <p:sldId id="262" r:id="rId14"/>
    <p:sldId id="263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24"/>
  </p:normalViewPr>
  <p:slideViewPr>
    <p:cSldViewPr snapToGrid="0">
      <p:cViewPr varScale="1">
        <p:scale>
          <a:sx n="140" d="100"/>
          <a:sy n="140" d="100"/>
        </p:scale>
        <p:origin x="14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潜在年度考生</c:v>
          </c:tx>
          <c:spPr>
            <a:solidFill>
              <a:srgbClr val="2F66E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027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保守 5.0%</c:v>
              </c:pt>
              <c:pt idx="1">
                <c:v>中性 7.5%</c:v>
              </c:pt>
              <c:pt idx="2">
                <c:v>积极 10.0%</c:v>
              </c:pt>
            </c:strLit>
          </c:cat>
          <c:val>
            <c:numLit>
              <c:formatCode>General</c:formatCode>
              <c:ptCount val="3"/>
              <c:pt idx="0">
                <c:v>3420</c:v>
              </c:pt>
              <c:pt idx="1">
                <c:v>5130</c:v>
              </c:pt>
              <c:pt idx="2">
                <c:v>6840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BB7-5B49-AE63-0533C6D439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E2F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7E2F1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E2F1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来源：人民卫生电子音像出版社主办的人卫医学网《2023年考试五个题型重点剖析》，2022-12-26发布，2026-09-18查阅。https://uat.ipmph.com/examzcms/c/2022-12-26/556633.shtml 。原文说明每案例3–12问、每问6–12个备选答案、正确及错误答案个数不定，包含普通正确、关键、无关和错误选项，按得分点加减并逐问以0为下限，进入下一问不可返回前问。文章位于内科学主治栏目，是参考题型说明，不代表已独立确认当前341/342/343所有规则完全相同。示例由本次制作，假设ABDE为普通正确项、CF为错误项，未涉及关键或无关项；不给出得分点向卷面分折算公式。原用户示例“选对+0.5分，选错−1分”混用不同权重，不直接采用；漏选表示未取得对应点数，不另认定处罚。“可能12个答案全正确”“第一问错后面全错”“不提示答案数量”均未有充分原文依据，本页只说明答案数量不固定、需逐项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原始截图：C:\Users\admin\Documents\ChatGPT\大查房\output\肿瘤职称方案\评论截图\img_v3_0215l_db74811d-78b0-4cc4-b41f-a9f0e3b9e7dg.jpg；裁剪区域：(40, 15, 1405, 1010)；等比显示倍率：0.41。保留原文，未经独立核验。</a:t>
            </a:r>
          </a:p>
          <a:p>
            <a:r>
              <a:t>原始截图：C:\Users\admin\Documents\ChatGPT\大查房\output\肿瘤职称方案\评论截图\img_v3_0215l_eb3c8fe2-3ad2-4c10-93cc-75c8dcf6f97g.jpg；裁剪区域：(40, 15, 1405, 680)；等比显示倍率：0.41。保留原文，未经独立核验。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原始截图：C:\Users\admin\Documents\ChatGPT\大查房\output\肿瘤职称方案\评论截图\codex-clipboard-c28ebe64-a384-4809-99a2-d0610be839fd.png；裁剪区域：(10, 0, 538, 522)；等比显示倍率：1.0。保留原文，未经独立核验。</a:t>
            </a:r>
          </a:p>
          <a:p>
            <a:r>
              <a:t>原始截图：C:\Users\admin\Documents\ChatGPT\大查房\output\肿瘤职称方案\评论截图\codex-clipboard-c28ebe64-a384-4809-99a2-d0610be839fd.png；裁剪区域：(10, 527, 538, 958)；等比显示倍率：1.0。保留原文，未经独立核验。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原始截图：C:\Users\admin\Documents\ChatGPT\大查房\output\肿瘤职称方案\评论截图\img_v3_0215l_c2398879-19b9-41b8-b1fe-c4ca63e164ag.jpg；裁剪区域：(40, 20, 1405, 1270)；等比显示倍率：0.41。保留原文，未经独立核验。</a:t>
            </a:r>
          </a:p>
          <a:p>
            <a:r>
              <a:t>原始截图：C:\Users\admin\Documents\ChatGPT\大查房\output\肿瘤职称方案\评论截图\img_v3_0215l_d479295a-ae7e-4307-a9c0-8bb3af31e48g.jpg；裁剪区域：(40, 20, 1405, 1210)；等比显示倍率：0.41。保留原文，未经独立核验。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原始截图：C:\Users\admin\Documents\ChatGPT\大查房\output\肿瘤职称方案\评论截图\img_v3_0215l_12a867c7-b7a7-4d8f-8467-eab350bcba9g.jpg；裁剪区域：(40, 20, 1405, 1030)；等比显示倍率：0.41。保留原文，未经独立核验。</a:t>
            </a:r>
          </a:p>
          <a:p>
            <a:r>
              <a:t>原始截图：C:\Users\admin\Documents\ChatGPT\大查房\output\肿瘤职称方案\评论截图\img_v3_0215l_12a867c7-b7a7-4d8f-8467-eab350bcba9g.jpg；裁剪区域：(40, 1040, 1405, 1450)；等比显示倍率：0.41。保留原文，未经独立核验。</a:t>
            </a:r>
          </a:p>
          <a:p>
            <a:r>
              <a:t>原始截图：C:\Users\admin\Documents\ChatGPT\大查房\output\肿瘤职称方案\评论截图\img_v3_0215l_12a867c7-b7a7-4d8f-8467-eab350bcba9g.jpg；裁剪区域：(40, 1510, 1405, 2350)；等比显示倍率：0.41。保留原文，未经独立核验。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本页为新增市场需求分析，其他原页内容保持用户提供版本，仅页码顺延。</a:t>
            </a:r>
          </a:p>
          <a:p>
            <a:r>
              <a:t>来源1：人卫医学网《2023年考试五个题型重点剖析》（2022-12-26）：https://uat.ipmph.com/examzcms/c/2022-12-26/556633.shtml。2026-09-18查阅。该文说明案例分析题使用模拟临床情境，侧重病情分析、判断和处理。仅引用题型特点，不将旧年份说明作为2026年341/342/343题型占比或计分依据。</a:t>
            </a:r>
          </a:p>
          <a:p>
            <a:r>
              <a:t>来源2：用户提供341 342 343肿瘤学考试大纲.pdf，PDF第20、25、33–34、38–39页涉及毒副反应评估、药物毒性、影像学检查、病理及基因检测、分期和治疗原则；该文件本次未重新认定其年度。</a:t>
            </a:r>
          </a:p>
          <a:p>
            <a:r>
              <a:t>来源3：用户提供机构沟通截图及本轮文字，主要讨论肿瘤内科；一线/二线方案和相似选项作为调研难点，非官方题量统计或全部三个专业的统一难度结论。表中以一线/后线作为学习需求例子，不提供临床处方建议。未采用“病例题占比非常高”“大量题来自真实病例”断言。各项市场需求为材料归纳，尚非代表性考生样本验证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  <a:p>
            <a:r>
              <a:t>本次增补：依据用户提供的评论截图归纳定性需求，不代表总体比例。CSCO、TNM、大查房资源由用户确认持有；表中内容联动、场景练习和备考价值属于拟转化方向，不宣称已上线或学习效果已证实。未独立核实竞品均缺少这些资源，不使用“竞品都没有”或独家声明。指南及TNM版本和适用考纲须在内容转化时匹配。第15页价格沿用旧表，本次未重新核验。</a:t>
            </a:r>
          </a:p>
          <a:p>
            <a:r>
              <a:t>2026-09-18更新：用户明确反馈本次调研竞品没有指南、TNM或病例内容，仅可刷题。页面按团队调研判断引用，未由本次编辑独立核实；不外推为所有品牌、商品、版本的全行业事实。病例学习与刷题的区别指完整情境内容和学习支持，不据此断言竞品题库不存在病例型题干。已有课程商品记载予以保留，需团队核对具体商品范围是否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  <a:p>
            <a:r>
              <a:t>本次增补：依据用户提供的评论截图归纳定性需求，不代表总体比例。CSCO、TNM、大查房资源由用户确认持有；表中内容联动、场景练习和备考价值属于拟转化方向，不宣称已上线或学习效果已证实。未独立核实竞品均缺少这些资源，不使用“竞品都没有”或独家声明。指南及TNM版本和适用考纲须在内容转化时匹配。第15页价格沿用旧表，本次未重新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  <a:p>
            <a:r>
              <a:t>本次增补：依据用户提供的评论截图归纳定性需求，不代表总体比例。CSCO、TNM、大查房资源由用户确认持有；表中内容联动、场景练习和备考价值属于拟转化方向，不宣称已上线或学习效果已证实。未独立核实竞品均缺少这些资源，不使用“竞品都没有”或独家声明。指南及TNM版本和适用考纲须在内容转化时匹配。第15页价格沿用旧表，本次未重新核验。</a:t>
            </a:r>
          </a:p>
          <a:p>
            <a:r>
              <a:t>2026-09-18更新：用户明确反馈本次调研竞品没有指南、TNM或病例内容，仅可刷题。页面按团队调研判断引用，未由本次编辑独立核实；不外推为所有品牌、商品、版本的全行业事实。病例学习与刷题的区别指完整情境内容和学习支持，不据此断言竞品题库不存在病例型题干。已有课程商品记载予以保留，需团队核对具体商品范围是否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at.ipmph.com/examzcms/c/2022-12-26/556633.s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市场规模、竞争格局与业务机会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核心结论">
            <a:extLst>
              <a:ext uri="{FF2B5EF4-FFF2-40B4-BE49-F238E27FC236}">
                <a16:creationId xmlns:a16="http://schemas.microsoft.com/office/drawing/2014/main" id="{AF2ADD23-A25D-4FCD-BADA-7DE605F04C2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>
            <a:extLst>
              <a:ext uri="{FF2B5EF4-FFF2-40B4-BE49-F238E27FC236}">
                <a16:creationId xmlns:a16="http://schemas.microsoft.com/office/drawing/2014/main" id="{79CB149E-1E76-4DF7-B183-F246CDECD6F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肿瘤职称是细分市场，机会在专科内容与现有用户</a:t>
            </a:r>
          </a:p>
        </p:txBody>
      </p:sp>
      <p:sp>
        <p:nvSpPr>
          <p:cNvPr id="3" name="市场规模不大，但与良医汇现有肿瘤医生用户高度匹配。">
            <a:extLst>
              <a:ext uri="{FF2B5EF4-FFF2-40B4-BE49-F238E27FC236}">
                <a16:creationId xmlns:a16="http://schemas.microsoft.com/office/drawing/2014/main" id="{4E8ED9C1-1921-4C13-8D2C-DFE5008DFA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沿用原方案规模估算；结合肿瘤医生 APP 的内容积累与目标用户触达，判断进入机会。</a:t>
            </a:r>
          </a:p>
        </p:txBody>
      </p:sp>
      <p:sp>
        <p:nvSpPr>
          <p:cNvPr id="4" name="02">
            <a:extLst>
              <a:ext uri="{FF2B5EF4-FFF2-40B4-BE49-F238E27FC236}">
                <a16:creationId xmlns:a16="http://schemas.microsoft.com/office/drawing/2014/main" id="{E2E4AE49-5110-414D-B209-F4A69EB68D5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86890A9F-9B09-4E65-925D-09162427CB3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5CF8B3E-8C46-443E-9BE8-E055C7332FCB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6.6–7.1 万">
            <a:extLst>
              <a:ext uri="{FF2B5EF4-FFF2-40B4-BE49-F238E27FC236}">
                <a16:creationId xmlns:a16="http://schemas.microsoft.com/office/drawing/2014/main" id="{B4E699BC-B3EE-4E9C-99C5-DF656F89ABC7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6.6–7.1 万</a:t>
            </a:r>
          </a:p>
        </p:txBody>
      </p:sp>
      <p:sp>
        <p:nvSpPr>
          <p:cNvPr id="11" name="全国狭义肿瘤科医师">
            <a:extLst>
              <a:ext uri="{FF2B5EF4-FFF2-40B4-BE49-F238E27FC236}">
                <a16:creationId xmlns:a16="http://schemas.microsoft.com/office/drawing/2014/main" id="{9C78ECEF-4A3E-4758-BFFA-CAD11D077A86}"/>
              </a:ext>
            </a:extLst>
          </p:cNvPr>
          <p:cNvSpPr>
            <a:spLocks noGrp="1"/>
          </p:cNvSpPr>
          <p:nvPr/>
        </p:nvSpPr>
        <p:spPr>
          <a:xfrm>
            <a:off x="7048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rPr>
              <a:t>原方案医师存量估算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0BAC88A-AF3E-4A1A-B44C-ADF983B2F032}"/>
              </a:ext>
            </a:extLst>
          </p:cNvPr>
          <p:cNvSpPr>
            <a:spLocks noGrp="1"/>
          </p:cNvSpPr>
          <p:nvPr/>
        </p:nvSpPr>
        <p:spPr>
          <a:xfrm>
            <a:off x="314325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0.33–0.71 万">
            <a:extLst>
              <a:ext uri="{FF2B5EF4-FFF2-40B4-BE49-F238E27FC236}">
                <a16:creationId xmlns:a16="http://schemas.microsoft.com/office/drawing/2014/main" id="{CBB4DEE9-077B-4F69-8D9B-82BEF6616D8C}"/>
              </a:ext>
            </a:extLst>
          </p:cNvPr>
          <p:cNvSpPr>
            <a:spLocks noGrp="1"/>
          </p:cNvSpPr>
          <p:nvPr/>
        </p:nvSpPr>
        <p:spPr>
          <a:xfrm>
            <a:off x="331470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0.33–0.71 万</a:t>
            </a:r>
          </a:p>
        </p:txBody>
      </p:sp>
      <p:sp>
        <p:nvSpPr>
          <p:cNvPr id="14" name="潜在年度考生">
            <a:extLst>
              <a:ext uri="{FF2B5EF4-FFF2-40B4-BE49-F238E27FC236}">
                <a16:creationId xmlns:a16="http://schemas.microsoft.com/office/drawing/2014/main" id="{E53E8FE0-1847-4409-A2E7-445ED033B5D4}"/>
              </a:ext>
            </a:extLst>
          </p:cNvPr>
          <p:cNvSpPr>
            <a:spLocks noGrp="1"/>
          </p:cNvSpPr>
          <p:nvPr/>
        </p:nvSpPr>
        <p:spPr>
          <a:xfrm>
            <a:off x="331470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原方案年度考生估算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C7252AE-C453-4846-8551-B4AC5AA6CBFB}"/>
              </a:ext>
            </a:extLst>
          </p:cNvPr>
          <p:cNvSpPr>
            <a:spLocks noGrp="1"/>
          </p:cNvSpPr>
          <p:nvPr/>
        </p:nvSpPr>
        <p:spPr>
          <a:xfrm>
            <a:off x="57531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 个专业">
            <a:extLst>
              <a:ext uri="{FF2B5EF4-FFF2-40B4-BE49-F238E27FC236}">
                <a16:creationId xmlns:a16="http://schemas.microsoft.com/office/drawing/2014/main" id="{86013250-096D-43E8-9F04-EE135CB1B5B4}"/>
              </a:ext>
            </a:extLst>
          </p:cNvPr>
          <p:cNvSpPr>
            <a:spLocks noGrp="1"/>
          </p:cNvSpPr>
          <p:nvPr/>
        </p:nvSpPr>
        <p:spPr>
          <a:xfrm>
            <a:off x="59245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 个专业</a:t>
            </a:r>
          </a:p>
        </p:txBody>
      </p:sp>
      <p:sp>
        <p:nvSpPr>
          <p:cNvPr id="17" name="341 / 342 / 343 同步上线">
            <a:extLst>
              <a:ext uri="{FF2B5EF4-FFF2-40B4-BE49-F238E27FC236}">
                <a16:creationId xmlns:a16="http://schemas.microsoft.com/office/drawing/2014/main" id="{0F328309-1599-4A2A-9C48-6120623C69BD}"/>
              </a:ext>
            </a:extLst>
          </p:cNvPr>
          <p:cNvSpPr>
            <a:spLocks noGrp="1"/>
          </p:cNvSpPr>
          <p:nvPr/>
        </p:nvSpPr>
        <p:spPr>
          <a:xfrm>
            <a:off x="59245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E48F290-B096-4169-A2CA-6A3075759F96}"/>
              </a:ext>
            </a:extLst>
          </p:cNvPr>
          <p:cNvSpPr>
            <a:spLocks noGrp="1"/>
          </p:cNvSpPr>
          <p:nvPr/>
        </p:nvSpPr>
        <p:spPr>
          <a:xfrm>
            <a:off x="8362950" y="1790700"/>
            <a:ext cx="329565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低成本试点">
            <a:extLst>
              <a:ext uri="{FF2B5EF4-FFF2-40B4-BE49-F238E27FC236}">
                <a16:creationId xmlns:a16="http://schemas.microsoft.com/office/drawing/2014/main" id="{375D0AE6-E9EE-44AE-BAF4-B8238E14F66A}"/>
              </a:ext>
            </a:extLst>
          </p:cNvPr>
          <p:cNvSpPr>
            <a:spLocks noGrp="1"/>
          </p:cNvSpPr>
          <p:nvPr/>
        </p:nvSpPr>
        <p:spPr>
          <a:xfrm>
            <a:off x="8534400" y="194310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收费待定</a:t>
            </a:r>
          </a:p>
        </p:txBody>
      </p:sp>
      <p:sp>
        <p:nvSpPr>
          <p:cNvPr id="20" name="真实使用与付费再决策">
            <a:extLst>
              <a:ext uri="{FF2B5EF4-FFF2-40B4-BE49-F238E27FC236}">
                <a16:creationId xmlns:a16="http://schemas.microsoft.com/office/drawing/2014/main" id="{FAF3E70D-91B1-481D-B151-4E9F6AAED684}"/>
              </a:ext>
            </a:extLst>
          </p:cNvPr>
          <p:cNvSpPr>
            <a:spLocks noGrp="1"/>
          </p:cNvSpPr>
          <p:nvPr/>
        </p:nvSpPr>
        <p:spPr>
          <a:xfrm>
            <a:off x="8534400" y="2505075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结合付费意愿与成本决策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09FEB37-E456-4413-B1EF-37EB92795483}"/>
              </a:ext>
            </a:extLst>
          </p:cNvPr>
          <p:cNvSpPr>
            <a:spLocks noGrp="1"/>
          </p:cNvSpPr>
          <p:nvPr/>
        </p:nvSpPr>
        <p:spPr>
          <a:xfrm>
            <a:off x="533400" y="32099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1">
            <a:extLst>
              <a:ext uri="{FF2B5EF4-FFF2-40B4-BE49-F238E27FC236}">
                <a16:creationId xmlns:a16="http://schemas.microsoft.com/office/drawing/2014/main" id="{666AB40D-F3A2-431C-B2DF-5AE2BBBA6D48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noGrp="1"/>
          </p:cNvSpPr>
          <p:nvPr/>
        </p:nvSpPr>
        <p:spPr>
          <a:xfrm>
            <a:off x="1504950" y="33432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市场机会</a:t>
            </a:r>
          </a:p>
        </p:txBody>
      </p:sp>
      <p:sp>
        <p:nvSpPr>
          <p:cNvPr id="24" name="接入现有职考小程序，复用答题、诊断、错题和 AI 辅助能力。">
            <a:extLst>
              <a:ext uri="{FF2B5EF4-FFF2-40B4-BE49-F238E27FC236}">
                <a16:creationId xmlns:a16="http://schemas.microsoft.com/office/drawing/2014/main" id="{53572D5A-1686-4F97-AEA3-AECBD49D3C27}"/>
              </a:ext>
            </a:extLst>
          </p:cNvPr>
          <p:cNvSpPr>
            <a:spLocks noGrp="1"/>
          </p:cNvSpPr>
          <p:nvPr/>
        </p:nvSpPr>
        <p:spPr>
          <a:xfrm>
            <a:off x="4953000" y="33432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从现有肿瘤医生用户中承接职称备考需求，实际考生数量需盘点。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F529BFE-CB34-49A7-A026-6744313429FE}"/>
              </a:ext>
            </a:extLst>
          </p:cNvPr>
          <p:cNvSpPr>
            <a:spLocks noGrp="1"/>
          </p:cNvSpPr>
          <p:nvPr/>
        </p:nvSpPr>
        <p:spPr>
          <a:xfrm>
            <a:off x="533400" y="40862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02">
            <a:extLst>
              <a:ext uri="{FF2B5EF4-FFF2-40B4-BE49-F238E27FC236}">
                <a16:creationId xmlns:a16="http://schemas.microsoft.com/office/drawing/2014/main" id="{FB5616E8-64DB-4F08-BC85-BCDCDA434711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>
              <a:ext uri="{FF2B5EF4-FFF2-40B4-BE49-F238E27FC236}">
                <a16:creationId xmlns:a16="http://schemas.microsoft.com/office/drawing/2014/main" id="{E01ADD5F-C4A5-447F-B1A1-99369F33499B}"/>
              </a:ext>
            </a:extLst>
          </p:cNvPr>
          <p:cNvSpPr>
            <a:spLocks noGrp="1"/>
          </p:cNvSpPr>
          <p:nvPr/>
        </p:nvSpPr>
        <p:spPr>
          <a:xfrm>
            <a:off x="1504950" y="42195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>
            <a:extLst>
              <a:ext uri="{FF2B5EF4-FFF2-40B4-BE49-F238E27FC236}">
                <a16:creationId xmlns:a16="http://schemas.microsoft.com/office/drawing/2014/main" id="{A738A5EA-23C5-4A45-AC8E-41856C975FC5}"/>
              </a:ext>
            </a:extLst>
          </p:cNvPr>
          <p:cNvSpPr>
            <a:spLocks noGrp="1"/>
          </p:cNvSpPr>
          <p:nvPr/>
        </p:nvSpPr>
        <p:spPr>
          <a:xfrm>
            <a:off x="4953000" y="42195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 CSCO 指南和大查房的内容积累，建立肿瘤专科备考的差异化。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59E7ED6-29B0-479C-833E-3AA8201C26A7}"/>
              </a:ext>
            </a:extLst>
          </p:cNvPr>
          <p:cNvSpPr>
            <a:spLocks noGrp="1"/>
          </p:cNvSpPr>
          <p:nvPr/>
        </p:nvSpPr>
        <p:spPr>
          <a:xfrm>
            <a:off x="533400" y="5572125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核心结论">
            <a:extLst>
              <a:ext uri="{FF2B5EF4-FFF2-40B4-BE49-F238E27FC236}">
                <a16:creationId xmlns:a16="http://schemas.microsoft.com/office/drawing/2014/main" id="{38702767-A290-49CE-8B08-B2ED2599058F}"/>
              </a:ext>
            </a:extLst>
          </p:cNvPr>
          <p:cNvSpPr>
            <a:spLocks noGrp="1"/>
          </p:cNvSpPr>
          <p:nvPr/>
        </p:nvSpPr>
        <p:spPr>
          <a:xfrm>
            <a:off x="704850" y="57245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noGrp="1"/>
          </p:cNvSpPr>
          <p:nvPr/>
        </p:nvSpPr>
        <p:spPr>
          <a:xfrm>
            <a:off x="2133600" y="5695950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围绕三个中级专业进入细分市场，以付费需求和服务成本判断商业可行性。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09600"/>
            <a:ext cx="10287000" cy="552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700" b="1">
                <a:solidFill>
                  <a:srgbClr val="102744"/>
                </a:solidFill>
                <a:latin typeface="Microsoft YaHei"/>
              </a:rPr>
              <a:t>依托肿瘤医生现有积累，拓展三个中级专业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62050"/>
            <a:ext cx="1066800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把专科内容与病例学习经验，延伸到肿瘤职称备考。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现有用户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通过肿瘤医生APP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触达潜在备考人群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3875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专科内容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3875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CSCO指南与TNM内容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支撑考点理解与依据查找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4350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病例积累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4350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大查房、影像与病例题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支撑具体场景中的判断练习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1908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400" y="3419475"/>
            <a:ext cx="1047750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本次市场分析范围：中级职称，三个专业同步推进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3900" y="4095750"/>
            <a:ext cx="1000125" cy="590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0700" y="4276725"/>
            <a:ext cx="21717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肿瘤内科学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3875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4375" y="4095750"/>
            <a:ext cx="1000125" cy="590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1175" y="4276725"/>
            <a:ext cx="21717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肿瘤外科学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4350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4850" y="4095750"/>
            <a:ext cx="1000125" cy="590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1650" y="4276725"/>
            <a:ext cx="21717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肿瘤放射治疗学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5219700"/>
            <a:ext cx="111252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高级职称暂不纳入本次分析；考试安排以当年官方通知为准。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5724525"/>
            <a:ext cx="11125200" cy="5715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3425" y="5895975"/>
            <a:ext cx="1076325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102744"/>
                </a:solidFill>
                <a:latin typeface="Microsoft YaHei"/>
              </a:rPr>
              <a:t>项目基础：已有用户渠道、指南与分期内容，以及可用于场景学习的大查房积累。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职考项目拓展｜肿瘤职称市场分析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8500" y="6553200"/>
            <a:ext cx="85725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03 / 21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首期聚焦中级市场，高级职称后续评估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中级考试按全国专业目录组织，适合统一分析；高级职称需按地区进一步拆分。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21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中级职称（主治医师）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高级职称（副高／正高）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考试性质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全国统一考试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按地区政策与安排核对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需求场景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取得中级资格的备考需求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晋升高级职称的考试与评审需求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市场分析口径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按专业及年度报名人数分析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按地区、专业及晋升要求拆分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同专业成绩两年滚动，包含补考需求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考试与评审要求存在地区差异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341、342、343三个专业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本次暂不纳入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中级全国统考更适合首期建设，高级职称因省级差异暂不纳入。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中级专业方向">
            <a:extLst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三个专业对应不同需求，统一纳入市场分析</a:t>
            </a:r>
          </a:p>
        </p:txBody>
      </p:sp>
      <p:sp>
        <p:nvSpPr>
          <p:cNvPr id="3" name="三者均为全国统考专业，本期不再设置单专业优先级。">
            <a:extLst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从实际报考专业识别市场；以下科室只作潜在用户触达线索。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341">
            <a:extLst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13" name="肿瘤科、内科医生">
            <a:extLst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肿瘤科、内科医生</a:t>
            </a:r>
          </a:p>
        </p:txBody>
      </p:sp>
      <p:sp>
        <p:nvSpPr>
          <p:cNvPr id="14" name="与既有用户结构匹配度较高，是主要需求来源">
            <a:extLst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rPr>
              <a:t>现有平台用户可提供线索；实际报考人数和需求占比需盘点。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42">
            <a:extLst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肿瘤外科医生</a:t>
            </a:r>
          </a:p>
        </p:txBody>
      </p:sp>
      <p:sp>
        <p:nvSpPr>
          <p:cNvPr id="20" name="器官专科分散，但完整覆盖更利于承接真实需求">
            <a:extLst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按实际报考代码识别，不能将所有外科医生计入342市场。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noGrp="1"/>
          </p:cNvSpPr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343">
            <a:extLst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25" name="放疗医生">
            <a:extLst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放疗医生</a:t>
            </a:r>
          </a:p>
        </p:txBody>
      </p:sp>
      <p:sp>
        <p:nvSpPr>
          <p:cNvPr id="26" name="用户群体较明确，可复用部分基础知识与产品能力">
            <a:extLst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noGrp="1"/>
          </p:cNvSpPr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通过放疗相关用户渠道触达，按报考年度识别当期需求。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本章结论">
            <a:extLst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三个专业共同构成研究范围；医生所属科室不能直接等同报考专业。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四科考试形成分科备考与跨年补考需求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四科及考试时间按已收集官方资料；题型按用户提供截图列作参考，适用年度与专业范围待核实。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21</a:t>
            </a:r>
          </a:p>
        </p:txBody>
      </p:sp>
      <p:graphicFrame>
        <p:nvGraphicFramePr>
          <p:cNvPr id="28" name="表格 27"/>
          <p:cNvGraphicFramePr/>
          <p:nvPr>
            <p:extLst>
              <p:ext uri="{D42A27DB-BD31-4B8C-83A1-F6EECF244321}">
                <p14:modId xmlns:p14="http://schemas.microsoft.com/office/powerpoint/2010/main" val="278146415"/>
              </p:ext>
            </p:extLst>
          </p:nvPr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题型参考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）、共用题干单选题（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题量不固定  </a:t>
                      </a: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需求分析关注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补考科目需求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同专业两年滚动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备考需求应区分首次报考与补考，不将全部用户视为四科全套购买者。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10477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题目详情｜案例分析题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112520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答案数量不固定，错选影响得分，作答不可回退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90625"/>
            <a:ext cx="111252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以下依据人卫2023年题型说明；具体考试须以当年、对应专业的实际题型说明为准。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02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85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一个病例，连续多问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每案例3–12问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随病程推进补充新信息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3875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5325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备选答案6–12个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325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正确答案数量不固定（≥1）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需结合本问条件逐项判断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435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580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进入下一问后不能回改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提交前检查当前选择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前问答错不等于后问自动判错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3333750"/>
            <a:ext cx="5286375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50" b="1">
                <a:solidFill>
                  <a:srgbClr val="102744"/>
                </a:solidFill>
                <a:latin typeface="Microsoft YaHei"/>
              </a:rPr>
              <a:t>怎样计分：先区分选项性质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790950"/>
            <a:ext cx="5524500" cy="1457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普通正确选项：选中 +1 个得分点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关键选项：选中 +2 个得分点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错误选项：选中 −1；无关选项：0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每问最低为0；漏选不获得对应得分点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43675" y="3305175"/>
            <a:ext cx="5114925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53225" y="3467100"/>
            <a:ext cx="46958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示例：正确答案为 A、B、D、E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829050"/>
            <a:ext cx="4695825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假设均为普通正确选项，C、F为错误选项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225" y="4219575"/>
            <a:ext cx="4695825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ABDE → 4个得分点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 → 2个；选 ABC → 1个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仅选 CF → 0个（不计负分）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5562600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3425" y="5715000"/>
            <a:ext cx="106680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FFFFFF"/>
                </a:solidFill>
                <a:latin typeface="Microsoft YaHei"/>
              </a:rPr>
              <a:t>备考难点：既要识别正确判断，也要排除错误干扰，不能靠猜选项数量。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276975"/>
            <a:ext cx="111252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6F84A0"/>
                </a:solidFill>
                <a:latin typeface="Microsoft YaHei"/>
              </a:rPr>
              <a:t>得分点不直接等于卷面分；不采用未经证实的“每题2分”换算和“第一问错、后面全错”说法。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591300"/>
            <a:ext cx="10287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3"/>
              </a:rPr>
              <a:t>来源：人卫医学网《2023年考试五个题型重点剖析》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3750" y="65913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第四科：多选还是少选，考生拿不准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3400" y="6543675"/>
            <a:ext cx="1019175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 dirty="0" err="1">
                <a:solidFill>
                  <a:srgbClr val="6F84A0"/>
                </a:solidFill>
                <a:latin typeface="Microsoft YaHei"/>
              </a:rPr>
              <a:t>来源：用户提供的评论截图</a:t>
            </a:r>
            <a:endParaRPr sz="900" b="0" dirty="0">
              <a:solidFill>
                <a:srgbClr val="6F84A0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08 / 21</a:t>
            </a:r>
          </a:p>
        </p:txBody>
      </p:sp>
      <p:pic>
        <p:nvPicPr>
          <p:cNvPr id="8" name="原图2裁剪_40_15_1405_1010" descr="img_v3_0215l_db74811d-78b0-4cc4-b41f-a9f0e3b9e7dg.jpg"/>
          <p:cNvPicPr>
            <a:picLocks noChangeAspect="1"/>
          </p:cNvPicPr>
          <p:nvPr/>
        </p:nvPicPr>
        <p:blipFill>
          <a:blip r:embed="rId3"/>
          <a:srcRect l="2778" t="1468" r="2431" b="1174"/>
          <a:stretch>
            <a:fillRect/>
          </a:stretch>
        </p:blipFill>
        <p:spPr>
          <a:xfrm>
            <a:off x="498634" y="1190625"/>
            <a:ext cx="5330666" cy="3885723"/>
          </a:xfrm>
          <a:prstGeom prst="rect">
            <a:avLst/>
          </a:prstGeom>
        </p:spPr>
      </p:pic>
      <p:pic>
        <p:nvPicPr>
          <p:cNvPr id="9" name="原图6裁剪_40_15_1405_680" descr="img_v3_0215l_eb3c8fe2-3ad2-4c10-93cc-75c8dcf6f97g.jpg"/>
          <p:cNvPicPr>
            <a:picLocks noChangeAspect="1"/>
          </p:cNvPicPr>
          <p:nvPr/>
        </p:nvPicPr>
        <p:blipFill>
          <a:blip r:embed="rId4"/>
          <a:srcRect l="2778" t="2177" r="2431" b="1306"/>
          <a:stretch>
            <a:fillRect/>
          </a:stretch>
        </p:blipFill>
        <p:spPr>
          <a:xfrm>
            <a:off x="6362700" y="1190625"/>
            <a:ext cx="5330666" cy="2596991"/>
          </a:xfrm>
          <a:prstGeom prst="rect">
            <a:avLst/>
          </a:prstGeom>
        </p:spPr>
      </p:pic>
      <p:pic>
        <p:nvPicPr>
          <p:cNvPr id="11" name="原图7裁剪_40_20_1405_705" descr="img_v3_0215l_5e99037b-e0be-451a-93c5-013e508009bg.jpg">
            <a:extLst>
              <a:ext uri="{FF2B5EF4-FFF2-40B4-BE49-F238E27FC236}">
                <a16:creationId xmlns:a16="http://schemas.microsoft.com/office/drawing/2014/main" id="{AD25E8C6-DC85-F6A8-9A5D-A7209A780F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78" t="1366" r="2431" b="51844"/>
          <a:stretch>
            <a:fillRect/>
          </a:stretch>
        </p:blipFill>
        <p:spPr>
          <a:xfrm>
            <a:off x="6362700" y="3985260"/>
            <a:ext cx="5330666" cy="26750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肿瘤外科：综合判断与 TNM 分期的复习困惑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3400" y="6543675"/>
            <a:ext cx="1019175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 dirty="0" err="1">
                <a:solidFill>
                  <a:srgbClr val="6F84A0"/>
                </a:solidFill>
                <a:latin typeface="Microsoft YaHei"/>
              </a:rPr>
              <a:t>来源：用户提供的评论截图</a:t>
            </a:r>
            <a:endParaRPr sz="900" b="0" dirty="0">
              <a:solidFill>
                <a:srgbClr val="6F84A0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10 / 21</a:t>
            </a:r>
          </a:p>
        </p:txBody>
      </p:sp>
      <p:pic>
        <p:nvPicPr>
          <p:cNvPr id="8" name="原图3裁剪_10_0_538_522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r="1825" b="45511"/>
          <a:stretch>
            <a:fillRect/>
          </a:stretch>
        </p:blipFill>
        <p:spPr>
          <a:xfrm>
            <a:off x="609600" y="1333500"/>
            <a:ext cx="5029200" cy="4972050"/>
          </a:xfrm>
          <a:prstGeom prst="rect">
            <a:avLst/>
          </a:prstGeom>
        </p:spPr>
      </p:pic>
      <p:pic>
        <p:nvPicPr>
          <p:cNvPr id="9" name="原图3裁剪_10_527_538_958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t="55010" r="1825"/>
          <a:stretch>
            <a:fillRect/>
          </a:stretch>
        </p:blipFill>
        <p:spPr>
          <a:xfrm>
            <a:off x="6362700" y="1333500"/>
            <a:ext cx="5029200" cy="4105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指南与 TNM 分期：考生怎样准备后两科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3400" y="6543675"/>
            <a:ext cx="1019175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 dirty="0" err="1">
                <a:solidFill>
                  <a:srgbClr val="6F84A0"/>
                </a:solidFill>
                <a:latin typeface="Microsoft YaHei"/>
              </a:rPr>
              <a:t>来源：用户提供的评论截图</a:t>
            </a:r>
            <a:endParaRPr sz="900" b="0" dirty="0">
              <a:solidFill>
                <a:srgbClr val="6F84A0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11 / 21</a:t>
            </a:r>
          </a:p>
        </p:txBody>
      </p:sp>
      <p:pic>
        <p:nvPicPr>
          <p:cNvPr id="8" name="原图1裁剪_40_20_1405_1270" descr="img_v3_0215l_c2398879-19b9-41b8-b1fe-c4ca63e164ag.jpg"/>
          <p:cNvPicPr>
            <a:picLocks noChangeAspect="1"/>
          </p:cNvPicPr>
          <p:nvPr/>
        </p:nvPicPr>
        <p:blipFill>
          <a:blip r:embed="rId3"/>
          <a:srcRect l="2778" t="1562" r="2431" b="781"/>
          <a:stretch>
            <a:fillRect/>
          </a:stretch>
        </p:blipFill>
        <p:spPr>
          <a:xfrm>
            <a:off x="533400" y="1333500"/>
            <a:ext cx="5330666" cy="4881562"/>
          </a:xfrm>
          <a:prstGeom prst="rect">
            <a:avLst/>
          </a:prstGeom>
        </p:spPr>
      </p:pic>
      <p:pic>
        <p:nvPicPr>
          <p:cNvPr id="9" name="原图4裁剪_40_20_1405_1210" descr="img_v3_0215l_d479295a-ae7e-4307-a9c0-8bb3af31e48g.jpg"/>
          <p:cNvPicPr>
            <a:picLocks noChangeAspect="1"/>
          </p:cNvPicPr>
          <p:nvPr/>
        </p:nvPicPr>
        <p:blipFill>
          <a:blip r:embed="rId4"/>
          <a:srcRect l="2778" t="1633" r="2431" b="1224"/>
          <a:stretch>
            <a:fillRect/>
          </a:stretch>
        </p:blipFill>
        <p:spPr>
          <a:xfrm>
            <a:off x="6286500" y="1333500"/>
            <a:ext cx="5330666" cy="46472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题库选择：考生关心有效题目和使用体验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3400" y="6543675"/>
            <a:ext cx="1019175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 dirty="0" err="1">
                <a:solidFill>
                  <a:srgbClr val="6F84A0"/>
                </a:solidFill>
                <a:latin typeface="Microsoft YaHei"/>
              </a:rPr>
              <a:t>来源：用户提供的评论截图</a:t>
            </a:r>
            <a:endParaRPr sz="900" b="0" dirty="0">
              <a:solidFill>
                <a:srgbClr val="6F84A0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12 / 21</a:t>
            </a:r>
          </a:p>
        </p:txBody>
      </p:sp>
      <p:pic>
        <p:nvPicPr>
          <p:cNvPr id="8" name="原图5裁剪_40_20_1405_103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804" r="2431" b="58585"/>
          <a:stretch>
            <a:fillRect/>
          </a:stretch>
        </p:blipFill>
        <p:spPr>
          <a:xfrm>
            <a:off x="533400" y="1333500"/>
            <a:ext cx="5330666" cy="3944302"/>
          </a:xfrm>
          <a:prstGeom prst="rect">
            <a:avLst/>
          </a:prstGeom>
        </p:spPr>
      </p:pic>
      <p:pic>
        <p:nvPicPr>
          <p:cNvPr id="9" name="原图5裁剪_40_1040_1405_14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41817" r="2431" b="41697"/>
          <a:stretch>
            <a:fillRect/>
          </a:stretch>
        </p:blipFill>
        <p:spPr>
          <a:xfrm>
            <a:off x="6286500" y="1333500"/>
            <a:ext cx="5330666" cy="1601152"/>
          </a:xfrm>
          <a:prstGeom prst="rect">
            <a:avLst/>
          </a:prstGeom>
        </p:spPr>
      </p:pic>
      <p:pic>
        <p:nvPicPr>
          <p:cNvPr id="10" name="原图5裁剪_40_1510_1405_23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60716" r="2431" b="5509"/>
          <a:stretch>
            <a:fillRect/>
          </a:stretch>
        </p:blipFill>
        <p:spPr>
          <a:xfrm>
            <a:off x="6286500" y="3038475"/>
            <a:ext cx="5330666" cy="32804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备考需求</a:t>
            </a:r>
            <a:r>
              <a:rPr sz="1200" b="1" dirty="0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｜</a:t>
            </a:r>
            <a:r>
              <a:rPr lang="zh-CN" altLang="en-US" sz="1200" b="1" dirty="0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第四大题</a:t>
            </a:r>
            <a:r>
              <a:rPr lang="en-US" altLang="zh-CN" sz="1200" b="1" dirty="0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12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病例分析</a:t>
            </a: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第四大题</a:t>
            </a: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侧重临床判断，备考需要理解与应用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人卫题型说明强调病情分析、判断与处理；结合所提供肿瘤学大纲及调研线索，归纳以下备考需求。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21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需要完成的判断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病例中的信息与易混点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对应的备考需求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综合分析病例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结合病史、影像与病理报告，判断诊断及分期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学习如何提取线索、串联检查结果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辨别治疗方案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结合分期、分型与既往治疗，辨别方案适用条件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理解治疗顺序及方案差异，如一线／后线选择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识别并发症与不良反应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结合症状、检查与用药史，区分可能原因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掌握鉴别依据与处理原则，梳理易错点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排除相似选项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选项看似都合理，但适用条件可能不同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理解为何选、为何不选，避免只记答案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市场需求线索：除知识记忆外，考生还需要病例分析、方案辨别和易错点讲解。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>
            <a:extLst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竞品提供刷题，我们能补上指南、分期与病例实战</a:t>
            </a:r>
          </a:p>
        </p:txBody>
      </p:sp>
      <p:sp>
        <p:nvSpPr>
          <p:cNvPr id="3" name="不同产品形态覆盖从传统权威题集到移动端题库与会员社区。">
            <a:extLst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据团队对本次调研竞品的判断：其备考体验限于刷题，未提供指南、TNM或病例学习内容。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21</a:t>
            </a:r>
          </a:p>
        </p:txBody>
      </p:sp>
      <p:graphicFrame>
        <p:nvGraphicFramePr>
          <p:cNvPr id="32" name="表格 31"/>
          <p:cNvGraphicFramePr/>
          <p:nvPr>
            <p:extLst>
              <p:ext uri="{D42A27DB-BD31-4B8C-83A1-F6EECF244321}">
                <p14:modId xmlns:p14="http://schemas.microsoft.com/office/powerpoint/2010/main" val="3487863424"/>
              </p:ext>
            </p:extLst>
          </p:nvPr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832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考生需求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调研竞品供给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我们已有的内容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差异化价值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答案依据从哪里找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刷题，缺少指南内容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CSCO指南与专家解读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结合考点解释方案的适用依据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TNM如何理解和应用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刷题，缺少TNM学习内容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TNM分期相关内容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对照分期条件，识别病例线索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病例中怎样判断选项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刷题，缺少病例场景学习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大查房、影像与病例素材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在具体情境中练判断、辨选项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怎样串联知识与实战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以题目练习为主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指南、TNM与查房内容积累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围绕病例组织理解与练习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>
            <a:extLst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本次调研竞品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阿虎医考">
            <a:extLst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noGrp="1"/>
          </p:cNvSpPr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noGrp="1"/>
          </p:cNvSpPr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肿瘤学圣题库">
            <a:extLst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圣才／圣题库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本章结论">
            <a:extLst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我们的差异：在刷题之外，提供指南依据、TNM分期理解与真实病例场景学习。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>
            <a:extLst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题库已有价格竞争，我们要提供更明确的购买理由</a:t>
            </a:r>
          </a:p>
        </p:txBody>
      </p:sp>
      <p:sp>
        <p:nvSpPr>
          <p:cNvPr id="3" name="公开价格样本用于理解购买门槛，不代表长期售价或完整权益完全可比。">
            <a:extLst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275" dirty="0">
                <a:solidFill>
                  <a:srgbClr val="6F84A0"/>
                </a:solidFill>
                <a:latin typeface="Microsoft YaHei"/>
              </a:rPr>
              <a:t>价格与权益沿用原调研表；从评论看，指南、分期和病例判断是值得进一步验证的付费需求。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15 / 21</a:t>
            </a:r>
          </a:p>
        </p:txBody>
      </p:sp>
      <p:graphicFrame>
        <p:nvGraphicFramePr>
          <p:cNvPr id="21" name="表格 20"/>
          <p:cNvGraphicFramePr/>
          <p:nvPr>
            <p:extLst>
              <p:ext uri="{D42A27DB-BD31-4B8C-83A1-F6EECF244321}">
                <p14:modId xmlns:p14="http://schemas.microsoft.com/office/powerpoint/2010/main" val="2271942251"/>
              </p:ext>
            </p:extLst>
          </p:nvPr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价格依据</a:t>
                      </a:r>
                      <a:endParaRPr sz="12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核心优势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对良医汇的启示</a:t>
                      </a:r>
                      <a:endParaRPr sz="12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  <a:endParaRPr sz="120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肿瘤内科、外科题库均 ¥160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全专业覆盖，学习链路完整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指南与病例解析补足刷题体验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341／342／343相关商品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341 / 342 / 343 合并题库 ¥168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覆盖广、合并销售、多终端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把TNM分期放入病例情境理解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341 ¥58；342 ¥68；343 ¥58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低价、单科购买、决策简单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用内容价值竞争，避免只比低价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肿瘤中级相关题库 ¥58 / 套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低价，基础刷题与错题完整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突出逐项判断与错因解释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题库及会员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统一会员制，非单题库购买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题库广、评论统计与社区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把分散讨论整理为有依据的学习内容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  <a:endParaRPr sz="15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购买理由：做题时能查依据、辨分期、练病例判断；收费方式与价格另行确定。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市场规模</a:t>
            </a: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原方案估算：医师存量约6.6–7.1万人</a:t>
            </a: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保留原稿数字作内部情景；下表原始输入、扣减方式与1.5%占比未经充分核实，不作为官方统计。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40F00C-783D-4222-913C-135669D4B69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49D48DF-2040-4A1C-B7B5-30D9FFF1065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19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8CF82C2-46AA-4AA7-BD16-BF9DAE5D42A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｜官方数据">
            <a:extLst>
              <a:ext uri="{FF2B5EF4-FFF2-40B4-BE49-F238E27FC236}">
                <a16:creationId xmlns:a16="http://schemas.microsoft.com/office/drawing/2014/main" id="{72635B7C-F7FD-4391-A445-CE753BD9FC94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A｜原始输入</a:t>
            </a:r>
          </a:p>
        </p:txBody>
      </p:sp>
      <p:sp>
        <p:nvSpPr>
          <p:cNvPr id="11" name="医师总量、分科占比、村卫生室人数">
            <a:extLst>
              <a:ext uri="{FF2B5EF4-FFF2-40B4-BE49-F238E27FC236}">
                <a16:creationId xmlns:a16="http://schemas.microsoft.com/office/drawing/2014/main" id="{8381095A-72C6-445B-AD4A-E29FD43FFFF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原稿人数，来源及口径未核实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132C8F5-A09A-4B8A-AE8C-7AA48D3F576F}"/>
              </a:ext>
            </a:extLst>
          </p:cNvPr>
          <p:cNvSpPr>
            <a:spLocks noGrp="1"/>
          </p:cNvSpPr>
          <p:nvPr/>
        </p:nvSpPr>
        <p:spPr>
          <a:xfrm>
            <a:off x="4276725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B｜同口径推算">
            <a:extLst>
              <a:ext uri="{FF2B5EF4-FFF2-40B4-BE49-F238E27FC236}">
                <a16:creationId xmlns:a16="http://schemas.microsoft.com/office/drawing/2014/main" id="{FE267912-9826-48CF-B035-68845150AE5A}"/>
              </a:ext>
            </a:extLst>
          </p:cNvPr>
          <p:cNvSpPr>
            <a:spLocks noGrp="1"/>
          </p:cNvSpPr>
          <p:nvPr/>
        </p:nvSpPr>
        <p:spPr>
          <a:xfrm>
            <a:off x="4448175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B｜原估算方法</a:t>
            </a:r>
          </a:p>
        </p:txBody>
      </p:sp>
      <p:sp>
        <p:nvSpPr>
          <p:cNvPr id="14" name="扣除村卫生室医师，再乘肿瘤科占比">
            <a:extLst>
              <a:ext uri="{FF2B5EF4-FFF2-40B4-BE49-F238E27FC236}">
                <a16:creationId xmlns:a16="http://schemas.microsoft.com/office/drawing/2014/main" id="{9A3A41E4-7BDB-46A3-9C76-B5ECE070AA39}"/>
              </a:ext>
            </a:extLst>
          </p:cNvPr>
          <p:cNvSpPr>
            <a:spLocks noGrp="1"/>
          </p:cNvSpPr>
          <p:nvPr/>
        </p:nvSpPr>
        <p:spPr>
          <a:xfrm>
            <a:off x="4448175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原扣减方法和专业占比未验证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E3DFDC3-9B27-4064-B604-945034BAAE83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｜内部情景">
            <a:extLst>
              <a:ext uri="{FF2B5EF4-FFF2-40B4-BE49-F238E27FC236}">
                <a16:creationId xmlns:a16="http://schemas.microsoft.com/office/drawing/2014/main" id="{5F6EB28D-CE83-4D6B-AE20-051E0D779E7A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C｜内部情景</a:t>
            </a:r>
          </a:p>
        </p:txBody>
      </p:sp>
      <p:sp>
        <p:nvSpPr>
          <p:cNvPr id="17" name="年度报考窗口占存量医师 5%–10%">
            <a:extLst>
              <a:ext uri="{FF2B5EF4-FFF2-40B4-BE49-F238E27FC236}">
                <a16:creationId xmlns:a16="http://schemas.microsoft.com/office/drawing/2014/main" id="{5C64DFD8-80E2-4766-962F-26320C1C3755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5%–10%报考比例为内部假设</a:t>
            </a:r>
          </a:p>
        </p:txBody>
      </p:sp>
      <p:graphicFrame>
        <p:nvGraphicFramePr>
          <p:cNvPr id="48" name="表格 47"/>
          <p:cNvGraphicFramePr/>
          <p:nvPr/>
        </p:nvGraphicFramePr>
        <p:xfrm>
          <a:off x="533400" y="2857500"/>
          <a:ext cx="11125200" cy="1428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医师总量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村卫生室医师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同口径分母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肿瘤科占比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中心值推算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4,782,086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508,452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4,273,634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64,105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5,081,532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521,665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4,559,867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68,398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72D49A1B-3E81-4CC7-B1C1-C2BA6D2E8881}"/>
              </a:ext>
            </a:extLst>
          </p:cNvPr>
          <p:cNvSpPr>
            <a:spLocks noGrp="1"/>
          </p:cNvSpPr>
          <p:nvPr/>
        </p:nvSpPr>
        <p:spPr>
          <a:xfrm>
            <a:off x="533400" y="4552950"/>
            <a:ext cx="3381375" cy="952500"/>
          </a:xfrm>
          <a:prstGeom prst="roundRect">
            <a:avLst>
              <a:gd name="adj" fmla="val 20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68,398 人">
            <a:extLst>
              <a:ext uri="{FF2B5EF4-FFF2-40B4-BE49-F238E27FC236}">
                <a16:creationId xmlns:a16="http://schemas.microsoft.com/office/drawing/2014/main" id="{65A9F115-A940-416A-BCD4-4A5E7F474C2E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68,398 人</a:t>
            </a:r>
          </a:p>
        </p:txBody>
      </p:sp>
      <p:sp>
        <p:nvSpPr>
          <p:cNvPr id="21" name="2024 年中心值推算">
            <a:extLst>
              <a:ext uri="{FF2B5EF4-FFF2-40B4-BE49-F238E27FC236}">
                <a16:creationId xmlns:a16="http://schemas.microsoft.com/office/drawing/2014/main" id="{8D2F79F9-5A4B-49C1-8B50-ACC20E283FA2}"/>
              </a:ext>
            </a:extLst>
          </p:cNvPr>
          <p:cNvSpPr>
            <a:spLocks noGrp="1"/>
          </p:cNvSpPr>
          <p:nvPr/>
        </p:nvSpPr>
        <p:spPr>
          <a:xfrm>
            <a:off x="742950" y="5172075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原2024年存量推算（非考生数）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FE17780-7650-452C-9266-B07AD9E7F09E}"/>
              </a:ext>
            </a:extLst>
          </p:cNvPr>
          <p:cNvSpPr>
            <a:spLocks noGrp="1"/>
          </p:cNvSpPr>
          <p:nvPr/>
        </p:nvSpPr>
        <p:spPr>
          <a:xfrm>
            <a:off x="4105275" y="45529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6.61–7.07 万人">
            <a:extLst>
              <a:ext uri="{FF2B5EF4-FFF2-40B4-BE49-F238E27FC236}">
                <a16:creationId xmlns:a16="http://schemas.microsoft.com/office/drawing/2014/main" id="{FB1FCCCB-B1C3-45BB-8E95-4964434C099A}"/>
              </a:ext>
            </a:extLst>
          </p:cNvPr>
          <p:cNvSpPr>
            <a:spLocks noGrp="1"/>
          </p:cNvSpPr>
          <p:nvPr/>
        </p:nvSpPr>
        <p:spPr>
          <a:xfrm>
            <a:off x="4314825" y="468630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6.61–7.07 万人</a:t>
            </a:r>
          </a:p>
        </p:txBody>
      </p:sp>
      <p:sp>
        <p:nvSpPr>
          <p:cNvPr id="24" name="按 1.45%–1.55% 取整误差">
            <a:extLst>
              <a:ext uri="{FF2B5EF4-FFF2-40B4-BE49-F238E27FC236}">
                <a16:creationId xmlns:a16="http://schemas.microsoft.com/office/drawing/2014/main" id="{D4A79A7B-4161-400E-A403-174EEE9F50F6}"/>
              </a:ext>
            </a:extLst>
          </p:cNvPr>
          <p:cNvSpPr>
            <a:spLocks noGrp="1"/>
          </p:cNvSpPr>
          <p:nvPr/>
        </p:nvSpPr>
        <p:spPr>
          <a:xfrm>
            <a:off x="4314825" y="5172075"/>
            <a:ext cx="2905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原比例情景范围，非置信区间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EF2E22E-C4C6-4874-8E0B-F8B4D10D8ED5}"/>
              </a:ext>
            </a:extLst>
          </p:cNvPr>
          <p:cNvSpPr>
            <a:spLocks noGrp="1"/>
          </p:cNvSpPr>
          <p:nvPr/>
        </p:nvSpPr>
        <p:spPr>
          <a:xfrm>
            <a:off x="7724775" y="4552950"/>
            <a:ext cx="3933825" cy="952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 w="9525">
            <a:solidFill>
              <a:srgbClr val="E8D4B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口径更正">
            <a:extLst>
              <a:ext uri="{FF2B5EF4-FFF2-40B4-BE49-F238E27FC236}">
                <a16:creationId xmlns:a16="http://schemas.microsoft.com/office/drawing/2014/main" id="{EBE52730-ECC1-4A4F-B5CB-AC1C81436512}"/>
              </a:ext>
            </a:extLst>
          </p:cNvPr>
          <p:cNvSpPr>
            <a:spLocks noGrp="1"/>
          </p:cNvSpPr>
          <p:nvPr/>
        </p:nvSpPr>
        <p:spPr>
          <a:xfrm>
            <a:off x="7934325" y="46958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27" name="10–12.5 万人不能直接作考试市场分母">
            <a:extLst>
              <a:ext uri="{FF2B5EF4-FFF2-40B4-BE49-F238E27FC236}">
                <a16:creationId xmlns:a16="http://schemas.microsoft.com/office/drawing/2014/main" id="{2D7CD48C-E673-4CD8-8378-8FB1A847DC70}"/>
              </a:ext>
            </a:extLst>
          </p:cNvPr>
          <p:cNvSpPr>
            <a:spLocks noGrp="1"/>
          </p:cNvSpPr>
          <p:nvPr/>
        </p:nvSpPr>
        <p:spPr>
          <a:xfrm>
            <a:off x="7934325" y="5057775"/>
            <a:ext cx="342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医师存量不等于年度考生人数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F5E0A1-D1BE-42F4-B846-1CCEDAA11B1A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本章结论">
            <a:extLst>
              <a:ext uri="{FF2B5EF4-FFF2-40B4-BE49-F238E27FC236}">
                <a16:creationId xmlns:a16="http://schemas.microsoft.com/office/drawing/2014/main" id="{F48CE99C-2D99-4FB4-9A2A-22766C7874E4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0" name="全国狭义肿瘤科医师约 6.6–7.1 万人，广义口径不能直接作为考试分母">
            <a:extLst>
              <a:ext uri="{FF2B5EF4-FFF2-40B4-BE49-F238E27FC236}">
                <a16:creationId xmlns:a16="http://schemas.microsoft.com/office/drawing/2014/main" id="{D16464C1-6C04-4151-956A-C3EF52785C17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这组数值仅保留原方案量级假设，不能据此宣称全国实际考生规模。</a:t>
            </a: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年度考生规模</a:t>
            </a: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原年度考生估算约0.33–0.71万人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保留原稿图表与分专业拆分，用作内部情景；报考比例及专业分配均未得到真实报名数据验证。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DAF31-80EE-47B3-BD08-A340F85DD35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B05C885-4C2C-4E32-9517-AA06FE34AD26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20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BD7961-C0F1-402F-8435-2A1B40EAE56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6667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723900" y="1962150"/>
          <a:ext cx="619125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表格 27"/>
          <p:cNvGraphicFramePr/>
          <p:nvPr/>
        </p:nvGraphicFramePr>
        <p:xfrm>
          <a:off x="7524750" y="1752600"/>
          <a:ext cx="4133850" cy="30480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肿瘤内科学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1,700–3,400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 肿瘤外科学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700–1,400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 肿瘤放射治疗学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1,000–2,000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3,400–6,800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6858F274-5F58-48ED-AA72-4A3ACC86C5A4}"/>
              </a:ext>
            </a:extLst>
          </p:cNvPr>
          <p:cNvSpPr>
            <a:spLocks noGrp="1"/>
          </p:cNvSpPr>
          <p:nvPr/>
        </p:nvSpPr>
        <p:spPr>
          <a:xfrm>
            <a:off x="533400" y="5029200"/>
            <a:ext cx="11125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口径提示">
            <a:extLst>
              <a:ext uri="{FF2B5EF4-FFF2-40B4-BE49-F238E27FC236}">
                <a16:creationId xmlns:a16="http://schemas.microsoft.com/office/drawing/2014/main" id="{0CF2A386-3015-4BFF-8FB3-FA29666E8F70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口径提示</a:t>
            </a:r>
          </a:p>
        </p:txBody>
      </p:sp>
      <p:sp>
        <p:nvSpPr>
          <p:cNvPr id="14" name="考虑肿瘤科占比取整误差，情景范围约 3,306–7,068 人；测算人数">
            <a:extLst>
              <a:ext uri="{FF2B5EF4-FFF2-40B4-BE49-F238E27FC236}">
                <a16:creationId xmlns:a16="http://schemas.microsoft.com/office/drawing/2014/main" id="{B595953E-D32C-456F-858E-0CD3B1DAFD87}"/>
              </a:ext>
            </a:extLst>
          </p:cNvPr>
          <p:cNvSpPr>
            <a:spLocks noGrp="1"/>
          </p:cNvSpPr>
          <p:nvPr/>
        </p:nvSpPr>
        <p:spPr>
          <a:xfrm>
            <a:off x="2038350" y="5133975"/>
            <a:ext cx="923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原情景范围约3,306–7,068人；不是统计置信区间，考生人数也不等于付费用户。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76D3394-96C4-4F0A-8B55-B29037459AC7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本章结论">
            <a:extLst>
              <a:ext uri="{FF2B5EF4-FFF2-40B4-BE49-F238E27FC236}">
                <a16:creationId xmlns:a16="http://schemas.microsoft.com/office/drawing/2014/main" id="{D6462E35-2F94-4CFC-A006-D07598FF48E6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7" name="潜在年度考生约 0.3–0.7 万人，中性约 0.5 万人，只支持低成本">
            <a:extLst>
              <a:ext uri="{FF2B5EF4-FFF2-40B4-BE49-F238E27FC236}">
                <a16:creationId xmlns:a16="http://schemas.microsoft.com/office/drawing/2014/main" id="{E0A251F4-348A-4066-86CF-BCC0E2BA8254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原中性情景约5,000人／年；市场收入还取决于付费比例、客单价与成本。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以指南、TNM与病例实战，切入肿瘤职称备考市场</a:t>
            </a: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用户评论提供了明确线索：资料需要整合，分期需要理解，病例题需要有依据地判断。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21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聚焦341、342、343中需要补强分期与病例判断的考生。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据团队调研，竞品仅提供刷题，缺少指南、TNM与病例内容。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以指南和TNM解释判断依据，以大查房提供真实病例学习场景。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主要通过小程序承接购买，验证付费意愿；价格与权益待定。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用已有专科内容提供明确的购买价值：在病例场景中理解知识、练习判断。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2323</Words>
  <Application>Microsoft Office PowerPoint</Application>
  <DocSecurity>0</DocSecurity>
  <PresentationFormat>宽屏</PresentationFormat>
  <Paragraphs>381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8</cp:revision>
  <dcterms:created xsi:type="dcterms:W3CDTF">2026-09-17T03:47:42Z</dcterms:created>
  <dcterms:modified xsi:type="dcterms:W3CDTF">2026-09-18T05:52:25Z</dcterms:modified>
</cp:coreProperties>
</file>