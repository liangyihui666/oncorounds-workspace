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19"/>
    <p:sldId id="262" r:id="rId8"/>
    <p:sldId id="263" r:id="rId9"/>
    <p:sldId id="269" r:id="rId20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624"/>
  </p:normalViewPr>
  <p:slideViewPr>
    <p:cSldViewPr snapToGrid="0">
      <p:cViewPr varScale="1">
        <p:scale>
          <a:sx n="111" d="100"/>
          <a:sy n="111" d="100"/>
        </p:scale>
        <p:origin x="73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7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  <a:p>
            <a:r>
              <a:t>2026考生须知：https://www.21wecan.com/wsrcw/c100193/202511/1002760.shtml</a:t>
            </a:r>
          </a:p>
          <a:p>
            <a:r>
              <a:t>共用试卷目录：https://www.21wecan.com/wsrcw/c100193/202208/1d3cddb94d034000a0e8a4178b8f92a6.shtml</a:t>
            </a:r>
          </a:p>
          <a:p>
            <a:r>
              <a:t>合格标准相关官方通知：https://www.huaihua.gov.cn/wsjkw/c100587/202512/73a23312619d4460a3685c7cd0e0645c.shtml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  <a:p>
            <a:r>
              <a:t>2026考生须知：https://www.21wecan.com/wsrcw/c100193/202511/1002760.shtml</a:t>
            </a:r>
          </a:p>
          <a:p>
            <a:r>
              <a:t>共用试卷目录：https://www.21wecan.com/wsrcw/c100193/202208/1d3cddb94d034000a0e8a4178b8f92a6.shtml</a:t>
            </a:r>
          </a:p>
          <a:p>
            <a:r>
              <a:t>合格标准相关官方通知：https://www.huaihua.gov.cn/wsjkw/c100587/202512/73a23312619d4460a3685c7cd0e0645c.shtml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  <a:p>
            <a:r>
              <a:t>竞品覆盖、价格与功能尚需官方商品页面留证，不采用原160元、168元、58元等价格或合并商品结论。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  <a:p>
            <a:r>
              <a:t>竞品覆盖、价格与功能尚需官方商品页面留证，不采用原160元、168元、58元等价格或合并商品结论。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用户要求恢复最初方案数字。68,398为原2024医师存量推算，6.61–7.07万为原情景范围；年度3,400–6,800及分专业拆分来自原稿。原分母扣减、1.5%占比及5%–10%报考比例没有充分依据，本次不重新认定为准确统计。所有数字只作原方案内部情景，禁止引用为官方报名人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用户要求恢复最初方案数字。68,398为原2024医师存量推算，6.61–7.07万为原情景范围；年度3,400–6,800及分专业拆分来自原稿。原分母扣减、1.5%占比及5%–10%报考比例没有充分依据，本次不重新认定为准确统计。所有数字只作原方案内部情景，禁止引用为官方报名人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  <a:p>
            <a:r>
              <a:t>本页源于机构销售聊天截图，主要讨论肿瘤内科，不代表已验证需求或三专业共同考试事实。不采用病例占比、学习截止时间等机构断言。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归属与持有情况来自用户确认，具体使用范围及版本在内容上线时核对。竞品尚未完成同口径调查，不写“其他竞品均没有”。已读取outputs/五套优化题与病例JSON-20260904下5份题目JSON，共25题，包含胃癌免疫相关胆管炎、GEJ腺癌、食管鳞癌、乳腺小叶癌、炎性乳腺癌。样题引用包含CAP、RECIST、ASCO、研究论文等，不声称全部样题源于CSCO，也未在本次复核医学答案。图像素材持有来自用户说明，读取的题目JSON以文字描述影像为主。大查房题不等同考试真题；需映射考纲、评估难度、核对依据并补齐外科和放疗覆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圆角矩形 1">
            <a:extLst>
              <a:ext uri="{FF2B5EF4-FFF2-40B4-BE49-F238E27FC236}">
                <a16:creationId xmlns:a16="http://schemas.microsoft.com/office/drawing/2014/main" id="{85EE8ECE-FA42-418A-B3D9-886EE2D87493}"/>
              </a:ext>
            </a:extLst>
          </p:cNvPr>
          <p:cNvSpPr>
            <a:spLocks noGrp="1"/>
          </p:cNvSpPr>
          <p:nvPr/>
        </p:nvSpPr>
        <p:spPr>
          <a:xfrm>
            <a:off x="323850" y="381000"/>
            <a:ext cx="5219700" cy="6096000"/>
          </a:xfrm>
          <a:prstGeom prst="roundRect">
            <a:avLst>
              <a:gd name="adj" fmla="val 5109"/>
            </a:avLst>
          </a:prstGeom>
          <a:solidFill>
            <a:srgbClr val="071B36"/>
          </a:solidFill>
          <a:ln w="9525">
            <a:solidFill>
              <a:srgbClr val="24476E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职考项目拓展">
            <a:extLst>
              <a:ext uri="{FF2B5EF4-FFF2-40B4-BE49-F238E27FC236}">
                <a16:creationId xmlns:a16="http://schemas.microsoft.com/office/drawing/2014/main" id="{6F59EA63-B080-4518-839C-81A1D8F1AC6B}"/>
              </a:ext>
            </a:extLst>
          </p:cNvPr>
          <p:cNvSpPr>
            <a:spLocks noGrp="1"/>
          </p:cNvSpPr>
          <p:nvPr/>
        </p:nvSpPr>
        <p:spPr>
          <a:xfrm>
            <a:off x="628650" y="781050"/>
            <a:ext cx="3905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职考项目拓展</a:t>
            </a:r>
          </a:p>
        </p:txBody>
      </p:sp>
      <p:sp>
        <p:nvSpPr>
          <p:cNvPr id="4" name="肿瘤职称 市场分析">
            <a:extLst>
              <a:ext uri="{FF2B5EF4-FFF2-40B4-BE49-F238E27FC236}">
                <a16:creationId xmlns:a16="http://schemas.microsoft.com/office/drawing/2014/main" id="{AD90D4A1-D79C-400C-823A-1006854AF5CC}"/>
              </a:ext>
            </a:extLst>
          </p:cNvPr>
          <p:cNvSpPr>
            <a:spLocks noGrp="1"/>
          </p:cNvSpPr>
          <p:nvPr/>
        </p:nvSpPr>
        <p:spPr>
          <a:xfrm>
            <a:off x="628650" y="1695450"/>
            <a:ext cx="4572000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肿瘤职称</a:t>
            </a:r>
          </a:p>
          <a:p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市场分析</a:t>
            </a:r>
          </a:p>
        </p:txBody>
      </p:sp>
      <p:sp>
        <p:nvSpPr>
          <p:cNvPr id="5" name="市场规模、竞品格局与首期产品范围">
            <a:extLst>
              <a:ext uri="{FF2B5EF4-FFF2-40B4-BE49-F238E27FC236}">
                <a16:creationId xmlns:a16="http://schemas.microsoft.com/office/drawing/2014/main" id="{AEB54D5D-0C52-4EB1-869D-EF8D35824C1E}"/>
              </a:ext>
            </a:extLst>
          </p:cNvPr>
          <p:cNvSpPr>
            <a:spLocks noGrp="1"/>
          </p:cNvSpPr>
          <p:nvPr/>
        </p:nvSpPr>
        <p:spPr>
          <a:xfrm>
            <a:off x="666750" y="3590925"/>
            <a:ext cx="4381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rPr>
              <a:t>市场规模、竞品格局与首期产品范围</a:t>
            </a:r>
          </a:p>
        </p:txBody>
      </p:sp>
      <p:sp>
        <p:nvSpPr>
          <p:cNvPr id="8" name="2026.09">
            <a:extLst>
              <a:ext uri="{FF2B5EF4-FFF2-40B4-BE49-F238E27FC236}">
                <a16:creationId xmlns:a16="http://schemas.microsoft.com/office/drawing/2014/main" id="{818A5201-6628-453E-A582-441D99FBC96B}"/>
              </a:ext>
            </a:extLst>
          </p:cNvPr>
          <p:cNvSpPr>
            <a:spLocks noGrp="1"/>
          </p:cNvSpPr>
          <p:nvPr/>
        </p:nvSpPr>
        <p:spPr>
          <a:xfrm>
            <a:off x="666750" y="600135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390344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核心结论">
            <a:extLst>
              <a:ext uri="{FF2B5EF4-FFF2-40B4-BE49-F238E27FC236}">
                <a16:creationId xmlns:a16="http://schemas.microsoft.com/office/drawing/2014/main" id="{AF2ADD23-A25D-4FCD-BADA-7DE605F04C29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2" name="同步上线 341、342、343，以低成本试点验证真实价值">
            <a:extLst>
              <a:ext uri="{FF2B5EF4-FFF2-40B4-BE49-F238E27FC236}">
                <a16:creationId xmlns:a16="http://schemas.microsoft.com/office/drawing/2014/main" id="{79CB149E-1E76-4DF7-B183-F246CDECD6FB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同步上线 341、342、343，以试点验证真实价值</a:t>
            </a:r>
          </a:p>
        </p:txBody>
      </p:sp>
      <p:sp>
        <p:nvSpPr>
          <p:cNvPr id="3" name="市场规模不大，但与良医汇现有肿瘤医生用户高度匹配。">
            <a:extLst>
              <a:ext uri="{FF2B5EF4-FFF2-40B4-BE49-F238E27FC236}">
                <a16:creationId xmlns:a16="http://schemas.microsoft.com/office/drawing/2014/main" id="{4E8ED9C1-1921-4C13-8D2C-DFE5008DFA62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现有肿瘤医生用户提供触达基础，实际考生数量与需求仍需盘点。</a:t>
            </a:r>
          </a:p>
        </p:txBody>
      </p:sp>
      <p:sp>
        <p:nvSpPr>
          <p:cNvPr id="4" name="02">
            <a:extLst>
              <a:ext uri="{FF2B5EF4-FFF2-40B4-BE49-F238E27FC236}">
                <a16:creationId xmlns:a16="http://schemas.microsoft.com/office/drawing/2014/main" id="{E2E4AE49-5110-414D-B209-F4A69EB68D58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B0042E1-E943-43B8-9699-40D17015E4CD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D712F1-1A2D-4313-B331-080778D7B249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86890A9F-9B09-4E65-925D-09162427CB37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2 / 12">
            <a:extLst>
              <a:ext uri="{FF2B5EF4-FFF2-40B4-BE49-F238E27FC236}">
                <a16:creationId xmlns:a16="http://schemas.microsoft.com/office/drawing/2014/main" id="{357E8A26-28F6-4119-8ECF-46D3F19AB421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02 / 14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45CF8B3E-8C46-443E-9BE8-E055C7332FCB}"/>
              </a:ext>
            </a:extLst>
          </p:cNvPr>
          <p:cNvSpPr>
            <a:spLocks noGrp="1"/>
          </p:cNvSpPr>
          <p:nvPr/>
        </p:nvSpPr>
        <p:spPr>
          <a:xfrm>
            <a:off x="533400" y="1790700"/>
            <a:ext cx="2400300" cy="110490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6.6–7.1 万">
            <a:extLst>
              <a:ext uri="{FF2B5EF4-FFF2-40B4-BE49-F238E27FC236}">
                <a16:creationId xmlns:a16="http://schemas.microsoft.com/office/drawing/2014/main" id="{B4E699BC-B3EE-4E9C-99C5-DF656F89ABC7}"/>
              </a:ext>
            </a:extLst>
          </p:cNvPr>
          <p:cNvSpPr>
            <a:spLocks noGrp="1"/>
          </p:cNvSpPr>
          <p:nvPr/>
        </p:nvSpPr>
        <p:spPr>
          <a:xfrm>
            <a:off x="704850" y="1943100"/>
            <a:ext cx="20574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四科备考</a:t>
            </a:r>
          </a:p>
        </p:txBody>
      </p:sp>
      <p:sp>
        <p:nvSpPr>
          <p:cNvPr id="11" name="全国狭义肿瘤科医师">
            <a:extLst>
              <a:ext uri="{FF2B5EF4-FFF2-40B4-BE49-F238E27FC236}">
                <a16:creationId xmlns:a16="http://schemas.microsoft.com/office/drawing/2014/main" id="{9C78ECEF-4A3E-4758-BFFA-CAD11D077A86}"/>
              </a:ext>
            </a:extLst>
          </p:cNvPr>
          <p:cNvSpPr>
            <a:spLocks noGrp="1"/>
          </p:cNvSpPr>
          <p:nvPr/>
        </p:nvSpPr>
        <p:spPr>
          <a:xfrm>
            <a:off x="704850" y="2505075"/>
            <a:ext cx="20574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C6D7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同专业成绩两年滚动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A0BAC88A-AF3E-4A1A-B44C-ADF983B2F032}"/>
              </a:ext>
            </a:extLst>
          </p:cNvPr>
          <p:cNvSpPr>
            <a:spLocks noGrp="1"/>
          </p:cNvSpPr>
          <p:nvPr/>
        </p:nvSpPr>
        <p:spPr>
          <a:xfrm>
            <a:off x="3143250" y="1790700"/>
            <a:ext cx="2400300" cy="110490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0.33–0.71 万">
            <a:extLst>
              <a:ext uri="{FF2B5EF4-FFF2-40B4-BE49-F238E27FC236}">
                <a16:creationId xmlns:a16="http://schemas.microsoft.com/office/drawing/2014/main" id="{CBB4DEE9-077B-4F69-8D9B-82BEF6616D8C}"/>
              </a:ext>
            </a:extLst>
          </p:cNvPr>
          <p:cNvSpPr>
            <a:spLocks noGrp="1"/>
          </p:cNvSpPr>
          <p:nvPr/>
        </p:nvSpPr>
        <p:spPr>
          <a:xfrm>
            <a:off x="3314700" y="1943100"/>
            <a:ext cx="20574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5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两科共用</a:t>
            </a:r>
          </a:p>
        </p:txBody>
      </p:sp>
      <p:sp>
        <p:nvSpPr>
          <p:cNvPr id="14" name="潜在年度考生">
            <a:extLst>
              <a:ext uri="{FF2B5EF4-FFF2-40B4-BE49-F238E27FC236}">
                <a16:creationId xmlns:a16="http://schemas.microsoft.com/office/drawing/2014/main" id="{E53E8FE0-1847-4409-A2E7-445ED033B5D4}"/>
              </a:ext>
            </a:extLst>
          </p:cNvPr>
          <p:cNvSpPr>
            <a:spLocks noGrp="1"/>
          </p:cNvSpPr>
          <p:nvPr/>
        </p:nvSpPr>
        <p:spPr>
          <a:xfrm>
            <a:off x="3314700" y="2505075"/>
            <a:ext cx="20574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基础知识、相关专业知识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4C7252AE-C453-4846-8551-B4AC5AA6CBFB}"/>
              </a:ext>
            </a:extLst>
          </p:cNvPr>
          <p:cNvSpPr>
            <a:spLocks noGrp="1"/>
          </p:cNvSpPr>
          <p:nvPr/>
        </p:nvSpPr>
        <p:spPr>
          <a:xfrm>
            <a:off x="5753100" y="1790700"/>
            <a:ext cx="2400300" cy="110490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3 个专业">
            <a:extLst>
              <a:ext uri="{FF2B5EF4-FFF2-40B4-BE49-F238E27FC236}">
                <a16:creationId xmlns:a16="http://schemas.microsoft.com/office/drawing/2014/main" id="{86013250-096D-43E8-9F04-EE135CB1B5B4}"/>
              </a:ext>
            </a:extLst>
          </p:cNvPr>
          <p:cNvSpPr>
            <a:spLocks noGrp="1"/>
          </p:cNvSpPr>
          <p:nvPr/>
        </p:nvSpPr>
        <p:spPr>
          <a:xfrm>
            <a:off x="5924550" y="1943100"/>
            <a:ext cx="20574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 个专业</a:t>
            </a:r>
          </a:p>
        </p:txBody>
      </p:sp>
      <p:sp>
        <p:nvSpPr>
          <p:cNvPr id="17" name="341 / 342 / 343 同步上线">
            <a:extLst>
              <a:ext uri="{FF2B5EF4-FFF2-40B4-BE49-F238E27FC236}">
                <a16:creationId xmlns:a16="http://schemas.microsoft.com/office/drawing/2014/main" id="{0F328309-1599-4A2A-9C48-6120623C69BD}"/>
              </a:ext>
            </a:extLst>
          </p:cNvPr>
          <p:cNvSpPr>
            <a:spLocks noGrp="1"/>
          </p:cNvSpPr>
          <p:nvPr/>
        </p:nvSpPr>
        <p:spPr>
          <a:xfrm>
            <a:off x="5924550" y="2505075"/>
            <a:ext cx="20574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341 / 342 / 343 同步上线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7E48F290-B096-4169-A2CA-6A3075759F96}"/>
              </a:ext>
            </a:extLst>
          </p:cNvPr>
          <p:cNvSpPr>
            <a:spLocks noGrp="1"/>
          </p:cNvSpPr>
          <p:nvPr/>
        </p:nvSpPr>
        <p:spPr>
          <a:xfrm>
            <a:off x="8362950" y="1790700"/>
            <a:ext cx="3295650" cy="110490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低成本试点">
            <a:extLst>
              <a:ext uri="{FF2B5EF4-FFF2-40B4-BE49-F238E27FC236}">
                <a16:creationId xmlns:a16="http://schemas.microsoft.com/office/drawing/2014/main" id="{375D0AE6-E9EE-44AE-BAF4-B8238E14F66A}"/>
              </a:ext>
            </a:extLst>
          </p:cNvPr>
          <p:cNvSpPr>
            <a:spLocks noGrp="1"/>
          </p:cNvSpPr>
          <p:nvPr/>
        </p:nvSpPr>
        <p:spPr>
          <a:xfrm>
            <a:off x="8534400" y="1943100"/>
            <a:ext cx="295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收费待定</a:t>
            </a:r>
          </a:p>
        </p:txBody>
      </p:sp>
      <p:sp>
        <p:nvSpPr>
          <p:cNvPr id="20" name="真实使用与付费再决策">
            <a:extLst>
              <a:ext uri="{FF2B5EF4-FFF2-40B4-BE49-F238E27FC236}">
                <a16:creationId xmlns:a16="http://schemas.microsoft.com/office/drawing/2014/main" id="{FAF3E70D-91B1-481D-B151-4E9F6AAED684}"/>
              </a:ext>
            </a:extLst>
          </p:cNvPr>
          <p:cNvSpPr>
            <a:spLocks noGrp="1"/>
          </p:cNvSpPr>
          <p:nvPr/>
        </p:nvSpPr>
        <p:spPr>
          <a:xfrm>
            <a:off x="8534400" y="2505075"/>
            <a:ext cx="29527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价格与权益单独决策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109FEB37-E456-4413-B1EF-37EB92795483}"/>
              </a:ext>
            </a:extLst>
          </p:cNvPr>
          <p:cNvSpPr>
            <a:spLocks noGrp="1"/>
          </p:cNvSpPr>
          <p:nvPr/>
        </p:nvSpPr>
        <p:spPr>
          <a:xfrm>
            <a:off x="533400" y="3209925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01">
            <a:extLst>
              <a:ext uri="{FF2B5EF4-FFF2-40B4-BE49-F238E27FC236}">
                <a16:creationId xmlns:a16="http://schemas.microsoft.com/office/drawing/2014/main" id="{666AB40D-F3A2-431C-B2DF-5AE2BBBA6D48}"/>
              </a:ext>
            </a:extLst>
          </p:cNvPr>
          <p:cNvSpPr>
            <a:spLocks noGrp="1"/>
          </p:cNvSpPr>
          <p:nvPr/>
        </p:nvSpPr>
        <p:spPr>
          <a:xfrm>
            <a:off x="723900" y="333375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3" name="产品范围">
            <a:extLst>
              <a:ext uri="{FF2B5EF4-FFF2-40B4-BE49-F238E27FC236}">
                <a16:creationId xmlns:a16="http://schemas.microsoft.com/office/drawing/2014/main" id="{FC126D14-A40F-4A63-BCF9-14760540D993}"/>
              </a:ext>
            </a:extLst>
          </p:cNvPr>
          <p:cNvSpPr>
            <a:spLocks noGrp="1"/>
          </p:cNvSpPr>
          <p:nvPr/>
        </p:nvSpPr>
        <p:spPr>
          <a:xfrm>
            <a:off x="1504950" y="3343275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产品范围</a:t>
            </a:r>
          </a:p>
        </p:txBody>
      </p:sp>
      <p:sp>
        <p:nvSpPr>
          <p:cNvPr id="24" name="接入现有职考小程序，复用答题、诊断、错题和 AI 辅助能力。">
            <a:extLst>
              <a:ext uri="{FF2B5EF4-FFF2-40B4-BE49-F238E27FC236}">
                <a16:creationId xmlns:a16="http://schemas.microsoft.com/office/drawing/2014/main" id="{53572D5A-1686-4F97-AEA3-AECBD49D3C27}"/>
              </a:ext>
            </a:extLst>
          </p:cNvPr>
          <p:cNvSpPr>
            <a:spLocks noGrp="1"/>
          </p:cNvSpPr>
          <p:nvPr/>
        </p:nvSpPr>
        <p:spPr>
          <a:xfrm>
            <a:off x="4953000" y="3343275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接入现有职考小程序，评估答题、错题与 AI 能力的专业适配。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DF529BFE-CB34-49A7-A026-6744313429FE}"/>
              </a:ext>
            </a:extLst>
          </p:cNvPr>
          <p:cNvSpPr>
            <a:spLocks noGrp="1"/>
          </p:cNvSpPr>
          <p:nvPr/>
        </p:nvSpPr>
        <p:spPr>
          <a:xfrm>
            <a:off x="533400" y="4086225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02">
            <a:extLst>
              <a:ext uri="{FF2B5EF4-FFF2-40B4-BE49-F238E27FC236}">
                <a16:creationId xmlns:a16="http://schemas.microsoft.com/office/drawing/2014/main" id="{FB5616E8-64DB-4F08-BC85-BCDCDA434711}"/>
              </a:ext>
            </a:extLst>
          </p:cNvPr>
          <p:cNvSpPr>
            <a:spLocks noGrp="1"/>
          </p:cNvSpPr>
          <p:nvPr/>
        </p:nvSpPr>
        <p:spPr>
          <a:xfrm>
            <a:off x="723900" y="421005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竞争策略">
            <a:extLst>
              <a:ext uri="{FF2B5EF4-FFF2-40B4-BE49-F238E27FC236}">
                <a16:creationId xmlns:a16="http://schemas.microsoft.com/office/drawing/2014/main" id="{E01ADD5F-C4A5-447F-B1A1-99369F33499B}"/>
              </a:ext>
            </a:extLst>
          </p:cNvPr>
          <p:cNvSpPr>
            <a:spLocks noGrp="1"/>
          </p:cNvSpPr>
          <p:nvPr/>
        </p:nvSpPr>
        <p:spPr>
          <a:xfrm>
            <a:off x="1504950" y="4219575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竞争策略</a:t>
            </a:r>
          </a:p>
        </p:txBody>
      </p:sp>
      <p:sp>
        <p:nvSpPr>
          <p:cNvPr id="28" name="依靠三专业覆盖、可信解析、持续更新和现有用户触达形成差异。">
            <a:extLst>
              <a:ext uri="{FF2B5EF4-FFF2-40B4-BE49-F238E27FC236}">
                <a16:creationId xmlns:a16="http://schemas.microsoft.com/office/drawing/2014/main" id="{A738A5EA-23C5-4A45-AC8E-41856C975FC5}"/>
              </a:ext>
            </a:extLst>
          </p:cNvPr>
          <p:cNvSpPr>
            <a:spLocks noGrp="1"/>
          </p:cNvSpPr>
          <p:nvPr/>
        </p:nvSpPr>
        <p:spPr>
          <a:xfrm>
            <a:off x="4953000" y="4219575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依托 CSCO 指南、病例、影像及大查房题目，建设有依据的病例练习。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959E7ED6-29B0-479C-833E-3AA8201C26A7}"/>
              </a:ext>
            </a:extLst>
          </p:cNvPr>
          <p:cNvSpPr>
            <a:spLocks noGrp="1"/>
          </p:cNvSpPr>
          <p:nvPr/>
        </p:nvSpPr>
        <p:spPr>
          <a:xfrm>
            <a:off x="533400" y="5572125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核心结论">
            <a:extLst>
              <a:ext uri="{FF2B5EF4-FFF2-40B4-BE49-F238E27FC236}">
                <a16:creationId xmlns:a16="http://schemas.microsoft.com/office/drawing/2014/main" id="{38702767-A290-49CE-8B08-B2ED2599058F}"/>
              </a:ext>
            </a:extLst>
          </p:cNvPr>
          <p:cNvSpPr>
            <a:spLocks noGrp="1"/>
          </p:cNvSpPr>
          <p:nvPr/>
        </p:nvSpPr>
        <p:spPr>
          <a:xfrm>
            <a:off x="704850" y="572452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31" name="同步上线 341、342、343，以真实使用率和付费表现决定后续投入。">
            <a:extLst>
              <a:ext uri="{FF2B5EF4-FFF2-40B4-BE49-F238E27FC236}">
                <a16:creationId xmlns:a16="http://schemas.microsoft.com/office/drawing/2014/main" id="{F085D90A-847A-43D1-8E18-BA688625A239}"/>
              </a:ext>
            </a:extLst>
          </p:cNvPr>
          <p:cNvSpPr>
            <a:spLocks noGrp="1"/>
          </p:cNvSpPr>
          <p:nvPr/>
        </p:nvSpPr>
        <p:spPr>
          <a:xfrm>
            <a:off x="2133600" y="5695950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同步接入三专业，先验证使用与学习价值，再确定收费及后续投入。</a:t>
            </a:r>
          </a:p>
        </p:txBody>
      </p:sp>
    </p:spTree>
    <p:extLst>
      <p:ext uri="{BB962C8B-B14F-4D97-AF65-F5344CB8AC3E}">
        <p14:creationId xmlns:p14="http://schemas.microsoft.com/office/powerpoint/2010/main" val="1421287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项目背景">
            <a:extLst>
              <a:ext uri="{FF2B5EF4-FFF2-40B4-BE49-F238E27FC236}">
                <a16:creationId xmlns:a16="http://schemas.microsoft.com/office/drawing/2014/main" id="{865D4DF6-AE29-4F1D-A696-F76F03AB8C58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2" name="项目基础与考试类型覆盖">
            <a:extLst>
              <a:ext uri="{FF2B5EF4-FFF2-40B4-BE49-F238E27FC236}">
                <a16:creationId xmlns:a16="http://schemas.microsoft.com/office/drawing/2014/main" id="{DB560986-93F2-44F3-96E2-060321947BDF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现有指南、病例与题目构成内容基础</a:t>
            </a:r>
          </a:p>
        </p:txBody>
      </p:sp>
      <p:sp>
        <p:nvSpPr>
          <p:cNvPr id="3" name="良医汇现有肿瘤医生用户与职考产品基础，降低了中级题库的接入成本。">
            <a:extLst>
              <a:ext uri="{FF2B5EF4-FFF2-40B4-BE49-F238E27FC236}">
                <a16:creationId xmlns:a16="http://schemas.microsoft.com/office/drawing/2014/main" id="{5EB55CBF-8128-4D48-9C87-E033E4A265AA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团队已有 CSCO 指南、病例和影像资料；大查房已形成病例题目，可按考试大纲筛选改编。</a:t>
            </a:r>
          </a:p>
        </p:txBody>
      </p:sp>
      <p:sp>
        <p:nvSpPr>
          <p:cNvPr id="4" name="03">
            <a:extLst>
              <a:ext uri="{FF2B5EF4-FFF2-40B4-BE49-F238E27FC236}">
                <a16:creationId xmlns:a16="http://schemas.microsoft.com/office/drawing/2014/main" id="{C3FAC473-C1A7-452E-A8B9-8F1E69C669E8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6B37B7B-FA08-46DF-B177-D49375C3189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FD569B9-266E-41DE-AAA3-F98CADA22AD2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4C3E394-8D02-4603-B021-FE015156FA94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3 / 12">
            <a:extLst>
              <a:ext uri="{FF2B5EF4-FFF2-40B4-BE49-F238E27FC236}">
                <a16:creationId xmlns:a16="http://schemas.microsoft.com/office/drawing/2014/main" id="{63E80F1C-B0FD-4644-99C2-B3FE48604A6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03 / 14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B44DDB3-ED3C-4481-815A-A5B849623969}"/>
              </a:ext>
            </a:extLst>
          </p:cNvPr>
          <p:cNvSpPr>
            <a:spLocks noGrp="1"/>
          </p:cNvSpPr>
          <p:nvPr/>
        </p:nvSpPr>
        <p:spPr>
          <a:xfrm>
            <a:off x="533400" y="1781175"/>
            <a:ext cx="1295400" cy="323850"/>
          </a:xfrm>
          <a:prstGeom prst="roundRect">
            <a:avLst>
              <a:gd name="adj" fmla="val 50000"/>
            </a:avLst>
          </a:prstGeom>
          <a:solidFill>
            <a:srgbClr val="DDE9F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项目价值">
            <a:extLst>
              <a:ext uri="{FF2B5EF4-FFF2-40B4-BE49-F238E27FC236}">
                <a16:creationId xmlns:a16="http://schemas.microsoft.com/office/drawing/2014/main" id="{CF30EC5B-43F4-41EB-A4C5-F94C282F2D08}"/>
              </a:ext>
            </a:extLst>
          </p:cNvPr>
          <p:cNvSpPr>
            <a:spLocks noGrp="1"/>
          </p:cNvSpPr>
          <p:nvPr/>
        </p:nvSpPr>
        <p:spPr>
          <a:xfrm>
            <a:off x="533400" y="1838325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rPr>
              <a:t>项目价值</a:t>
            </a:r>
          </a:p>
        </p:txBody>
      </p:sp>
      <p:sp>
        <p:nvSpPr>
          <p:cNvPr id="11" name="复用现有用户">
            <a:extLst>
              <a:ext uri="{FF2B5EF4-FFF2-40B4-BE49-F238E27FC236}">
                <a16:creationId xmlns:a16="http://schemas.microsoft.com/office/drawing/2014/main" id="{EC93B665-9935-4EC7-8DF3-620A819E9EC1}"/>
              </a:ext>
            </a:extLst>
          </p:cNvPr>
          <p:cNvSpPr>
            <a:spLocks noGrp="1"/>
          </p:cNvSpPr>
          <p:nvPr/>
        </p:nvSpPr>
        <p:spPr>
          <a:xfrm>
            <a:off x="533400" y="2276475"/>
            <a:ext cx="2781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CSCO 指南</a:t>
            </a:r>
          </a:p>
        </p:txBody>
      </p:sp>
      <p:sp>
        <p:nvSpPr>
          <p:cNvPr id="12" name="降低目标用户触达与获取成本">
            <a:extLst>
              <a:ext uri="{FF2B5EF4-FFF2-40B4-BE49-F238E27FC236}">
                <a16:creationId xmlns:a16="http://schemas.microsoft.com/office/drawing/2014/main" id="{DB024E3A-1178-4556-856D-4EEC1996DD2B}"/>
              </a:ext>
            </a:extLst>
          </p:cNvPr>
          <p:cNvSpPr>
            <a:spLocks noGrp="1"/>
          </p:cNvSpPr>
          <p:nvPr/>
        </p:nvSpPr>
        <p:spPr>
          <a:xfrm>
            <a:off x="533400" y="2667000"/>
            <a:ext cx="2857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支撑知识整理与解析依据</a:t>
            </a:r>
          </a:p>
        </p:txBody>
      </p:sp>
      <p:sp>
        <p:nvSpPr>
          <p:cNvPr id="13" name="满足晋升需求">
            <a:extLst>
              <a:ext uri="{FF2B5EF4-FFF2-40B4-BE49-F238E27FC236}">
                <a16:creationId xmlns:a16="http://schemas.microsoft.com/office/drawing/2014/main" id="{EE58EDBC-3DE2-4741-B4E2-4EB4CFA94085}"/>
              </a:ext>
            </a:extLst>
          </p:cNvPr>
          <p:cNvSpPr>
            <a:spLocks noGrp="1"/>
          </p:cNvSpPr>
          <p:nvPr/>
        </p:nvSpPr>
        <p:spPr>
          <a:xfrm>
            <a:off x="4229100" y="2276475"/>
            <a:ext cx="2781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病例与影像</a:t>
            </a:r>
          </a:p>
        </p:txBody>
      </p:sp>
      <p:sp>
        <p:nvSpPr>
          <p:cNvPr id="14" name="把学习服务延伸到职称晋升阶段">
            <a:extLst>
              <a:ext uri="{FF2B5EF4-FFF2-40B4-BE49-F238E27FC236}">
                <a16:creationId xmlns:a16="http://schemas.microsoft.com/office/drawing/2014/main" id="{83AE2FF4-F322-4531-8F3F-A82382D6C3AF}"/>
              </a:ext>
            </a:extLst>
          </p:cNvPr>
          <p:cNvSpPr>
            <a:spLocks noGrp="1"/>
          </p:cNvSpPr>
          <p:nvPr/>
        </p:nvSpPr>
        <p:spPr>
          <a:xfrm>
            <a:off x="4229100" y="2667000"/>
            <a:ext cx="2857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提供临床情境与判读素材</a:t>
            </a:r>
          </a:p>
        </p:txBody>
      </p:sp>
      <p:sp>
        <p:nvSpPr>
          <p:cNvPr id="15" name="拓展 AI 场景">
            <a:extLst>
              <a:ext uri="{FF2B5EF4-FFF2-40B4-BE49-F238E27FC236}">
                <a16:creationId xmlns:a16="http://schemas.microsoft.com/office/drawing/2014/main" id="{81364E9D-20C7-434F-8CAE-763F91ABD9EF}"/>
              </a:ext>
            </a:extLst>
          </p:cNvPr>
          <p:cNvSpPr>
            <a:spLocks noGrp="1"/>
          </p:cNvSpPr>
          <p:nvPr/>
        </p:nvSpPr>
        <p:spPr>
          <a:xfrm>
            <a:off x="7924800" y="2276475"/>
            <a:ext cx="2781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大查房题目</a:t>
            </a:r>
          </a:p>
        </p:txBody>
      </p:sp>
      <p:sp>
        <p:nvSpPr>
          <p:cNvPr id="16" name="将 AI 私教与追问迁移到职称考试">
            <a:extLst>
              <a:ext uri="{FF2B5EF4-FFF2-40B4-BE49-F238E27FC236}">
                <a16:creationId xmlns:a16="http://schemas.microsoft.com/office/drawing/2014/main" id="{5816822B-7674-416F-8C37-EA19AC26C136}"/>
              </a:ext>
            </a:extLst>
          </p:cNvPr>
          <p:cNvSpPr>
            <a:spLocks noGrp="1"/>
          </p:cNvSpPr>
          <p:nvPr/>
        </p:nvSpPr>
        <p:spPr>
          <a:xfrm>
            <a:off x="7924800" y="2667000"/>
            <a:ext cx="31242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复用题干、选项、解析与引用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AC46A19-2AFD-439D-A715-6E89428F28D5}"/>
              </a:ext>
            </a:extLst>
          </p:cNvPr>
          <p:cNvSpPr>
            <a:spLocks noGrp="1"/>
          </p:cNvSpPr>
          <p:nvPr/>
        </p:nvSpPr>
        <p:spPr>
          <a:xfrm>
            <a:off x="533400" y="3295650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47B798AE-3FB2-45D6-8CD1-867E439BB92A}"/>
              </a:ext>
            </a:extLst>
          </p:cNvPr>
          <p:cNvSpPr>
            <a:spLocks noGrp="1"/>
          </p:cNvSpPr>
          <p:nvPr/>
        </p:nvSpPr>
        <p:spPr>
          <a:xfrm>
            <a:off x="533400" y="3581400"/>
            <a:ext cx="11125200" cy="952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369A3BB5-9B6E-4CBC-A180-9C4164B0F932}"/>
              </a:ext>
            </a:extLst>
          </p:cNvPr>
          <p:cNvSpPr>
            <a:spLocks noGrp="1"/>
          </p:cNvSpPr>
          <p:nvPr/>
        </p:nvSpPr>
        <p:spPr>
          <a:xfrm>
            <a:off x="723900" y="3810000"/>
            <a:ext cx="914400" cy="323850"/>
          </a:xfrm>
          <a:prstGeom prst="roundRect">
            <a:avLst>
              <a:gd name="adj" fmla="val 50000"/>
            </a:avLst>
          </a:prstGeom>
          <a:solidFill>
            <a:srgbClr val="0B234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中级">
            <a:extLst>
              <a:ext uri="{FF2B5EF4-FFF2-40B4-BE49-F238E27FC236}">
                <a16:creationId xmlns:a16="http://schemas.microsoft.com/office/drawing/2014/main" id="{04C5C3ED-4D80-45D6-A02A-39B02AA33620}"/>
              </a:ext>
            </a:extLst>
          </p:cNvPr>
          <p:cNvSpPr>
            <a:spLocks noGrp="1"/>
          </p:cNvSpPr>
          <p:nvPr/>
        </p:nvSpPr>
        <p:spPr>
          <a:xfrm>
            <a:off x="723900" y="3867150"/>
            <a:ext cx="914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中级</a:t>
            </a:r>
          </a:p>
        </p:txBody>
      </p:sp>
      <p:sp>
        <p:nvSpPr>
          <p:cNvPr id="21" name="全国统一考试">
            <a:extLst>
              <a:ext uri="{FF2B5EF4-FFF2-40B4-BE49-F238E27FC236}">
                <a16:creationId xmlns:a16="http://schemas.microsoft.com/office/drawing/2014/main" id="{3F385486-EE28-4FF3-A21E-F1FCA6A633F8}"/>
              </a:ext>
            </a:extLst>
          </p:cNvPr>
          <p:cNvSpPr>
            <a:spLocks noGrp="1"/>
          </p:cNvSpPr>
          <p:nvPr/>
        </p:nvSpPr>
        <p:spPr>
          <a:xfrm>
            <a:off x="1866900" y="3800475"/>
            <a:ext cx="2286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全国统一考试</a:t>
            </a:r>
          </a:p>
        </p:txBody>
      </p:sp>
      <p:sp>
        <p:nvSpPr>
          <p:cNvPr id="22" name="341 肿瘤内科学、342 肿瘤外科学、343 肿瘤放射治疗学、388 ">
            <a:extLst>
              <a:ext uri="{FF2B5EF4-FFF2-40B4-BE49-F238E27FC236}">
                <a16:creationId xmlns:a16="http://schemas.microsoft.com/office/drawing/2014/main" id="{A7B491B6-96F6-403D-AD30-17554C0DAF39}"/>
              </a:ext>
            </a:extLst>
          </p:cNvPr>
          <p:cNvSpPr>
            <a:spLocks noGrp="1"/>
          </p:cNvSpPr>
          <p:nvPr/>
        </p:nvSpPr>
        <p:spPr>
          <a:xfrm>
            <a:off x="4229100" y="3790950"/>
            <a:ext cx="70294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341 肿瘤内科学、342 肿瘤外科学、343 肿瘤放射治疗学、388 肿瘤放射治疗技术</a:t>
            </a:r>
          </a:p>
        </p:txBody>
      </p:sp>
      <p:sp>
        <p:nvSpPr>
          <p:cNvPr id="23" name="通常每年 4 月，标准化程度高；首期聚焦 341–343">
            <a:extLst>
              <a:ext uri="{FF2B5EF4-FFF2-40B4-BE49-F238E27FC236}">
                <a16:creationId xmlns:a16="http://schemas.microsoft.com/office/drawing/2014/main" id="{DB4A178E-8BAE-44EA-9E46-92BB498BA744}"/>
              </a:ext>
            </a:extLst>
          </p:cNvPr>
          <p:cNvSpPr>
            <a:spLocks noGrp="1"/>
          </p:cNvSpPr>
          <p:nvPr/>
        </p:nvSpPr>
        <p:spPr>
          <a:xfrm>
            <a:off x="1866900" y="421005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年度安排以官方通知为准；首期聚焦 341–343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B1A617D5-D6F6-4E14-B108-6434060F9889}"/>
              </a:ext>
            </a:extLst>
          </p:cNvPr>
          <p:cNvSpPr>
            <a:spLocks noGrp="1"/>
          </p:cNvSpPr>
          <p:nvPr/>
        </p:nvSpPr>
        <p:spPr>
          <a:xfrm>
            <a:off x="533400" y="4724400"/>
            <a:ext cx="11125200" cy="742950"/>
          </a:xfrm>
          <a:prstGeom prst="roundRect">
            <a:avLst>
              <a:gd name="adj" fmla="val 25641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AF082CE4-B7CC-456F-861E-D28E90F95D91}"/>
              </a:ext>
            </a:extLst>
          </p:cNvPr>
          <p:cNvSpPr>
            <a:spLocks noGrp="1"/>
          </p:cNvSpPr>
          <p:nvPr/>
        </p:nvSpPr>
        <p:spPr>
          <a:xfrm>
            <a:off x="723900" y="4933950"/>
            <a:ext cx="914400" cy="323850"/>
          </a:xfrm>
          <a:prstGeom prst="roundRect">
            <a:avLst>
              <a:gd name="adj" fmla="val 50000"/>
            </a:avLst>
          </a:prstGeom>
          <a:solidFill>
            <a:srgbClr val="E7EDF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高级">
            <a:extLst>
              <a:ext uri="{FF2B5EF4-FFF2-40B4-BE49-F238E27FC236}">
                <a16:creationId xmlns:a16="http://schemas.microsoft.com/office/drawing/2014/main" id="{29DDD654-6E0C-41DC-A140-3CB351E67DF9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914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高级</a:t>
            </a:r>
          </a:p>
        </p:txBody>
      </p:sp>
      <p:sp>
        <p:nvSpPr>
          <p:cNvPr id="27" name="各省组织考试">
            <a:extLst>
              <a:ext uri="{FF2B5EF4-FFF2-40B4-BE49-F238E27FC236}">
                <a16:creationId xmlns:a16="http://schemas.microsoft.com/office/drawing/2014/main" id="{12AC85D6-1A1A-441F-8EEB-58ACB4FD5639}"/>
              </a:ext>
            </a:extLst>
          </p:cNvPr>
          <p:cNvSpPr>
            <a:spLocks noGrp="1"/>
          </p:cNvSpPr>
          <p:nvPr/>
        </p:nvSpPr>
        <p:spPr>
          <a:xfrm>
            <a:off x="1866900" y="4924425"/>
            <a:ext cx="2286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各省组织考试</a:t>
            </a:r>
          </a:p>
        </p:txBody>
      </p:sp>
      <p:sp>
        <p:nvSpPr>
          <p:cNvPr id="28" name="专业代码与要求因省份而异，通常集中在 4–7 月，首期暂不纳入">
            <a:extLst>
              <a:ext uri="{FF2B5EF4-FFF2-40B4-BE49-F238E27FC236}">
                <a16:creationId xmlns:a16="http://schemas.microsoft.com/office/drawing/2014/main" id="{5F5CC258-51E9-4E20-AFCD-B56B60E5660C}"/>
              </a:ext>
            </a:extLst>
          </p:cNvPr>
          <p:cNvSpPr>
            <a:spLocks noGrp="1"/>
          </p:cNvSpPr>
          <p:nvPr/>
        </p:nvSpPr>
        <p:spPr>
          <a:xfrm>
            <a:off x="4229100" y="4924425"/>
            <a:ext cx="70294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专业代码、时间与要求因省份而异，首期暂不纳入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E33C24F8-D8BE-416B-AF7C-838921E83915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本章结论">
            <a:extLst>
              <a:ext uri="{FF2B5EF4-FFF2-40B4-BE49-F238E27FC236}">
                <a16:creationId xmlns:a16="http://schemas.microsoft.com/office/drawing/2014/main" id="{CB8F9250-F957-4FD0-906D-DABD7DAF98ED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31" name="现有用户与职考产品基础降低了触达和接入成本，首期聚焦 341、342、3">
            <a:extLst>
              <a:ext uri="{FF2B5EF4-FFF2-40B4-BE49-F238E27FC236}">
                <a16:creationId xmlns:a16="http://schemas.microsoft.com/office/drawing/2014/main" id="{FEF49A02-0159-4E81-914A-52BF3B2A067E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将现有内容资源转为按考纲组织的病例练习，发挥专科积累优势。</a:t>
            </a:r>
          </a:p>
        </p:txBody>
      </p:sp>
    </p:spTree>
    <p:extLst>
      <p:ext uri="{BB962C8B-B14F-4D97-AF65-F5344CB8AC3E}">
        <p14:creationId xmlns:p14="http://schemas.microsoft.com/office/powerpoint/2010/main" val="1517325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考试类型与专业方向">
            <a:extLst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考试类型与专业方向</a:t>
            </a:r>
          </a:p>
        </p:txBody>
      </p:sp>
      <p:sp>
        <p:nvSpPr>
          <p:cNvPr id="2" name="中级职称更适合首期规模化建设">
            <a:extLst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本期聚焦三个中级专业，高级职称后续评估</a:t>
            </a:r>
          </a:p>
        </p:txBody>
      </p:sp>
      <p:sp>
        <p:nvSpPr>
          <p:cNvPr id="3" name="全国统一考试的标准化程度更高；高级职称需要适配不同省份。">
            <a:extLst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三个中级专业同步上线已确定，高级职称需另行核对目标地区要求。</a:t>
            </a:r>
          </a:p>
        </p:txBody>
      </p:sp>
      <p:sp>
        <p:nvSpPr>
          <p:cNvPr id="4" name="04">
            <a:extLst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04 / 14</a:t>
            </a:r>
          </a:p>
        </p:txBody>
      </p:sp>
      <p:graphicFrame>
        <p:nvGraphicFramePr>
          <p:cNvPr id="21" name="表格 20"/>
          <p:cNvGraphicFramePr/>
          <p:nvPr/>
        </p:nvGraphicFramePr>
        <p:xfrm>
          <a:off x="533400" y="1752600"/>
          <a:ext cx="11125200" cy="36385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中级职称（主治医师）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高级职称（副高 / 正高）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考试性质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全国统一考试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按目标地区官方文件核验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目标用户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确认报考专业、年度和待考科目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待确定地区后开展用户调研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产品建设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三专业共用产品框架，内容按专业适配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另行评估内容与交互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主要挑战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同专业四科成绩两年滚动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考试安排与要求存在地区差异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本期范围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341、342、343 同步上线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暂不纳入本期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本章结论">
            <a:extLst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本期覆盖 341、342、343；高级职称暂不纳入，后续另行评估。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中级专业方向">
            <a:extLst>
              <a:ext uri="{FF2B5EF4-FFF2-40B4-BE49-F238E27FC236}">
                <a16:creationId xmlns:a16="http://schemas.microsoft.com/office/drawing/2014/main" id="{54DDF6B6-6C20-4067-BC7A-A5BF4A558E49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中级专业方向</a:t>
            </a:r>
          </a:p>
        </p:txBody>
      </p:sp>
      <p:sp>
        <p:nvSpPr>
          <p:cNvPr id="2" name="341、342、343 面向不同人群，适合同步上线">
            <a:extLst>
              <a:ext uri="{FF2B5EF4-FFF2-40B4-BE49-F238E27FC236}">
                <a16:creationId xmlns:a16="http://schemas.microsoft.com/office/drawing/2014/main" id="{29136708-264F-4066-9F83-60B79421C50B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本期同步上线 341、342、343</a:t>
            </a:r>
          </a:p>
        </p:txBody>
      </p:sp>
      <p:sp>
        <p:nvSpPr>
          <p:cNvPr id="3" name="三者均为全国统考专业，本期不再设置单专业优先级。">
            <a:extLst>
              <a:ext uri="{FF2B5EF4-FFF2-40B4-BE49-F238E27FC236}">
                <a16:creationId xmlns:a16="http://schemas.microsoft.com/office/drawing/2014/main" id="{2EC52E06-68F1-4698-96E3-7046A58CE366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三者均为全国统考专业，本期不再设置单专业优先级。</a:t>
            </a:r>
          </a:p>
        </p:txBody>
      </p:sp>
      <p:sp>
        <p:nvSpPr>
          <p:cNvPr id="4" name="05">
            <a:extLst>
              <a:ext uri="{FF2B5EF4-FFF2-40B4-BE49-F238E27FC236}">
                <a16:creationId xmlns:a16="http://schemas.microsoft.com/office/drawing/2014/main" id="{4938C85E-43C0-4522-AF9A-90F0E52821F2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015DBF7-F8E8-47DE-802A-8693DD108AA9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6F1D6A-5472-465E-8A9F-525E65D3C927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9240769C-C252-41F4-8CFF-56D121255288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5 / 12">
            <a:extLst>
              <a:ext uri="{FF2B5EF4-FFF2-40B4-BE49-F238E27FC236}">
                <a16:creationId xmlns:a16="http://schemas.microsoft.com/office/drawing/2014/main" id="{93C1086B-AC35-49F1-AE11-6B68E6340828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05 / 14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05635B9-FD99-4026-835F-76C37AC5DFBA}"/>
              </a:ext>
            </a:extLst>
          </p:cNvPr>
          <p:cNvSpPr>
            <a:spLocks noGrp="1"/>
          </p:cNvSpPr>
          <p:nvPr/>
        </p:nvSpPr>
        <p:spPr>
          <a:xfrm>
            <a:off x="533400" y="1828800"/>
            <a:ext cx="3276600" cy="3171825"/>
          </a:xfrm>
          <a:prstGeom prst="roundRect">
            <a:avLst>
              <a:gd name="adj" fmla="val 660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341">
            <a:extLst>
              <a:ext uri="{FF2B5EF4-FFF2-40B4-BE49-F238E27FC236}">
                <a16:creationId xmlns:a16="http://schemas.microsoft.com/office/drawing/2014/main" id="{A17D4156-49C3-45E9-AB0F-55CB6401C453}"/>
              </a:ext>
            </a:extLst>
          </p:cNvPr>
          <p:cNvSpPr>
            <a:spLocks noGrp="1"/>
          </p:cNvSpPr>
          <p:nvPr/>
        </p:nvSpPr>
        <p:spPr>
          <a:xfrm>
            <a:off x="742950" y="2038350"/>
            <a:ext cx="1333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341</a:t>
            </a:r>
          </a:p>
        </p:txBody>
      </p:sp>
      <p:sp>
        <p:nvSpPr>
          <p:cNvPr id="11" name="肿瘤内科学">
            <a:extLst>
              <a:ext uri="{FF2B5EF4-FFF2-40B4-BE49-F238E27FC236}">
                <a16:creationId xmlns:a16="http://schemas.microsoft.com/office/drawing/2014/main" id="{85D6F821-C30C-4163-A85C-570925B21744}"/>
              </a:ext>
            </a:extLst>
          </p:cNvPr>
          <p:cNvSpPr>
            <a:spLocks noGrp="1"/>
          </p:cNvSpPr>
          <p:nvPr/>
        </p:nvSpPr>
        <p:spPr>
          <a:xfrm>
            <a:off x="742950" y="27241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肿瘤内科学</a:t>
            </a:r>
          </a:p>
        </p:txBody>
      </p:sp>
      <p:sp>
        <p:nvSpPr>
          <p:cNvPr id="12" name="主要用户">
            <a:extLst>
              <a:ext uri="{FF2B5EF4-FFF2-40B4-BE49-F238E27FC236}">
                <a16:creationId xmlns:a16="http://schemas.microsoft.com/office/drawing/2014/main" id="{7F1FF740-42B7-4D13-8E24-31B2BD02A881}"/>
              </a:ext>
            </a:extLst>
          </p:cNvPr>
          <p:cNvSpPr>
            <a:spLocks noGrp="1"/>
          </p:cNvSpPr>
          <p:nvPr/>
        </p:nvSpPr>
        <p:spPr>
          <a:xfrm>
            <a:off x="742950" y="33337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AFC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目标考生</a:t>
            </a:r>
          </a:p>
        </p:txBody>
      </p:sp>
      <p:sp>
        <p:nvSpPr>
          <p:cNvPr id="13" name="肿瘤科、内科医生">
            <a:extLst>
              <a:ext uri="{FF2B5EF4-FFF2-40B4-BE49-F238E27FC236}">
                <a16:creationId xmlns:a16="http://schemas.microsoft.com/office/drawing/2014/main" id="{89D659A3-191C-4722-BC4F-9EB086738146}"/>
              </a:ext>
            </a:extLst>
          </p:cNvPr>
          <p:cNvSpPr>
            <a:spLocks noGrp="1"/>
          </p:cNvSpPr>
          <p:nvPr/>
        </p:nvSpPr>
        <p:spPr>
          <a:xfrm>
            <a:off x="742950" y="36480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报考 341 的考生</a:t>
            </a:r>
          </a:p>
        </p:txBody>
      </p:sp>
      <p:sp>
        <p:nvSpPr>
          <p:cNvPr id="14" name="与既有用户结构匹配度较高，是主要需求来源">
            <a:extLst>
              <a:ext uri="{FF2B5EF4-FFF2-40B4-BE49-F238E27FC236}">
                <a16:creationId xmlns:a16="http://schemas.microsoft.com/office/drawing/2014/main" id="{D54A6F3A-A69E-4344-993C-7A7D62416B64}"/>
              </a:ext>
            </a:extLst>
          </p:cNvPr>
          <p:cNvSpPr>
            <a:spLocks noGrp="1"/>
          </p:cNvSpPr>
          <p:nvPr/>
        </p:nvSpPr>
        <p:spPr>
          <a:xfrm>
            <a:off x="742950" y="4305300"/>
            <a:ext cx="27813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D6E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以实际报考专业识别需求，数量与占比需盘点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FC4C68E3-62CB-424D-BDA8-F6863BCF1A24}"/>
              </a:ext>
            </a:extLst>
          </p:cNvPr>
          <p:cNvSpPr>
            <a:spLocks noGrp="1"/>
          </p:cNvSpPr>
          <p:nvPr/>
        </p:nvSpPr>
        <p:spPr>
          <a:xfrm>
            <a:off x="4267200" y="1828800"/>
            <a:ext cx="3276600" cy="3171825"/>
          </a:xfrm>
          <a:prstGeom prst="roundRect">
            <a:avLst>
              <a:gd name="adj" fmla="val 660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342">
            <a:extLst>
              <a:ext uri="{FF2B5EF4-FFF2-40B4-BE49-F238E27FC236}">
                <a16:creationId xmlns:a16="http://schemas.microsoft.com/office/drawing/2014/main" id="{D6C0367E-6400-4917-9F0C-FAF28EF4F218}"/>
              </a:ext>
            </a:extLst>
          </p:cNvPr>
          <p:cNvSpPr>
            <a:spLocks noGrp="1"/>
          </p:cNvSpPr>
          <p:nvPr/>
        </p:nvSpPr>
        <p:spPr>
          <a:xfrm>
            <a:off x="4476750" y="2038350"/>
            <a:ext cx="1333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342</a:t>
            </a:r>
          </a:p>
        </p:txBody>
      </p:sp>
      <p:sp>
        <p:nvSpPr>
          <p:cNvPr id="17" name="肿瘤外科学">
            <a:extLst>
              <a:ext uri="{FF2B5EF4-FFF2-40B4-BE49-F238E27FC236}">
                <a16:creationId xmlns:a16="http://schemas.microsoft.com/office/drawing/2014/main" id="{47667000-1A1E-4B5E-8704-C524EC9B581E}"/>
              </a:ext>
            </a:extLst>
          </p:cNvPr>
          <p:cNvSpPr>
            <a:spLocks noGrp="1"/>
          </p:cNvSpPr>
          <p:nvPr/>
        </p:nvSpPr>
        <p:spPr>
          <a:xfrm>
            <a:off x="4476750" y="27241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肿瘤外科学</a:t>
            </a:r>
          </a:p>
        </p:txBody>
      </p:sp>
      <p:sp>
        <p:nvSpPr>
          <p:cNvPr id="18" name="主要用户">
            <a:extLst>
              <a:ext uri="{FF2B5EF4-FFF2-40B4-BE49-F238E27FC236}">
                <a16:creationId xmlns:a16="http://schemas.microsoft.com/office/drawing/2014/main" id="{F8E79459-F6C7-4C70-89FE-EAB2DCF811FB}"/>
              </a:ext>
            </a:extLst>
          </p:cNvPr>
          <p:cNvSpPr>
            <a:spLocks noGrp="1"/>
          </p:cNvSpPr>
          <p:nvPr/>
        </p:nvSpPr>
        <p:spPr>
          <a:xfrm>
            <a:off x="4476750" y="33337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目标考生</a:t>
            </a:r>
          </a:p>
        </p:txBody>
      </p:sp>
      <p:sp>
        <p:nvSpPr>
          <p:cNvPr id="19" name="肿瘤外科医生">
            <a:extLst>
              <a:ext uri="{FF2B5EF4-FFF2-40B4-BE49-F238E27FC236}">
                <a16:creationId xmlns:a16="http://schemas.microsoft.com/office/drawing/2014/main" id="{F89C9C49-CE64-424D-AD77-C2F24A185E0F}"/>
              </a:ext>
            </a:extLst>
          </p:cNvPr>
          <p:cNvSpPr>
            <a:spLocks noGrp="1"/>
          </p:cNvSpPr>
          <p:nvPr/>
        </p:nvSpPr>
        <p:spPr>
          <a:xfrm>
            <a:off x="4476750" y="36480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报考 342 的考生</a:t>
            </a:r>
          </a:p>
        </p:txBody>
      </p:sp>
      <p:sp>
        <p:nvSpPr>
          <p:cNvPr id="20" name="器官专科分散，但完整覆盖更利于承接真实需求">
            <a:extLst>
              <a:ext uri="{FF2B5EF4-FFF2-40B4-BE49-F238E27FC236}">
                <a16:creationId xmlns:a16="http://schemas.microsoft.com/office/drawing/2014/main" id="{361167A0-A06D-4EBD-86CE-3304A1BBD058}"/>
              </a:ext>
            </a:extLst>
          </p:cNvPr>
          <p:cNvSpPr>
            <a:spLocks noGrp="1"/>
          </p:cNvSpPr>
          <p:nvPr/>
        </p:nvSpPr>
        <p:spPr>
          <a:xfrm>
            <a:off x="4476750" y="4305300"/>
            <a:ext cx="27813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以实际报考专业识别需求，数量与占比需盘点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E5B29C22-81F2-44EF-BDE1-FC378120DFBF}"/>
              </a:ext>
            </a:extLst>
          </p:cNvPr>
          <p:cNvSpPr>
            <a:spLocks noGrp="1"/>
          </p:cNvSpPr>
          <p:nvPr/>
        </p:nvSpPr>
        <p:spPr>
          <a:xfrm>
            <a:off x="8001000" y="1828800"/>
            <a:ext cx="3276600" cy="3171825"/>
          </a:xfrm>
          <a:prstGeom prst="roundRect">
            <a:avLst>
              <a:gd name="adj" fmla="val 660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343">
            <a:extLst>
              <a:ext uri="{FF2B5EF4-FFF2-40B4-BE49-F238E27FC236}">
                <a16:creationId xmlns:a16="http://schemas.microsoft.com/office/drawing/2014/main" id="{86F40B49-8983-4343-BF63-7564539F1751}"/>
              </a:ext>
            </a:extLst>
          </p:cNvPr>
          <p:cNvSpPr>
            <a:spLocks noGrp="1"/>
          </p:cNvSpPr>
          <p:nvPr/>
        </p:nvSpPr>
        <p:spPr>
          <a:xfrm>
            <a:off x="8210550" y="2038350"/>
            <a:ext cx="1333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343</a:t>
            </a:r>
          </a:p>
        </p:txBody>
      </p:sp>
      <p:sp>
        <p:nvSpPr>
          <p:cNvPr id="23" name="肿瘤放射治疗学">
            <a:extLst>
              <a:ext uri="{FF2B5EF4-FFF2-40B4-BE49-F238E27FC236}">
                <a16:creationId xmlns:a16="http://schemas.microsoft.com/office/drawing/2014/main" id="{249614C3-16B5-434D-80F0-DC06E28E3268}"/>
              </a:ext>
            </a:extLst>
          </p:cNvPr>
          <p:cNvSpPr>
            <a:spLocks noGrp="1"/>
          </p:cNvSpPr>
          <p:nvPr/>
        </p:nvSpPr>
        <p:spPr>
          <a:xfrm>
            <a:off x="8210550" y="27241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肿瘤放射治疗学</a:t>
            </a:r>
          </a:p>
        </p:txBody>
      </p:sp>
      <p:sp>
        <p:nvSpPr>
          <p:cNvPr id="24" name="主要用户">
            <a:extLst>
              <a:ext uri="{FF2B5EF4-FFF2-40B4-BE49-F238E27FC236}">
                <a16:creationId xmlns:a16="http://schemas.microsoft.com/office/drawing/2014/main" id="{7EFB15BC-D31C-403D-9A04-09700F0032E5}"/>
              </a:ext>
            </a:extLst>
          </p:cNvPr>
          <p:cNvSpPr>
            <a:spLocks noGrp="1"/>
          </p:cNvSpPr>
          <p:nvPr/>
        </p:nvSpPr>
        <p:spPr>
          <a:xfrm>
            <a:off x="8210550" y="33337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目标考生</a:t>
            </a:r>
          </a:p>
        </p:txBody>
      </p:sp>
      <p:sp>
        <p:nvSpPr>
          <p:cNvPr id="25" name="放疗医生">
            <a:extLst>
              <a:ext uri="{FF2B5EF4-FFF2-40B4-BE49-F238E27FC236}">
                <a16:creationId xmlns:a16="http://schemas.microsoft.com/office/drawing/2014/main" id="{1B9F0978-7684-476B-B62E-2D997B013319}"/>
              </a:ext>
            </a:extLst>
          </p:cNvPr>
          <p:cNvSpPr>
            <a:spLocks noGrp="1"/>
          </p:cNvSpPr>
          <p:nvPr/>
        </p:nvSpPr>
        <p:spPr>
          <a:xfrm>
            <a:off x="8210550" y="36480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报考 343 的考生</a:t>
            </a:r>
          </a:p>
        </p:txBody>
      </p:sp>
      <p:sp>
        <p:nvSpPr>
          <p:cNvPr id="26" name="用户群体较明确，可复用部分基础知识与产品能力">
            <a:extLst>
              <a:ext uri="{FF2B5EF4-FFF2-40B4-BE49-F238E27FC236}">
                <a16:creationId xmlns:a16="http://schemas.microsoft.com/office/drawing/2014/main" id="{4741E8C2-67C5-4715-9D77-9A535FE2CD4C}"/>
              </a:ext>
            </a:extLst>
          </p:cNvPr>
          <p:cNvSpPr>
            <a:spLocks noGrp="1"/>
          </p:cNvSpPr>
          <p:nvPr/>
        </p:nvSpPr>
        <p:spPr>
          <a:xfrm>
            <a:off x="8210550" y="4305300"/>
            <a:ext cx="27813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以实际报考专业识别需求，数量与占比需盘点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2EBD2F2D-15C2-429F-8009-41CBF5F78909}"/>
              </a:ext>
            </a:extLst>
          </p:cNvPr>
          <p:cNvSpPr>
            <a:spLocks noGrp="1"/>
          </p:cNvSpPr>
          <p:nvPr/>
        </p:nvSpPr>
        <p:spPr>
          <a:xfrm>
            <a:off x="533400" y="539115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本章结论">
            <a:extLst>
              <a:ext uri="{FF2B5EF4-FFF2-40B4-BE49-F238E27FC236}">
                <a16:creationId xmlns:a16="http://schemas.microsoft.com/office/drawing/2014/main" id="{7530977A-4857-4EEA-8D5A-76F41EFCA8A7}"/>
              </a:ext>
            </a:extLst>
          </p:cNvPr>
          <p:cNvSpPr>
            <a:spLocks noGrp="1"/>
          </p:cNvSpPr>
          <p:nvPr/>
        </p:nvSpPr>
        <p:spPr>
          <a:xfrm>
            <a:off x="704850" y="554355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29" name="341、342、343 面向不同医生群体，可复用产品框架，建议同步上线。">
            <a:extLst>
              <a:ext uri="{FF2B5EF4-FFF2-40B4-BE49-F238E27FC236}">
                <a16:creationId xmlns:a16="http://schemas.microsoft.com/office/drawing/2014/main" id="{E6C5082D-F2B7-4F64-A120-46C79B5B3C98}"/>
              </a:ext>
            </a:extLst>
          </p:cNvPr>
          <p:cNvSpPr>
            <a:spLocks noGrp="1"/>
          </p:cNvSpPr>
          <p:nvPr/>
        </p:nvSpPr>
        <p:spPr>
          <a:xfrm>
            <a:off x="2133600" y="551497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三个专业同步上线，内容按所选专业配置，不以所在科室代替报考专业。</a:t>
            </a:r>
          </a:p>
        </p:txBody>
      </p:sp>
    </p:spTree>
    <p:extLst>
      <p:ext uri="{BB962C8B-B14F-4D97-AF65-F5344CB8AC3E}">
        <p14:creationId xmlns:p14="http://schemas.microsoft.com/office/powerpoint/2010/main" val="1422171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中级考试结构">
            <a:extLst>
              <a:ext uri="{FF2B5EF4-FFF2-40B4-BE49-F238E27FC236}">
                <a16:creationId xmlns:a16="http://schemas.microsoft.com/office/drawing/2014/main" id="{AC8F32C9-F18A-4E28-AC3F-76F1BF512ED3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中级考试结构</a:t>
            </a:r>
          </a:p>
        </p:txBody>
      </p:sp>
      <p:sp>
        <p:nvSpPr>
          <p:cNvPr id="2" name="四个考试科目决定题库结构，案例题规则决定产品准确性">
            <a:extLst>
              <a:ext uri="{FF2B5EF4-FFF2-40B4-BE49-F238E27FC236}">
                <a16:creationId xmlns:a16="http://schemas.microsoft.com/office/drawing/2014/main" id="{A7B841EF-AA67-4502-9F59-D50408FDA59B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四科分别备考，题型与计分规则按官方材料确认</a:t>
            </a:r>
          </a:p>
        </p:txBody>
      </p:sp>
      <p:sp>
        <p:nvSpPr>
          <p:cNvPr id="3" name="适用于 341、342、343 等全国统一组织的中级职称考试。">
            <a:extLst>
              <a:ext uri="{FF2B5EF4-FFF2-40B4-BE49-F238E27FC236}">
                <a16:creationId xmlns:a16="http://schemas.microsoft.com/office/drawing/2014/main" id="{53BAB61A-BE68-4A0F-A75E-F5BCB91FD330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2026口径：四科机考，每科90分钟，各科60分合格，同专业成绩两年滚动。</a:t>
            </a:r>
          </a:p>
        </p:txBody>
      </p:sp>
      <p:sp>
        <p:nvSpPr>
          <p:cNvPr id="4" name="06">
            <a:extLst>
              <a:ext uri="{FF2B5EF4-FFF2-40B4-BE49-F238E27FC236}">
                <a16:creationId xmlns:a16="http://schemas.microsoft.com/office/drawing/2014/main" id="{56BAF788-0B5A-420D-9386-95C1E2DE1E88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EAF9DA1-C8E8-4423-AC0A-B9483CCB1983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7AECA09-0004-4ADD-BDBF-F57A3FE6D6B0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213E7CF-8E60-4587-97C3-B9241A70FC7E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6 / 12">
            <a:extLst>
              <a:ext uri="{FF2B5EF4-FFF2-40B4-BE49-F238E27FC236}">
                <a16:creationId xmlns:a16="http://schemas.microsoft.com/office/drawing/2014/main" id="{3C0DDA9C-0B52-4DF8-8D0D-340F9C416633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06 / 14</a:t>
            </a:r>
          </a:p>
        </p:txBody>
      </p:sp>
      <p:graphicFrame>
        <p:nvGraphicFramePr>
          <p:cNvPr id="28" name="表格 27"/>
          <p:cNvGraphicFramePr/>
          <p:nvPr/>
        </p:nvGraphicFramePr>
        <p:xfrm>
          <a:off x="533400" y="1752600"/>
          <a:ext cx="11125200" cy="2895600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试卷关系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内容与规则依据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按适用年度官方大纲组织内容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相关专业知识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按适用年度官方大纲组织内容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按专业核对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分别核对考点与题型要求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专业实践能力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按专业核对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具体题型、计分及回退规则待确认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产品必须准确适配">
            <a:extLst>
              <a:ext uri="{FF2B5EF4-FFF2-40B4-BE49-F238E27FC236}">
                <a16:creationId xmlns:a16="http://schemas.microsoft.com/office/drawing/2014/main" id="{FD3CD28A-81A6-4EB9-B8AA-5B9E6DAC66AA}"/>
              </a:ext>
            </a:extLst>
          </p:cNvPr>
          <p:cNvSpPr>
            <a:spLocks noGrp="1"/>
          </p:cNvSpPr>
          <p:nvPr/>
        </p:nvSpPr>
        <p:spPr>
          <a:xfrm>
            <a:off x="533400" y="495300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模拟功能待核验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DEB607DE-A7B2-4B11-B4CB-C860943239F6}"/>
              </a:ext>
            </a:extLst>
          </p:cNvPr>
          <p:cNvSpPr>
            <a:spLocks noGrp="1"/>
          </p:cNvSpPr>
          <p:nvPr/>
        </p:nvSpPr>
        <p:spPr>
          <a:xfrm>
            <a:off x="31432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案例分析题选错扣分">
            <a:extLst>
              <a:ext uri="{FF2B5EF4-FFF2-40B4-BE49-F238E27FC236}">
                <a16:creationId xmlns:a16="http://schemas.microsoft.com/office/drawing/2014/main" id="{BFE24780-3E37-4A0F-AE67-7B7E2F47B4DD}"/>
              </a:ext>
            </a:extLst>
          </p:cNvPr>
          <p:cNvSpPr>
            <a:spLocks noGrp="1"/>
          </p:cNvSpPr>
          <p:nvPr/>
        </p:nvSpPr>
        <p:spPr>
          <a:xfrm>
            <a:off x="31432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案例题计分待核验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C2D0A369-5519-44DD-95AC-610CE50469BE}"/>
              </a:ext>
            </a:extLst>
          </p:cNvPr>
          <p:cNvSpPr>
            <a:spLocks noGrp="1"/>
          </p:cNvSpPr>
          <p:nvPr/>
        </p:nvSpPr>
        <p:spPr>
          <a:xfrm>
            <a:off x="58864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单向作答，不可回退">
            <a:extLst>
              <a:ext uri="{FF2B5EF4-FFF2-40B4-BE49-F238E27FC236}">
                <a16:creationId xmlns:a16="http://schemas.microsoft.com/office/drawing/2014/main" id="{B247E62C-EF04-46B8-9683-C64516E0DEDB}"/>
              </a:ext>
            </a:extLst>
          </p:cNvPr>
          <p:cNvSpPr>
            <a:spLocks noGrp="1"/>
          </p:cNvSpPr>
          <p:nvPr/>
        </p:nvSpPr>
        <p:spPr>
          <a:xfrm>
            <a:off x="58864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回退规则待核验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1831E238-BFB3-4D91-9098-B5B33A9AC59D}"/>
              </a:ext>
            </a:extLst>
          </p:cNvPr>
          <p:cNvSpPr>
            <a:spLocks noGrp="1"/>
          </p:cNvSpPr>
          <p:nvPr/>
        </p:nvSpPr>
        <p:spPr>
          <a:xfrm>
            <a:off x="86296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四科成绩两年滚动">
            <a:extLst>
              <a:ext uri="{FF2B5EF4-FFF2-40B4-BE49-F238E27FC236}">
                <a16:creationId xmlns:a16="http://schemas.microsoft.com/office/drawing/2014/main" id="{FEC089A2-98A5-41BE-96E1-8E266C5A56E2}"/>
              </a:ext>
            </a:extLst>
          </p:cNvPr>
          <p:cNvSpPr>
            <a:spLocks noGrp="1"/>
          </p:cNvSpPr>
          <p:nvPr/>
        </p:nvSpPr>
        <p:spPr>
          <a:xfrm>
            <a:off x="86296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题型题量待核验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5F78D1C2-5A9F-494D-8E56-61D92B397819}"/>
              </a:ext>
            </a:extLst>
          </p:cNvPr>
          <p:cNvSpPr>
            <a:spLocks noGrp="1"/>
          </p:cNvSpPr>
          <p:nvPr/>
        </p:nvSpPr>
        <p:spPr>
          <a:xfrm>
            <a:off x="533400" y="56388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本章结论">
            <a:extLst>
              <a:ext uri="{FF2B5EF4-FFF2-40B4-BE49-F238E27FC236}">
                <a16:creationId xmlns:a16="http://schemas.microsoft.com/office/drawing/2014/main" id="{913F418F-19A8-4651-BD05-A059309D6451}"/>
              </a:ext>
            </a:extLst>
          </p:cNvPr>
          <p:cNvSpPr>
            <a:spLocks noGrp="1"/>
          </p:cNvSpPr>
          <p:nvPr/>
        </p:nvSpPr>
        <p:spPr>
          <a:xfrm>
            <a:off x="704850" y="57912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9" name="三专业都要覆盖四科并适配考试规则，首期重点是题库、题型与解析准确。">
            <a:extLst>
              <a:ext uri="{FF2B5EF4-FFF2-40B4-BE49-F238E27FC236}">
                <a16:creationId xmlns:a16="http://schemas.microsoft.com/office/drawing/2014/main" id="{0054385D-0F92-4822-8BF1-48E0BE973442}"/>
              </a:ext>
            </a:extLst>
          </p:cNvPr>
          <p:cNvSpPr>
            <a:spLocks noGrp="1"/>
          </p:cNvSpPr>
          <p:nvPr/>
        </p:nvSpPr>
        <p:spPr>
          <a:xfrm>
            <a:off x="2133600" y="57626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前两科共用试卷，后两科按专业考纲建设；练习表现不等同正式考试成绩。</a:t>
            </a:r>
          </a:p>
        </p:txBody>
      </p:sp>
    </p:spTree>
    <p:extLst>
      <p:ext uri="{BB962C8B-B14F-4D97-AF65-F5344CB8AC3E}">
        <p14:creationId xmlns:p14="http://schemas.microsoft.com/office/powerpoint/2010/main" val="1094101680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" name="考试类型与专业方向">
            <a:extLst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备考难点与产品应对</a:t>
            </a:r>
          </a:p>
        </p:txBody>
      </p:sp>
      <p:sp>
        <p:nvSpPr>
          <p:cNvPr id="2" name="中级职称更适合首期规模化建设">
            <a:extLst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围绕易混知识与病例判断，补充理解型练习</a:t>
            </a:r>
          </a:p>
        </p:txBody>
      </p:sp>
      <p:sp>
        <p:nvSpPr>
          <p:cNvPr id="3" name="全国统一考试的标准化程度更高；高级职称需要适配不同省份。">
            <a:extLst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机构沟通提示的需求线索，主要涉及肿瘤内科；需考生访谈验证，具体内容按官方考纲核对。</a:t>
            </a:r>
          </a:p>
        </p:txBody>
      </p:sp>
      <p:sp>
        <p:nvSpPr>
          <p:cNvPr id="4" name="04">
            <a:extLst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07 / 14</a:t>
            </a:r>
          </a:p>
        </p:txBody>
      </p:sp>
      <p:graphicFrame>
        <p:nvGraphicFramePr>
          <p:cNvPr id="21" name="表格 20"/>
          <p:cNvGraphicFramePr/>
          <p:nvPr/>
        </p:nvGraphicFramePr>
        <p:xfrm>
          <a:off x="533400" y="1752600"/>
          <a:ext cx="11125200" cy="36385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调研线索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可能的备考任务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产品建议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知识分散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串联跨学科知识，定位薄弱点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按考纲关联考点与题目，提供学习路径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分期与方案易混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比较病例条件及对应判断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分期与条件对照，安排同考点变式练习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病例与相似选项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识别病史、影像、病理中的关键依据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解释选项差异和排除理由，支持追问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药物知识记忆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区分适用条件、不良反应与易混点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经审核的知识对照与间隔复测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内容版本变化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理解考纲与参考资料的版本差异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标注适用版本，由教研核对更新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本章结论">
            <a:extLst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验证重点：换了题目或病例条件后，考生能否说清判断依据。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竞品分析">
            <a:extLst>
              <a:ext uri="{FF2B5EF4-FFF2-40B4-BE49-F238E27FC236}">
                <a16:creationId xmlns:a16="http://schemas.microsoft.com/office/drawing/2014/main" id="{129A57BA-87EB-4F40-85A8-C975A6DE4CE4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竞品分析</a:t>
            </a:r>
          </a:p>
        </p:txBody>
      </p:sp>
      <p:sp>
        <p:nvSpPr>
          <p:cNvPr id="2" name="市场供给分为四类，五家重点对象构成直接竞争">
            <a:extLst>
              <a:ext uri="{FF2B5EF4-FFF2-40B4-BE49-F238E27FC236}">
                <a16:creationId xmlns:a16="http://schemas.microsoft.com/office/drawing/2014/main" id="{650B2B35-1E74-4D8F-8ECF-144BF38EB3C6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按产品形态比较供给，重点核对专业覆盖与学习体验</a:t>
            </a:r>
          </a:p>
        </p:txBody>
      </p:sp>
      <p:sp>
        <p:nvSpPr>
          <p:cNvPr id="3" name="不同产品形态覆盖从传统权威题集到移动端题库与会员社区。">
            <a:extLst>
              <a:ext uri="{FF2B5EF4-FFF2-40B4-BE49-F238E27FC236}">
                <a16:creationId xmlns:a16="http://schemas.microsoft.com/office/drawing/2014/main" id="{0406A92C-770F-402A-B75D-6E40C7550662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以下为调研框架；具体功能与产品差异需以官方商品页面和实测留证。</a:t>
            </a:r>
          </a:p>
        </p:txBody>
      </p:sp>
      <p:sp>
        <p:nvSpPr>
          <p:cNvPr id="4" name="07">
            <a:extLst>
              <a:ext uri="{FF2B5EF4-FFF2-40B4-BE49-F238E27FC236}">
                <a16:creationId xmlns:a16="http://schemas.microsoft.com/office/drawing/2014/main" id="{FD5C8C1C-316F-4D43-BE4D-EB3942FF0BA4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277D41-4BB5-4482-ACFA-15918AD340A2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F8F1C1-8F83-4154-B9A6-5059D067CCF4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61F0064-945D-410A-A84B-D8868FA542B0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7 / 12">
            <a:extLst>
              <a:ext uri="{FF2B5EF4-FFF2-40B4-BE49-F238E27FC236}">
                <a16:creationId xmlns:a16="http://schemas.microsoft.com/office/drawing/2014/main" id="{ACBC2C74-AE84-43C9-BE5E-091EEE883E68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08 / 14</a:t>
            </a:r>
          </a:p>
        </p:txBody>
      </p:sp>
      <p:graphicFrame>
        <p:nvGraphicFramePr>
          <p:cNvPr id="32" name="表格 31"/>
          <p:cNvGraphicFramePr/>
          <p:nvPr/>
        </p:nvGraphicFramePr>
        <p:xfrm>
          <a:off x="533400" y="1752600"/>
          <a:ext cx="11125200" cy="28765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9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产品形态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调研对象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比较重点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需核验事项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教材与习题集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适用年度正式出版物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目录、版本与解析结构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适用专业与更新版本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专业题库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各品牌肿瘤中级商品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四科与案例内容覆盖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题目来源、解析与有效期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课程与题库套餐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品牌官方课程套餐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课程、题库与服务权益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商品边界与实际价格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AI辅助服务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正式产品及实测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追问、解释与纠错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专业准确性与使用额度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五家直接竞品">
            <a:extLst>
              <a:ext uri="{FF2B5EF4-FFF2-40B4-BE49-F238E27FC236}">
                <a16:creationId xmlns:a16="http://schemas.microsoft.com/office/drawing/2014/main" id="{A8F4D703-03C8-482D-964D-3B7EA71FC593}"/>
              </a:ext>
            </a:extLst>
          </p:cNvPr>
          <p:cNvSpPr>
            <a:spLocks noGrp="1"/>
          </p:cNvSpPr>
          <p:nvPr/>
        </p:nvSpPr>
        <p:spPr>
          <a:xfrm>
            <a:off x="533400" y="4953000"/>
            <a:ext cx="1809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候选调研对象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F53A55CB-25CD-466B-A71C-4E43CB4AF5A9}"/>
              </a:ext>
            </a:extLst>
          </p:cNvPr>
          <p:cNvSpPr>
            <a:spLocks noGrp="1"/>
          </p:cNvSpPr>
          <p:nvPr/>
        </p:nvSpPr>
        <p:spPr>
          <a:xfrm>
            <a:off x="241935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阿虎医考">
            <a:extLst>
              <a:ext uri="{FF2B5EF4-FFF2-40B4-BE49-F238E27FC236}">
                <a16:creationId xmlns:a16="http://schemas.microsoft.com/office/drawing/2014/main" id="{2C959D8C-A6E1-4FFB-9E8F-DF7DCD19CF0E}"/>
              </a:ext>
            </a:extLst>
          </p:cNvPr>
          <p:cNvSpPr>
            <a:spLocks noGrp="1"/>
          </p:cNvSpPr>
          <p:nvPr/>
        </p:nvSpPr>
        <p:spPr>
          <a:xfrm>
            <a:off x="241935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阿虎医考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FBACF073-F54D-49C4-84C6-35D673AD09C1}"/>
              </a:ext>
            </a:extLst>
          </p:cNvPr>
          <p:cNvSpPr>
            <a:spLocks noGrp="1"/>
          </p:cNvSpPr>
          <p:nvPr/>
        </p:nvSpPr>
        <p:spPr>
          <a:xfrm>
            <a:off x="4200525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考试宝典">
            <a:extLst>
              <a:ext uri="{FF2B5EF4-FFF2-40B4-BE49-F238E27FC236}">
                <a16:creationId xmlns:a16="http://schemas.microsoft.com/office/drawing/2014/main" id="{A7CEE3D8-3757-421E-BFDF-F4870B58D32B}"/>
              </a:ext>
            </a:extLst>
          </p:cNvPr>
          <p:cNvSpPr>
            <a:spLocks noGrp="1"/>
          </p:cNvSpPr>
          <p:nvPr/>
        </p:nvSpPr>
        <p:spPr>
          <a:xfrm>
            <a:off x="4200525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考试宝典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6A58742C-B265-4D32-ACE8-CA4FCAF6E99B}"/>
              </a:ext>
            </a:extLst>
          </p:cNvPr>
          <p:cNvSpPr>
            <a:spLocks noGrp="1"/>
          </p:cNvSpPr>
          <p:nvPr/>
        </p:nvSpPr>
        <p:spPr>
          <a:xfrm>
            <a:off x="598170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肿瘤学圣题库">
            <a:extLst>
              <a:ext uri="{FF2B5EF4-FFF2-40B4-BE49-F238E27FC236}">
                <a16:creationId xmlns:a16="http://schemas.microsoft.com/office/drawing/2014/main" id="{096858BA-59EC-4064-B52C-0CD29FB0A5CC}"/>
              </a:ext>
            </a:extLst>
          </p:cNvPr>
          <p:cNvSpPr>
            <a:spLocks noGrp="1"/>
          </p:cNvSpPr>
          <p:nvPr/>
        </p:nvSpPr>
        <p:spPr>
          <a:xfrm>
            <a:off x="598170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圣才／圣题库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7F8637EC-5C06-420E-A36D-B20992544F75}"/>
              </a:ext>
            </a:extLst>
          </p:cNvPr>
          <p:cNvSpPr>
            <a:spLocks noGrp="1"/>
          </p:cNvSpPr>
          <p:nvPr/>
        </p:nvSpPr>
        <p:spPr>
          <a:xfrm>
            <a:off x="7762875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蓝基因">
            <a:extLst>
              <a:ext uri="{FF2B5EF4-FFF2-40B4-BE49-F238E27FC236}">
                <a16:creationId xmlns:a16="http://schemas.microsoft.com/office/drawing/2014/main" id="{6C87C19D-251F-4AFD-8A14-2F45A8FD5A79}"/>
              </a:ext>
            </a:extLst>
          </p:cNvPr>
          <p:cNvSpPr>
            <a:spLocks noGrp="1"/>
          </p:cNvSpPr>
          <p:nvPr/>
        </p:nvSpPr>
        <p:spPr>
          <a:xfrm>
            <a:off x="7762875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蓝基因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D489DE2C-0BD2-4482-B961-18EADA9F0F34}"/>
              </a:ext>
            </a:extLst>
          </p:cNvPr>
          <p:cNvSpPr>
            <a:spLocks noGrp="1"/>
          </p:cNvSpPr>
          <p:nvPr/>
        </p:nvSpPr>
        <p:spPr>
          <a:xfrm>
            <a:off x="954405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医考帮">
            <a:extLst>
              <a:ext uri="{FF2B5EF4-FFF2-40B4-BE49-F238E27FC236}">
                <a16:creationId xmlns:a16="http://schemas.microsoft.com/office/drawing/2014/main" id="{DD659093-383D-4D44-AD50-559FD39E791F}"/>
              </a:ext>
            </a:extLst>
          </p:cNvPr>
          <p:cNvSpPr>
            <a:spLocks noGrp="1"/>
          </p:cNvSpPr>
          <p:nvPr/>
        </p:nvSpPr>
        <p:spPr>
          <a:xfrm>
            <a:off x="954405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医考帮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F58A219-479B-482D-B95F-59032D7DC76F}"/>
              </a:ext>
            </a:extLst>
          </p:cNvPr>
          <p:cNvSpPr>
            <a:spLocks noGrp="1"/>
          </p:cNvSpPr>
          <p:nvPr/>
        </p:nvSpPr>
        <p:spPr>
          <a:xfrm>
            <a:off x="533400" y="56388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本章结论">
            <a:extLst>
              <a:ext uri="{FF2B5EF4-FFF2-40B4-BE49-F238E27FC236}">
                <a16:creationId xmlns:a16="http://schemas.microsoft.com/office/drawing/2014/main" id="{6479907B-2FBE-4098-8BA0-00336FFB264D}"/>
              </a:ext>
            </a:extLst>
          </p:cNvPr>
          <p:cNvSpPr>
            <a:spLocks noGrp="1"/>
          </p:cNvSpPr>
          <p:nvPr/>
        </p:nvSpPr>
        <p:spPr>
          <a:xfrm>
            <a:off x="704850" y="57912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23" name="五家均为直接竞品，市场已有成熟链路、合并题库、低价单题库和会员制。">
            <a:extLst>
              <a:ext uri="{FF2B5EF4-FFF2-40B4-BE49-F238E27FC236}">
                <a16:creationId xmlns:a16="http://schemas.microsoft.com/office/drawing/2014/main" id="{BAB7DFA5-2B18-42E4-9BA3-D9EDA3504B0F}"/>
              </a:ext>
            </a:extLst>
          </p:cNvPr>
          <p:cNvSpPr>
            <a:spLocks noGrp="1"/>
          </p:cNvSpPr>
          <p:nvPr/>
        </p:nvSpPr>
        <p:spPr>
          <a:xfrm>
            <a:off x="2133600" y="57626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先核对目标专业、内容与权益，再判断直接竞争关系和差异化机会。</a:t>
            </a:r>
          </a:p>
        </p:txBody>
      </p:sp>
    </p:spTree>
    <p:extLst>
      <p:ext uri="{BB962C8B-B14F-4D97-AF65-F5344CB8AC3E}">
        <p14:creationId xmlns:p14="http://schemas.microsoft.com/office/powerpoint/2010/main" val="1172209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竞品横向对比">
            <a:extLst>
              <a:ext uri="{FF2B5EF4-FFF2-40B4-BE49-F238E27FC236}">
                <a16:creationId xmlns:a16="http://schemas.microsoft.com/office/drawing/2014/main" id="{F7C0092D-40E8-4F96-B4E4-0A8BC09026C1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竞品横向对比</a:t>
            </a:r>
          </a:p>
        </p:txBody>
      </p:sp>
      <p:sp>
        <p:nvSpPr>
          <p:cNvPr id="2" name="竞品价格与产品模式已形成清晰锚点">
            <a:extLst>
              <a:ext uri="{FF2B5EF4-FFF2-40B4-BE49-F238E27FC236}">
                <a16:creationId xmlns:a16="http://schemas.microsoft.com/office/drawing/2014/main" id="{01F89279-665C-4C11-9F24-0DB65CDFA0DA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竞品价格与权益需要按具体商品核对</a:t>
            </a:r>
          </a:p>
        </p:txBody>
      </p:sp>
      <p:sp>
        <p:nvSpPr>
          <p:cNvPr id="3" name="公开价格样本用于理解购买门槛，不代表长期售价或完整权益完全可比。">
            <a:extLst>
              <a:ext uri="{FF2B5EF4-FFF2-40B4-BE49-F238E27FC236}">
                <a16:creationId xmlns:a16="http://schemas.microsoft.com/office/drawing/2014/main" id="{AE81A8E3-2999-4074-830B-575F000CCB5E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原价格样本缺少可追溯证据，暂不作为定价依据；采集时记录日期、渠道与有效期。</a:t>
            </a:r>
          </a:p>
        </p:txBody>
      </p:sp>
      <p:sp>
        <p:nvSpPr>
          <p:cNvPr id="4" name="08">
            <a:extLst>
              <a:ext uri="{FF2B5EF4-FFF2-40B4-BE49-F238E27FC236}">
                <a16:creationId xmlns:a16="http://schemas.microsoft.com/office/drawing/2014/main" id="{DBF95B45-38A9-4406-8233-8D364CE63740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2B2FA7-CF81-4A0F-9F6F-FC48F1B1B17C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1E2CD4E-96A4-4706-AE8D-3421F82817C2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91535925-55CB-4854-B966-6B2902EAC36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8 / 12">
            <a:extLst>
              <a:ext uri="{FF2B5EF4-FFF2-40B4-BE49-F238E27FC236}">
                <a16:creationId xmlns:a16="http://schemas.microsoft.com/office/drawing/2014/main" id="{878C7DDC-9D22-45ED-9771-CAAD96B71B33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09 / 14</a:t>
            </a:r>
          </a:p>
        </p:txBody>
      </p:sp>
      <p:graphicFrame>
        <p:nvGraphicFramePr>
          <p:cNvPr id="21" name="表格 20"/>
          <p:cNvGraphicFramePr/>
          <p:nvPr/>
        </p:nvGraphicFramePr>
        <p:xfrm>
          <a:off x="533400" y="1695450"/>
          <a:ext cx="11125200" cy="3848100"/>
        </p:xfrm>
        <a:graphic>
          <a:graphicData uri="http://schemas.openxmlformats.org/drawingml/2006/table">
            <a:tbl>
              <a:tblPr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调研对象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待核商品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价格处理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需留存证据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比较重点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阿虎医考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肿瘤题库与课程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原价格暂不采用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对应专业购买页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区分题库与课程权益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考试宝典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各专业题库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按商品重新核验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商品名称与有效期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核对专业范围与内容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圣才／圣题库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各专业单科题库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摘要价格待留证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官网或App购买页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题量、解析及有效期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蓝基因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肿瘤中级相关商品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原价格暂不采用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官方购买页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专业覆盖与基础体验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医考帮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题库会员及课程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分产品核对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会员及课程权益页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区分会员与单独商品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03D54830-11BE-4CE1-ABF1-CA8A87FD5883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本章结论">
            <a:extLst>
              <a:ext uri="{FF2B5EF4-FFF2-40B4-BE49-F238E27FC236}">
                <a16:creationId xmlns:a16="http://schemas.microsoft.com/office/drawing/2014/main" id="{C5D727C6-56C7-4440-8917-4BA2B00C0D19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首期优先单题库或三专业组合包，降低购买门槛，不强制全站会员。">
            <a:extLst>
              <a:ext uri="{FF2B5EF4-FFF2-40B4-BE49-F238E27FC236}">
                <a16:creationId xmlns:a16="http://schemas.microsoft.com/office/drawing/2014/main" id="{4789B8D0-830E-433A-8BA7-B858585EB97D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单题库、组合包与会员均为备选，本期收费方式尚未确定。</a:t>
            </a:r>
          </a:p>
        </p:txBody>
      </p:sp>
    </p:spTree>
    <p:extLst>
      <p:ext uri="{BB962C8B-B14F-4D97-AF65-F5344CB8AC3E}">
        <p14:creationId xmlns:p14="http://schemas.microsoft.com/office/powerpoint/2010/main" val="1819888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能力对标与产品响应">
            <a:extLst>
              <a:ext uri="{FF2B5EF4-FFF2-40B4-BE49-F238E27FC236}">
                <a16:creationId xmlns:a16="http://schemas.microsoft.com/office/drawing/2014/main" id="{2B99E6C7-B340-4532-91E1-B4D56C5C041D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能力对标与产品响应</a:t>
            </a:r>
          </a:p>
        </p:txBody>
      </p:sp>
      <p:sp>
        <p:nvSpPr>
          <p:cNvPr id="2" name="差异化应集中在专科内容、可信解析与持续更新">
            <a:extLst>
              <a:ext uri="{FF2B5EF4-FFF2-40B4-BE49-F238E27FC236}">
                <a16:creationId xmlns:a16="http://schemas.microsoft.com/office/drawing/2014/main" id="{24AE10CE-1D40-4330-9BA1-D24E531DE9E0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将已有内容资源转为职称备考能力</a:t>
            </a:r>
          </a:p>
        </p:txBody>
      </p:sp>
      <p:sp>
        <p:nvSpPr>
          <p:cNvPr id="3" name="复杂功能不能替代肿瘤专业内容质量。">
            <a:extLst>
              <a:ext uri="{FF2B5EF4-FFF2-40B4-BE49-F238E27FC236}">
                <a16:creationId xmlns:a16="http://schemas.microsoft.com/office/drawing/2014/main" id="{89524116-8BCE-4156-AB02-20D82B61E525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复用 CSCO 指南、病例、影像与大查房题目，按专业和考纲完成内容适配。</a:t>
            </a:r>
          </a:p>
        </p:txBody>
      </p:sp>
      <p:sp>
        <p:nvSpPr>
          <p:cNvPr id="4" name="09">
            <a:extLst>
              <a:ext uri="{FF2B5EF4-FFF2-40B4-BE49-F238E27FC236}">
                <a16:creationId xmlns:a16="http://schemas.microsoft.com/office/drawing/2014/main" id="{5B1196EF-FC1B-47A5-9434-FBF554FAE16D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F7B168-E0E1-48A4-BFB2-E9120C04159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2C2161-E314-4B61-AF25-2C48B02C82C6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C28B47DD-13A1-4D4A-AF20-A796D8B2E2FD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9 / 12">
            <a:extLst>
              <a:ext uri="{FF2B5EF4-FFF2-40B4-BE49-F238E27FC236}">
                <a16:creationId xmlns:a16="http://schemas.microsoft.com/office/drawing/2014/main" id="{21450161-8807-4271-B8F1-BEB5968CC885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11 / 14</a:t>
            </a:r>
          </a:p>
        </p:txBody>
      </p:sp>
      <p:graphicFrame>
        <p:nvGraphicFramePr>
          <p:cNvPr id="24" name="表格 23"/>
          <p:cNvGraphicFramePr/>
          <p:nvPr/>
        </p:nvGraphicFramePr>
        <p:xfrm>
          <a:off x="533400" y="1752600"/>
          <a:ext cx="11125200" cy="306705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关键能力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已有基础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本期响应</a:t>
                      </a:r>
                      <a:endParaRPr sz="135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知识与解析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CSCO 指南与专科内容积累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对照考纲整理知识点，标注解析来源与版本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病例练习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病例、影像与大查房题目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筛选适合考纲的题目，补充判读与易混选项解析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三专业适配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341／342／343 同步上线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按专业映射内容，补齐外科与放疗考点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小程序接入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现有职考流程与 AI 能力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首屏加三个选项；收费方式、价格与权益待定</a:t>
                      </a:r>
                      <a:endParaRPr sz="1350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AA3F006B-AE44-42F0-96E2-FE3057DCFB1F}"/>
              </a:ext>
            </a:extLst>
          </p:cNvPr>
          <p:cNvSpPr>
            <a:spLocks noGrp="1"/>
          </p:cNvSpPr>
          <p:nvPr/>
        </p:nvSpPr>
        <p:spPr>
          <a:xfrm>
            <a:off x="533400" y="5010150"/>
            <a:ext cx="11125200" cy="495300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内容可信">
            <a:extLst>
              <a:ext uri="{FF2B5EF4-FFF2-40B4-BE49-F238E27FC236}">
                <a16:creationId xmlns:a16="http://schemas.microsoft.com/office/drawing/2014/main" id="{15D37B3F-1266-4111-9113-96D8BBFAA90A}"/>
              </a:ext>
            </a:extLst>
          </p:cNvPr>
          <p:cNvSpPr>
            <a:spLocks noGrp="1"/>
          </p:cNvSpPr>
          <p:nvPr/>
        </p:nvSpPr>
        <p:spPr>
          <a:xfrm>
            <a:off x="723900" y="514350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rPr>
              <a:t>内容可信</a:t>
            </a:r>
          </a:p>
        </p:txBody>
      </p:sp>
      <p:sp>
        <p:nvSpPr>
          <p:cNvPr id="12" name="每道题都要有可核验的考纲与解析依据">
            <a:extLst>
              <a:ext uri="{FF2B5EF4-FFF2-40B4-BE49-F238E27FC236}">
                <a16:creationId xmlns:a16="http://schemas.microsoft.com/office/drawing/2014/main" id="{F8BE9883-864F-486F-8DB7-DF091825518F}"/>
              </a:ext>
            </a:extLst>
          </p:cNvPr>
          <p:cNvSpPr>
            <a:spLocks noGrp="1"/>
          </p:cNvSpPr>
          <p:nvPr/>
        </p:nvSpPr>
        <p:spPr>
          <a:xfrm>
            <a:off x="2476500" y="5124450"/>
            <a:ext cx="8572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每道题都要有可核验的考纲与解析依据</a:t>
            </a:r>
            <a:endParaRPr sz="1575" b="0" dirty="0">
              <a:solidFill>
                <a:srgbClr val="6F84A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2D2B6224-F637-4D6C-9950-EA671BDC7B9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本章结论">
            <a:extLst>
              <a:ext uri="{FF2B5EF4-FFF2-40B4-BE49-F238E27FC236}">
                <a16:creationId xmlns:a16="http://schemas.microsoft.com/office/drawing/2014/main" id="{377B6138-CCD7-450F-AEB0-6467CAE95FD5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5" name="以三专业覆盖、可信解析、持续更新和既有用户触达形成差异。">
            <a:extLst>
              <a:ext uri="{FF2B5EF4-FFF2-40B4-BE49-F238E27FC236}">
                <a16:creationId xmlns:a16="http://schemas.microsoft.com/office/drawing/2014/main" id="{A0E52664-A368-44B3-BE4F-7BED36B750A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以指南支撑解释，以病例与影像承载练习，以既有题目降低从零建设的工作量。</a:t>
            </a:r>
          </a:p>
        </p:txBody>
      </p:sp>
    </p:spTree>
    <p:extLst>
      <p:ext uri="{BB962C8B-B14F-4D97-AF65-F5344CB8AC3E}">
        <p14:creationId xmlns:p14="http://schemas.microsoft.com/office/powerpoint/2010/main" val="465197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市场规模">
            <a:extLst>
              <a:ext uri="{FF2B5EF4-FFF2-40B4-BE49-F238E27FC236}">
                <a16:creationId xmlns:a16="http://schemas.microsoft.com/office/drawing/2014/main" id="{E7C70AD0-BBB4-43CB-81E8-BF7EDFEF9422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市场规模</a:t>
            </a:r>
          </a:p>
        </p:txBody>
      </p:sp>
      <p:sp>
        <p:nvSpPr>
          <p:cNvPr id="2" name="市场规模需要区分官方数据、同口径推算与内部情景">
            <a:extLst>
              <a:ext uri="{FF2B5EF4-FFF2-40B4-BE49-F238E27FC236}">
                <a16:creationId xmlns:a16="http://schemas.microsoft.com/office/drawing/2014/main" id="{E94545EB-8EAA-4FA1-BA5A-FC7E7AB06E24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沿用原方案规模估算，区分存量与年度考生</a:t>
            </a:r>
          </a:p>
        </p:txBody>
      </p:sp>
      <p:sp>
        <p:nvSpPr>
          <p:cNvPr id="3" name="不同证据承担不同用途，内部情景不能表述为官方报名率。">
            <a:extLst>
              <a:ext uri="{FF2B5EF4-FFF2-40B4-BE49-F238E27FC236}">
                <a16:creationId xmlns:a16="http://schemas.microsoft.com/office/drawing/2014/main" id="{1AF6AE0C-5B7E-4F1F-938A-1B612DA5E828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保留原方案数值用于内部规划；基础数据、专业占比和报考比例尚未验证，不作为官方统计。</a:t>
            </a:r>
          </a:p>
        </p:txBody>
      </p:sp>
      <p:sp>
        <p:nvSpPr>
          <p:cNvPr id="4" name="10">
            <a:extLst>
              <a:ext uri="{FF2B5EF4-FFF2-40B4-BE49-F238E27FC236}">
                <a16:creationId xmlns:a16="http://schemas.microsoft.com/office/drawing/2014/main" id="{CFF82211-2469-4CE2-B0E4-C06CB9BED7EF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8943C90-6FB4-403C-9CDC-791DE2E46F24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840F00C-783D-4222-913C-135669D4B691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49D48DF-2040-4A1C-B7B5-30D9FFF10659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10 / 12">
            <a:extLst>
              <a:ext uri="{FF2B5EF4-FFF2-40B4-BE49-F238E27FC236}">
                <a16:creationId xmlns:a16="http://schemas.microsoft.com/office/drawing/2014/main" id="{EB94C54E-58ED-49D2-9E7E-FEFB5004F96B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12 / 14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8CF82C2-46AA-4AA7-BD16-BF9DAE5D42AE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3524250" cy="838200"/>
          </a:xfrm>
          <a:prstGeom prst="roundRect">
            <a:avLst>
              <a:gd name="adj" fmla="val 22727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A｜官方数据">
            <a:extLst>
              <a:ext uri="{FF2B5EF4-FFF2-40B4-BE49-F238E27FC236}">
                <a16:creationId xmlns:a16="http://schemas.microsoft.com/office/drawing/2014/main" id="{72635B7C-F7FD-4391-A445-CE753BD9FC94}"/>
              </a:ext>
            </a:extLst>
          </p:cNvPr>
          <p:cNvSpPr>
            <a:spLocks noGrp="1"/>
          </p:cNvSpPr>
          <p:nvPr/>
        </p:nvSpPr>
        <p:spPr>
          <a:xfrm>
            <a:off x="704850" y="19050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A｜原方案存量</a:t>
            </a:r>
          </a:p>
        </p:txBody>
      </p:sp>
      <p:sp>
        <p:nvSpPr>
          <p:cNvPr id="11" name="医师总量、分科占比、村卫生室人数">
            <a:extLst>
              <a:ext uri="{FF2B5EF4-FFF2-40B4-BE49-F238E27FC236}">
                <a16:creationId xmlns:a16="http://schemas.microsoft.com/office/drawing/2014/main" id="{8381095A-72C6-445B-AD4A-E29FD43FFFF8}"/>
              </a:ext>
            </a:extLst>
          </p:cNvPr>
          <p:cNvSpPr>
            <a:spLocks noGrp="1"/>
          </p:cNvSpPr>
          <p:nvPr/>
        </p:nvSpPr>
        <p:spPr>
          <a:xfrm>
            <a:off x="704850" y="2238375"/>
            <a:ext cx="3181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68,398 人：原医师存量推算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F132C8F5-A09A-4B8A-AE8C-7AA48D3F576F}"/>
              </a:ext>
            </a:extLst>
          </p:cNvPr>
          <p:cNvSpPr>
            <a:spLocks noGrp="1"/>
          </p:cNvSpPr>
          <p:nvPr/>
        </p:nvSpPr>
        <p:spPr>
          <a:xfrm>
            <a:off x="4276725" y="1752600"/>
            <a:ext cx="3524250" cy="8382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B｜同口径推算">
            <a:extLst>
              <a:ext uri="{FF2B5EF4-FFF2-40B4-BE49-F238E27FC236}">
                <a16:creationId xmlns:a16="http://schemas.microsoft.com/office/drawing/2014/main" id="{FE267912-9826-48CF-B035-68845150AE5A}"/>
              </a:ext>
            </a:extLst>
          </p:cNvPr>
          <p:cNvSpPr>
            <a:spLocks noGrp="1"/>
          </p:cNvSpPr>
          <p:nvPr/>
        </p:nvSpPr>
        <p:spPr>
          <a:xfrm>
            <a:off x="4448175" y="19050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B｜年度情景</a:t>
            </a:r>
          </a:p>
        </p:txBody>
      </p:sp>
      <p:sp>
        <p:nvSpPr>
          <p:cNvPr id="14" name="扣除村卫生室医师，再乘肿瘤科占比">
            <a:extLst>
              <a:ext uri="{FF2B5EF4-FFF2-40B4-BE49-F238E27FC236}">
                <a16:creationId xmlns:a16="http://schemas.microsoft.com/office/drawing/2014/main" id="{9A3A41E4-7BDB-46A3-9C76-B5ECE070AA39}"/>
              </a:ext>
            </a:extLst>
          </p:cNvPr>
          <p:cNvSpPr>
            <a:spLocks noGrp="1"/>
          </p:cNvSpPr>
          <p:nvPr/>
        </p:nvSpPr>
        <p:spPr>
          <a:xfrm>
            <a:off x="4448175" y="2238375"/>
            <a:ext cx="3181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3,400–6,800 人：原年度估算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2E3DFDC3-9B27-4064-B604-945034BAAE83}"/>
              </a:ext>
            </a:extLst>
          </p:cNvPr>
          <p:cNvSpPr>
            <a:spLocks noGrp="1"/>
          </p:cNvSpPr>
          <p:nvPr/>
        </p:nvSpPr>
        <p:spPr>
          <a:xfrm>
            <a:off x="8020050" y="1752600"/>
            <a:ext cx="3524250" cy="8382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C｜内部情景">
            <a:extLst>
              <a:ext uri="{FF2B5EF4-FFF2-40B4-BE49-F238E27FC236}">
                <a16:creationId xmlns:a16="http://schemas.microsoft.com/office/drawing/2014/main" id="{5F6EB28D-CE83-4D6B-AE20-051E0D779E7A}"/>
              </a:ext>
            </a:extLst>
          </p:cNvPr>
          <p:cNvSpPr>
            <a:spLocks noGrp="1"/>
          </p:cNvSpPr>
          <p:nvPr/>
        </p:nvSpPr>
        <p:spPr>
          <a:xfrm>
            <a:off x="8191500" y="19050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C｜首期验证</a:t>
            </a:r>
          </a:p>
        </p:txBody>
      </p:sp>
      <p:sp>
        <p:nvSpPr>
          <p:cNvPr id="17" name="年度报考窗口占存量医师 5%–10%">
            <a:extLst>
              <a:ext uri="{FF2B5EF4-FFF2-40B4-BE49-F238E27FC236}">
                <a16:creationId xmlns:a16="http://schemas.microsoft.com/office/drawing/2014/main" id="{5C64DFD8-80E2-4766-962F-26320C1C3755}"/>
              </a:ext>
            </a:extLst>
          </p:cNvPr>
          <p:cNvSpPr>
            <a:spLocks noGrp="1"/>
          </p:cNvSpPr>
          <p:nvPr/>
        </p:nvSpPr>
        <p:spPr>
          <a:xfrm>
            <a:off x="8191500" y="2238375"/>
            <a:ext cx="3181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盘点可触达考生与学习需求</a:t>
            </a:r>
          </a:p>
        </p:txBody>
      </p:sp>
      <p:graphicFrame>
        <p:nvGraphicFramePr>
          <p:cNvPr id="48" name="表格 47"/>
          <p:cNvGraphicFramePr/>
          <p:nvPr/>
        </p:nvGraphicFramePr>
        <p:xfrm>
          <a:off x="533400" y="2857500"/>
          <a:ext cx="11125200" cy="142875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医师总量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专业存量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报名人数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付费率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客单价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行业背景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原估算基础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考生规模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收入测算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收入测算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核对原来源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保留原估算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以情景展示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待测试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待决策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圆角矩形 18">
            <a:extLst>
              <a:ext uri="{FF2B5EF4-FFF2-40B4-BE49-F238E27FC236}">
                <a16:creationId xmlns:a16="http://schemas.microsoft.com/office/drawing/2014/main" id="{72D49A1B-3E81-4CC7-B1C1-C2BA6D2E8881}"/>
              </a:ext>
            </a:extLst>
          </p:cNvPr>
          <p:cNvSpPr>
            <a:spLocks noGrp="1"/>
          </p:cNvSpPr>
          <p:nvPr/>
        </p:nvSpPr>
        <p:spPr>
          <a:xfrm>
            <a:off x="533400" y="4552950"/>
            <a:ext cx="3381375" cy="952500"/>
          </a:xfrm>
          <a:prstGeom prst="roundRect">
            <a:avLst>
              <a:gd name="adj" fmla="val 20000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68,398 人">
            <a:extLst>
              <a:ext uri="{FF2B5EF4-FFF2-40B4-BE49-F238E27FC236}">
                <a16:creationId xmlns:a16="http://schemas.microsoft.com/office/drawing/2014/main" id="{65A9F115-A940-416A-BCD4-4A5E7F474C2E}"/>
              </a:ext>
            </a:extLst>
          </p:cNvPr>
          <p:cNvSpPr>
            <a:spLocks noGrp="1"/>
          </p:cNvSpPr>
          <p:nvPr/>
        </p:nvSpPr>
        <p:spPr>
          <a:xfrm>
            <a:off x="742950" y="4686300"/>
            <a:ext cx="295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68,398 人</a:t>
            </a:r>
          </a:p>
        </p:txBody>
      </p:sp>
      <p:sp>
        <p:nvSpPr>
          <p:cNvPr id="21" name="2024 年中心值推算">
            <a:extLst>
              <a:ext uri="{FF2B5EF4-FFF2-40B4-BE49-F238E27FC236}">
                <a16:creationId xmlns:a16="http://schemas.microsoft.com/office/drawing/2014/main" id="{8D2F79F9-5A4B-49C1-8B50-ACC20E283FA2}"/>
              </a:ext>
            </a:extLst>
          </p:cNvPr>
          <p:cNvSpPr>
            <a:spLocks noGrp="1"/>
          </p:cNvSpPr>
          <p:nvPr/>
        </p:nvSpPr>
        <p:spPr>
          <a:xfrm>
            <a:off x="742950" y="5172075"/>
            <a:ext cx="2762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原方案医师存量推算（非考生数）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BFE17780-7650-452C-9266-B07AD9E7F09E}"/>
              </a:ext>
            </a:extLst>
          </p:cNvPr>
          <p:cNvSpPr>
            <a:spLocks noGrp="1"/>
          </p:cNvSpPr>
          <p:nvPr/>
        </p:nvSpPr>
        <p:spPr>
          <a:xfrm>
            <a:off x="4105275" y="4552950"/>
            <a:ext cx="3429000" cy="952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6.61–7.07 万人">
            <a:extLst>
              <a:ext uri="{FF2B5EF4-FFF2-40B4-BE49-F238E27FC236}">
                <a16:creationId xmlns:a16="http://schemas.microsoft.com/office/drawing/2014/main" id="{FB1FCCCB-B1C3-45BB-8E95-4964434C099A}"/>
              </a:ext>
            </a:extLst>
          </p:cNvPr>
          <p:cNvSpPr>
            <a:spLocks noGrp="1"/>
          </p:cNvSpPr>
          <p:nvPr/>
        </p:nvSpPr>
        <p:spPr>
          <a:xfrm>
            <a:off x="4314825" y="4686300"/>
            <a:ext cx="300037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6.61–7.07 万人</a:t>
            </a:r>
          </a:p>
        </p:txBody>
      </p:sp>
      <p:sp>
        <p:nvSpPr>
          <p:cNvPr id="24" name="按 1.45%–1.55% 取整误差">
            <a:extLst>
              <a:ext uri="{FF2B5EF4-FFF2-40B4-BE49-F238E27FC236}">
                <a16:creationId xmlns:a16="http://schemas.microsoft.com/office/drawing/2014/main" id="{D4A79A7B-4161-400E-A403-174EEE9F50F6}"/>
              </a:ext>
            </a:extLst>
          </p:cNvPr>
          <p:cNvSpPr>
            <a:spLocks noGrp="1"/>
          </p:cNvSpPr>
          <p:nvPr/>
        </p:nvSpPr>
        <p:spPr>
          <a:xfrm>
            <a:off x="4314825" y="5172075"/>
            <a:ext cx="29051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原存量情景范围（未验证）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2EF2E22E-C4C6-4874-8E0B-F8B4D10D8ED5}"/>
              </a:ext>
            </a:extLst>
          </p:cNvPr>
          <p:cNvSpPr>
            <a:spLocks noGrp="1"/>
          </p:cNvSpPr>
          <p:nvPr/>
        </p:nvSpPr>
        <p:spPr>
          <a:xfrm>
            <a:off x="7724775" y="4552950"/>
            <a:ext cx="3933825" cy="952500"/>
          </a:xfrm>
          <a:prstGeom prst="roundRect">
            <a:avLst>
              <a:gd name="adj" fmla="val 20000"/>
            </a:avLst>
          </a:prstGeom>
          <a:solidFill>
            <a:srgbClr val="F5EBDD"/>
          </a:solidFill>
          <a:ln w="9525">
            <a:solidFill>
              <a:srgbClr val="E8D4B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口径更正">
            <a:extLst>
              <a:ext uri="{FF2B5EF4-FFF2-40B4-BE49-F238E27FC236}">
                <a16:creationId xmlns:a16="http://schemas.microsoft.com/office/drawing/2014/main" id="{EBE52730-ECC1-4A4F-B5CB-AC1C81436512}"/>
              </a:ext>
            </a:extLst>
          </p:cNvPr>
          <p:cNvSpPr>
            <a:spLocks noGrp="1"/>
          </p:cNvSpPr>
          <p:nvPr/>
        </p:nvSpPr>
        <p:spPr>
          <a:xfrm>
            <a:off x="7934325" y="4695825"/>
            <a:ext cx="1143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B477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47712"/>
                </a:solidFill>
                <a:latin typeface="Microsoft YaHei"/>
                <a:ea typeface="Microsoft YaHei"/>
                <a:cs typeface="Microsoft YaHei"/>
              </a:rPr>
              <a:t>口径要求</a:t>
            </a:r>
          </a:p>
        </p:txBody>
      </p:sp>
      <p:sp>
        <p:nvSpPr>
          <p:cNvPr id="27" name="10–12.5 万人不能直接作考试市场分母">
            <a:extLst>
              <a:ext uri="{FF2B5EF4-FFF2-40B4-BE49-F238E27FC236}">
                <a16:creationId xmlns:a16="http://schemas.microsoft.com/office/drawing/2014/main" id="{2D7CD48C-E673-4CD8-8378-8FB1A847DC70}"/>
              </a:ext>
            </a:extLst>
          </p:cNvPr>
          <p:cNvSpPr>
            <a:spLocks noGrp="1"/>
          </p:cNvSpPr>
          <p:nvPr/>
        </p:nvSpPr>
        <p:spPr>
          <a:xfrm>
            <a:off x="7934325" y="5057775"/>
            <a:ext cx="34290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医师存量不能直接换算考生人数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BBF5E0A1-D1BE-42F4-B846-1CCEDAA11B1A}"/>
              </a:ext>
            </a:extLst>
          </p:cNvPr>
          <p:cNvSpPr>
            <a:spLocks noGrp="1"/>
          </p:cNvSpPr>
          <p:nvPr/>
        </p:nvSpPr>
        <p:spPr>
          <a:xfrm>
            <a:off x="533400" y="57150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本章结论">
            <a:extLst>
              <a:ext uri="{FF2B5EF4-FFF2-40B4-BE49-F238E27FC236}">
                <a16:creationId xmlns:a16="http://schemas.microsoft.com/office/drawing/2014/main" id="{F48CE99C-2D99-4FB4-9A2A-22766C7874E4}"/>
              </a:ext>
            </a:extLst>
          </p:cNvPr>
          <p:cNvSpPr>
            <a:spLocks noGrp="1"/>
          </p:cNvSpPr>
          <p:nvPr/>
        </p:nvSpPr>
        <p:spPr>
          <a:xfrm>
            <a:off x="704850" y="58674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30" name="全国狭义肿瘤科医师约 6.6–7.1 万人，广义口径不能直接作为考试分母">
            <a:extLst>
              <a:ext uri="{FF2B5EF4-FFF2-40B4-BE49-F238E27FC236}">
                <a16:creationId xmlns:a16="http://schemas.microsoft.com/office/drawing/2014/main" id="{D16464C1-6C04-4151-956A-C3EF52785C17}"/>
              </a:ext>
            </a:extLst>
          </p:cNvPr>
          <p:cNvSpPr>
            <a:spLocks noGrp="1"/>
          </p:cNvSpPr>
          <p:nvPr/>
        </p:nvSpPr>
        <p:spPr>
          <a:xfrm>
            <a:off x="2133600" y="58388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保留原方案估算用于讨论，年度报名规模与付费规模分别核对。</a:t>
            </a:r>
          </a:p>
        </p:txBody>
      </p:sp>
    </p:spTree>
    <p:extLst>
      <p:ext uri="{BB962C8B-B14F-4D97-AF65-F5344CB8AC3E}">
        <p14:creationId xmlns:p14="http://schemas.microsoft.com/office/powerpoint/2010/main" val="146297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年度考生规模">
            <a:extLst>
              <a:ext uri="{FF2B5EF4-FFF2-40B4-BE49-F238E27FC236}">
                <a16:creationId xmlns:a16="http://schemas.microsoft.com/office/drawing/2014/main" id="{E6E38A0E-CAB2-4014-8B57-BD8C1F071426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年度考生规模</a:t>
            </a:r>
          </a:p>
        </p:txBody>
      </p:sp>
      <p:sp>
        <p:nvSpPr>
          <p:cNvPr id="2" name="潜在年度考生约 0.33–0.71 万人，中性规划值约 0.51 万人">
            <a:extLst>
              <a:ext uri="{FF2B5EF4-FFF2-40B4-BE49-F238E27FC236}">
                <a16:creationId xmlns:a16="http://schemas.microsoft.com/office/drawing/2014/main" id="{1DCB4A24-7F27-44CD-871F-14C1829C880A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 err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原方案年度考生估算：3,400–6,800 人</a:t>
            </a:r>
            <a:endParaRPr sz="2850" b="1" dirty="0">
              <a:solidFill>
                <a:srgbClr val="1027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情景测算用于规划，分专业拆分用于内容投入，两者都需要真实报名数据校准。">
            <a:extLst>
              <a:ext uri="{FF2B5EF4-FFF2-40B4-BE49-F238E27FC236}">
                <a16:creationId xmlns:a16="http://schemas.microsoft.com/office/drawing/2014/main" id="{FFFB5443-A291-4F2D-9A7E-5F5D57315776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恢复原方案数值与分专业拆分，仅作内部情景；不是官方报名人数，也不代表付费用户。</a:t>
            </a:r>
          </a:p>
        </p:txBody>
      </p:sp>
      <p:sp>
        <p:nvSpPr>
          <p:cNvPr id="4" name="11">
            <a:extLst>
              <a:ext uri="{FF2B5EF4-FFF2-40B4-BE49-F238E27FC236}">
                <a16:creationId xmlns:a16="http://schemas.microsoft.com/office/drawing/2014/main" id="{289D1014-F833-4808-BB8B-71583C8CF87B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E64CF8-9E11-4BC8-8225-A9BB9AB0FC8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FDAF31-80EE-47B3-BD08-A340F85DD351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B05C885-4C2C-4E32-9517-AA06FE34AD26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11 / 12">
            <a:extLst>
              <a:ext uri="{FF2B5EF4-FFF2-40B4-BE49-F238E27FC236}">
                <a16:creationId xmlns:a16="http://schemas.microsoft.com/office/drawing/2014/main" id="{A7057A54-8F07-4C7B-9E2A-847314DC64D6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13 / 14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4BD7961-C0F1-402F-8435-2A1B40EAE56E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6667500" cy="3048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8" name="表格 27"/>
          <p:cNvGraphicFramePr/>
          <p:nvPr/>
        </p:nvGraphicFramePr>
        <p:xfrm>
          <a:off x="7524750" y="1752600"/>
          <a:ext cx="4133850" cy="3048000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原年度估算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 肿瘤内科学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1,700–3,400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342 肿瘤外科学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700–1,400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343 肿瘤放射治疗学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1,000–2,000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3,400–6,800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圆角矩形 11">
            <a:extLst>
              <a:ext uri="{FF2B5EF4-FFF2-40B4-BE49-F238E27FC236}">
                <a16:creationId xmlns:a16="http://schemas.microsoft.com/office/drawing/2014/main" id="{6858F274-5F58-48ED-AA72-4A3ACC86C5A4}"/>
              </a:ext>
            </a:extLst>
          </p:cNvPr>
          <p:cNvSpPr>
            <a:spLocks noGrp="1"/>
          </p:cNvSpPr>
          <p:nvPr/>
        </p:nvSpPr>
        <p:spPr>
          <a:xfrm>
            <a:off x="533400" y="5029200"/>
            <a:ext cx="11125200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口径提示">
            <a:extLst>
              <a:ext uri="{FF2B5EF4-FFF2-40B4-BE49-F238E27FC236}">
                <a16:creationId xmlns:a16="http://schemas.microsoft.com/office/drawing/2014/main" id="{0CF2A386-3015-4BFF-8FB3-FA29666E8F70}"/>
              </a:ext>
            </a:extLst>
          </p:cNvPr>
          <p:cNvSpPr>
            <a:spLocks noGrp="1"/>
          </p:cNvSpPr>
          <p:nvPr/>
        </p:nvSpPr>
        <p:spPr>
          <a:xfrm>
            <a:off x="723900" y="5153025"/>
            <a:ext cx="1190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口径提示</a:t>
            </a:r>
          </a:p>
        </p:txBody>
      </p:sp>
      <p:sp>
        <p:nvSpPr>
          <p:cNvPr id="14" name="考虑肿瘤科占比取整误差，情景范围约 3,306–7,068 人；测算人数">
            <a:extLst>
              <a:ext uri="{FF2B5EF4-FFF2-40B4-BE49-F238E27FC236}">
                <a16:creationId xmlns:a16="http://schemas.microsoft.com/office/drawing/2014/main" id="{B595953E-D32C-456F-858E-0CD3B1DAFD87}"/>
              </a:ext>
            </a:extLst>
          </p:cNvPr>
          <p:cNvSpPr>
            <a:spLocks noGrp="1"/>
          </p:cNvSpPr>
          <p:nvPr/>
        </p:nvSpPr>
        <p:spPr>
          <a:xfrm>
            <a:off x="2038350" y="5133975"/>
            <a:ext cx="9239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原方案扩大情景范围为3,306–7,068人；比例与拆分未验证，不能视为统计置信区间。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576D3394-96C4-4F0A-8B55-B29037459AC7}"/>
              </a:ext>
            </a:extLst>
          </p:cNvPr>
          <p:cNvSpPr>
            <a:spLocks noGrp="1"/>
          </p:cNvSpPr>
          <p:nvPr/>
        </p:nvSpPr>
        <p:spPr>
          <a:xfrm>
            <a:off x="533400" y="57150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本章结论">
            <a:extLst>
              <a:ext uri="{FF2B5EF4-FFF2-40B4-BE49-F238E27FC236}">
                <a16:creationId xmlns:a16="http://schemas.microsoft.com/office/drawing/2014/main" id="{D6462E35-2F94-4CFC-A006-D07598FF48E6}"/>
              </a:ext>
            </a:extLst>
          </p:cNvPr>
          <p:cNvSpPr>
            <a:spLocks noGrp="1"/>
          </p:cNvSpPr>
          <p:nvPr/>
        </p:nvSpPr>
        <p:spPr>
          <a:xfrm>
            <a:off x="704850" y="58674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7" name="潜在年度考生约 0.3–0.7 万人，中性约 0.5 万人，只支持低成本">
            <a:extLst>
              <a:ext uri="{FF2B5EF4-FFF2-40B4-BE49-F238E27FC236}">
                <a16:creationId xmlns:a16="http://schemas.microsoft.com/office/drawing/2014/main" id="{E0A251F4-348A-4066-86CF-BCC0E2BA8254}"/>
              </a:ext>
            </a:extLst>
          </p:cNvPr>
          <p:cNvSpPr>
            <a:spLocks noGrp="1"/>
          </p:cNvSpPr>
          <p:nvPr/>
        </p:nvSpPr>
        <p:spPr>
          <a:xfrm>
            <a:off x="2133600" y="58388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沿用原估算支持试点规划，结合实际触达、使用与付费情况逐步校准。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095500"/>
            <a:ext cx="5905500" cy="3810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defRPr sz="2100" b="1">
                <a:solidFill>
                  <a:srgbClr val="102744"/>
                </a:solidFill>
                <a:latin typeface="Microsoft YaHei"/>
              </a:defRPr>
            </a:pPr>
            <a:r>
              <a:t>中性情景约 5,000 人／年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2667000"/>
            <a:ext cx="5905500" cy="1571625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defRPr sz="1725" b="0">
                <a:solidFill>
                  <a:srgbClr val="102744"/>
                </a:solidFill>
                <a:latin typeface="Microsoft YaHei"/>
              </a:defRPr>
            </a:pPr>
            <a:r>
              <a:t>原方案按医师存量的5%–10%估算
报考比例与专业拆分属于假设
先盘点现有渠道可触达考生
收费方案确定后再验证收入</a:t>
            </a:r>
          </a:p>
        </p:txBody>
      </p:sp>
    </p:spTree>
    <p:extLst>
      <p:ext uri="{BB962C8B-B14F-4D97-AF65-F5344CB8AC3E}">
        <p14:creationId xmlns:p14="http://schemas.microsoft.com/office/powerpoint/2010/main" val="619859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结论与行动">
            <a:extLst>
              <a:ext uri="{FF2B5EF4-FFF2-40B4-BE49-F238E27FC236}">
                <a16:creationId xmlns:a16="http://schemas.microsoft.com/office/drawing/2014/main" id="{87C92FE7-A8BC-43BF-A97C-D88CA4D6BD39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结论与行动</a:t>
            </a:r>
          </a:p>
        </p:txBody>
      </p:sp>
      <p:sp>
        <p:nvSpPr>
          <p:cNvPr id="2" name="轻量化题库先上线，用真实使用率和付费决定追加投入">
            <a:extLst>
              <a:ext uri="{FF2B5EF4-FFF2-40B4-BE49-F238E27FC236}">
                <a16:creationId xmlns:a16="http://schemas.microsoft.com/office/drawing/2014/main" id="{EC017959-A219-496A-AEF8-4B762C969745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三专业同步接入，以真实学习与使用表现判断投入</a:t>
            </a:r>
          </a:p>
        </p:txBody>
      </p:sp>
      <p:sp>
        <p:nvSpPr>
          <p:cNvPr id="3" name="产品定位：面向肿瘤医生的职称备考题库，复用职考 Go 现有 AI 能力。">
            <a:extLst>
              <a:ext uri="{FF2B5EF4-FFF2-40B4-BE49-F238E27FC236}">
                <a16:creationId xmlns:a16="http://schemas.microsoft.com/office/drawing/2014/main" id="{8BCC8C79-94DD-4DA0-901D-72C2C358DE0A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产品定位：面向三个专业考生的职称备考题库，按技术盘点评估现有能力复用。</a:t>
            </a:r>
          </a:p>
        </p:txBody>
      </p:sp>
      <p:sp>
        <p:nvSpPr>
          <p:cNvPr id="4" name="12">
            <a:extLst>
              <a:ext uri="{FF2B5EF4-FFF2-40B4-BE49-F238E27FC236}">
                <a16:creationId xmlns:a16="http://schemas.microsoft.com/office/drawing/2014/main" id="{A598D58A-DA2A-4524-AE8C-E6842B35A701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A736EF-B5E7-4DB0-98B3-F558E116FC6A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0D708E5-A728-48B5-9709-A00025895E95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0E04006-EA1A-497D-91FC-9FF63ECA0577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12 / 12">
            <a:extLst>
              <a:ext uri="{FF2B5EF4-FFF2-40B4-BE49-F238E27FC236}">
                <a16:creationId xmlns:a16="http://schemas.microsoft.com/office/drawing/2014/main" id="{EE7851BB-D692-4193-B8C7-AEFF2360B400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14 / 14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3F4F1D04-6749-451E-81D2-6B13A5D59B11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FA7CF3EE-B993-405E-BFBB-9B2233890BED}"/>
              </a:ext>
            </a:extLst>
          </p:cNvPr>
          <p:cNvSpPr>
            <a:spLocks noGrp="1"/>
          </p:cNvSpPr>
          <p:nvPr/>
        </p:nvSpPr>
        <p:spPr>
          <a:xfrm>
            <a:off x="723900" y="18764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建设">
            <a:extLst>
              <a:ext uri="{FF2B5EF4-FFF2-40B4-BE49-F238E27FC236}">
                <a16:creationId xmlns:a16="http://schemas.microsoft.com/office/drawing/2014/main" id="{DA340057-2DF6-4041-B49C-0C0D113DB691}"/>
              </a:ext>
            </a:extLst>
          </p:cNvPr>
          <p:cNvSpPr>
            <a:spLocks noGrp="1"/>
          </p:cNvSpPr>
          <p:nvPr/>
        </p:nvSpPr>
        <p:spPr>
          <a:xfrm>
            <a:off x="1504950" y="18859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建设</a:t>
            </a:r>
          </a:p>
        </p:txBody>
      </p:sp>
      <p:sp>
        <p:nvSpPr>
          <p:cNvPr id="12" name="同步建设 341、342、343；按各自考纲组织题目与解析。">
            <a:extLst>
              <a:ext uri="{FF2B5EF4-FFF2-40B4-BE49-F238E27FC236}">
                <a16:creationId xmlns:a16="http://schemas.microsoft.com/office/drawing/2014/main" id="{C8A50A57-0360-48B2-BC01-00D616EBBB4D}"/>
              </a:ext>
            </a:extLst>
          </p:cNvPr>
          <p:cNvSpPr>
            <a:spLocks noGrp="1"/>
          </p:cNvSpPr>
          <p:nvPr/>
        </p:nvSpPr>
        <p:spPr>
          <a:xfrm>
            <a:off x="4953000" y="18859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同步建设 341、342、343；按各自考纲组织题目与解析。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0575A807-467E-4B44-987A-77F28D8B1FAB}"/>
              </a:ext>
            </a:extLst>
          </p:cNvPr>
          <p:cNvSpPr>
            <a:spLocks noGrp="1"/>
          </p:cNvSpPr>
          <p:nvPr/>
        </p:nvSpPr>
        <p:spPr>
          <a:xfrm>
            <a:off x="533400" y="26289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02">
            <a:extLst>
              <a:ext uri="{FF2B5EF4-FFF2-40B4-BE49-F238E27FC236}">
                <a16:creationId xmlns:a16="http://schemas.microsoft.com/office/drawing/2014/main" id="{E37A98A1-95F9-4007-86D4-808DBBF42D65}"/>
              </a:ext>
            </a:extLst>
          </p:cNvPr>
          <p:cNvSpPr>
            <a:spLocks noGrp="1"/>
          </p:cNvSpPr>
          <p:nvPr/>
        </p:nvSpPr>
        <p:spPr>
          <a:xfrm>
            <a:off x="723900" y="27527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接入">
            <a:extLst>
              <a:ext uri="{FF2B5EF4-FFF2-40B4-BE49-F238E27FC236}">
                <a16:creationId xmlns:a16="http://schemas.microsoft.com/office/drawing/2014/main" id="{63960A65-FCEA-414E-8C10-A47F131FE74E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接入</a:t>
            </a:r>
          </a:p>
        </p:txBody>
      </p:sp>
      <p:sp>
        <p:nvSpPr>
          <p:cNvPr id="16" name="直接接入现有小程序，复用答题、诊断、错题与 AI 辅助。">
            <a:extLst>
              <a:ext uri="{FF2B5EF4-FFF2-40B4-BE49-F238E27FC236}">
                <a16:creationId xmlns:a16="http://schemas.microsoft.com/office/drawing/2014/main" id="{8A502E91-DAF2-4B22-BB70-60B04BC332F9}"/>
              </a:ext>
            </a:extLst>
          </p:cNvPr>
          <p:cNvSpPr>
            <a:spLocks noGrp="1"/>
          </p:cNvSpPr>
          <p:nvPr/>
        </p:nvSpPr>
        <p:spPr>
          <a:xfrm>
            <a:off x="4953000" y="27622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首屏直接增加三个专业选项，后续内容与进度按专业适配。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694CA383-AB63-492A-BBAB-1DFA3F60BC40}"/>
              </a:ext>
            </a:extLst>
          </p:cNvPr>
          <p:cNvSpPr>
            <a:spLocks noGrp="1"/>
          </p:cNvSpPr>
          <p:nvPr/>
        </p:nvSpPr>
        <p:spPr>
          <a:xfrm>
            <a:off x="533400" y="35052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03">
            <a:extLst>
              <a:ext uri="{FF2B5EF4-FFF2-40B4-BE49-F238E27FC236}">
                <a16:creationId xmlns:a16="http://schemas.microsoft.com/office/drawing/2014/main" id="{EE709DFF-174C-4861-95BF-5A40DA899255}"/>
              </a:ext>
            </a:extLst>
          </p:cNvPr>
          <p:cNvSpPr>
            <a:spLocks noGrp="1"/>
          </p:cNvSpPr>
          <p:nvPr/>
        </p:nvSpPr>
        <p:spPr>
          <a:xfrm>
            <a:off x="723900" y="36290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售卖">
            <a:extLst>
              <a:ext uri="{FF2B5EF4-FFF2-40B4-BE49-F238E27FC236}">
                <a16:creationId xmlns:a16="http://schemas.microsoft.com/office/drawing/2014/main" id="{7CC82F79-3266-4DB0-A69A-0C2793F20753}"/>
              </a:ext>
            </a:extLst>
          </p:cNvPr>
          <p:cNvSpPr>
            <a:spLocks noGrp="1"/>
          </p:cNvSpPr>
          <p:nvPr/>
        </p:nvSpPr>
        <p:spPr>
          <a:xfrm>
            <a:off x="1504950" y="36385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收费</a:t>
            </a:r>
          </a:p>
        </p:txBody>
      </p:sp>
      <p:sp>
        <p:nvSpPr>
          <p:cNvPr id="20" name="优先单题库或三专业组合包，避免强制采用全站会员制。">
            <a:extLst>
              <a:ext uri="{FF2B5EF4-FFF2-40B4-BE49-F238E27FC236}">
                <a16:creationId xmlns:a16="http://schemas.microsoft.com/office/drawing/2014/main" id="{B5594200-4A1E-41E3-BA1B-C23536D582B6}"/>
              </a:ext>
            </a:extLst>
          </p:cNvPr>
          <p:cNvSpPr>
            <a:spLocks noGrp="1"/>
          </p:cNvSpPr>
          <p:nvPr/>
        </p:nvSpPr>
        <p:spPr>
          <a:xfrm>
            <a:off x="4953000" y="36385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收费方式、价格与权益待定，结合需求与服务成本单独决策。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52D763B-8DF4-4995-B3FB-4FE6D550729C}"/>
              </a:ext>
            </a:extLst>
          </p:cNvPr>
          <p:cNvSpPr>
            <a:spLocks noGrp="1"/>
          </p:cNvSpPr>
          <p:nvPr/>
        </p:nvSpPr>
        <p:spPr>
          <a:xfrm>
            <a:off x="533400" y="43815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04">
            <a:extLst>
              <a:ext uri="{FF2B5EF4-FFF2-40B4-BE49-F238E27FC236}">
                <a16:creationId xmlns:a16="http://schemas.microsoft.com/office/drawing/2014/main" id="{5946E440-989A-4CD8-859C-D3B1CB021A2D}"/>
              </a:ext>
            </a:extLst>
          </p:cNvPr>
          <p:cNvSpPr>
            <a:spLocks noGrp="1"/>
          </p:cNvSpPr>
          <p:nvPr/>
        </p:nvSpPr>
        <p:spPr>
          <a:xfrm>
            <a:off x="723900" y="45053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验证">
            <a:extLst>
              <a:ext uri="{FF2B5EF4-FFF2-40B4-BE49-F238E27FC236}">
                <a16:creationId xmlns:a16="http://schemas.microsoft.com/office/drawing/2014/main" id="{E7444CDF-220D-4837-B62F-9D64576E5A9C}"/>
              </a:ext>
            </a:extLst>
          </p:cNvPr>
          <p:cNvSpPr>
            <a:spLocks noGrp="1"/>
          </p:cNvSpPr>
          <p:nvPr/>
        </p:nvSpPr>
        <p:spPr>
          <a:xfrm>
            <a:off x="1504950" y="45148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24" name="跟踪真实使用率、付费转化和内容维护成本，再决定追加投入。">
            <a:extLst>
              <a:ext uri="{FF2B5EF4-FFF2-40B4-BE49-F238E27FC236}">
                <a16:creationId xmlns:a16="http://schemas.microsoft.com/office/drawing/2014/main" id="{341F2A23-D5BE-4AA7-823C-8A7F89D98D6D}"/>
              </a:ext>
            </a:extLst>
          </p:cNvPr>
          <p:cNvSpPr>
            <a:spLocks noGrp="1"/>
          </p:cNvSpPr>
          <p:nvPr/>
        </p:nvSpPr>
        <p:spPr>
          <a:xfrm>
            <a:off x="4953000" y="45148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跟踪学习任务完成、复访与服务成本；收费后再验证转化和退款。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CDB893DD-2B33-4F29-AB5E-07BD3A84D72E}"/>
              </a:ext>
            </a:extLst>
          </p:cNvPr>
          <p:cNvSpPr>
            <a:spLocks noGrp="1"/>
          </p:cNvSpPr>
          <p:nvPr/>
        </p:nvSpPr>
        <p:spPr>
          <a:xfrm>
            <a:off x="533400" y="5438775"/>
            <a:ext cx="11125200" cy="723900"/>
          </a:xfrm>
          <a:prstGeom prst="roundRect">
            <a:avLst>
              <a:gd name="adj" fmla="val 26316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核心结论">
            <a:extLst>
              <a:ext uri="{FF2B5EF4-FFF2-40B4-BE49-F238E27FC236}">
                <a16:creationId xmlns:a16="http://schemas.microsoft.com/office/drawing/2014/main" id="{91114CE1-AE27-45EC-AD39-B6111591EEB5}"/>
              </a:ext>
            </a:extLst>
          </p:cNvPr>
          <p:cNvSpPr>
            <a:spLocks noGrp="1"/>
          </p:cNvSpPr>
          <p:nvPr/>
        </p:nvSpPr>
        <p:spPr>
          <a:xfrm>
            <a:off x="742950" y="5648325"/>
            <a:ext cx="1333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27" name="同步上线三专业并接入现有小程序，用使用率、付费转化和维护成本决定追加投入">
            <a:extLst>
              <a:ext uri="{FF2B5EF4-FFF2-40B4-BE49-F238E27FC236}">
                <a16:creationId xmlns:a16="http://schemas.microsoft.com/office/drawing/2014/main" id="{547294E3-478B-4B3E-B974-59D622492B44}"/>
              </a:ext>
            </a:extLst>
          </p:cNvPr>
          <p:cNvSpPr>
            <a:spLocks noGrp="1"/>
          </p:cNvSpPr>
          <p:nvPr/>
        </p:nvSpPr>
        <p:spPr>
          <a:xfrm>
            <a:off x="2209800" y="5591175"/>
            <a:ext cx="8953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同步接入三专业，先交付可用学习流程，再依据试点结果决定后续投入。</a:t>
            </a:r>
          </a:p>
        </p:txBody>
      </p:sp>
    </p:spTree>
    <p:extLst>
      <p:ext uri="{BB962C8B-B14F-4D97-AF65-F5344CB8AC3E}">
        <p14:creationId xmlns:p14="http://schemas.microsoft.com/office/powerpoint/2010/main" val="1824316033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" name="考试类型与专业方向">
            <a:extLst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现有资源与差异化优势</a:t>
            </a:r>
          </a:p>
        </p:txBody>
      </p:sp>
      <p:sp>
        <p:nvSpPr>
          <p:cNvPr id="2" name="中级职称更适合首期规模化建设">
            <a:extLst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指南、病例、影像与既有题目可组合复用</a:t>
            </a:r>
          </a:p>
        </p:txBody>
      </p:sp>
      <p:sp>
        <p:nvSpPr>
          <p:cNvPr id="3" name="全国统一考试的标准化程度更高；高级职称需要适配不同省份。">
            <a:extLst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资源由团队确认；已抽查大查房5组、25道题。以下为内容复用方向，不代表已完成考试适配。</a:t>
            </a:r>
          </a:p>
        </p:txBody>
      </p:sp>
      <p:sp>
        <p:nvSpPr>
          <p:cNvPr id="4" name="04">
            <a:extLst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10 / 14</a:t>
            </a:r>
          </a:p>
        </p:txBody>
      </p:sp>
      <p:graphicFrame>
        <p:nvGraphicFramePr>
          <p:cNvPr id="21" name="表格 20"/>
          <p:cNvGraphicFramePr/>
          <p:nvPr/>
        </p:nvGraphicFramePr>
        <p:xfrm>
          <a:off x="533400" y="1752600"/>
          <a:ext cx="11125200" cy="36385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已有资源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具体内容或样例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职称产品中的用途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CSCO 指南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团队已有相应指南资源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按考纲关联知识点，标注解析依据与版本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病例与影像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团队已有病例和影像资料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构建病例情境、判读练习与依据解释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胃癌题目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已有影像复评、检测与不良反应题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筛选考点，训练信息提取与选项辨别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食管与乳腺题目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已有分期、治疗评估和病理判断题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补充跨知识点病例练习与错题复测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结构化题目资产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题干、选项、答案、解析、参考来源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复用题目结构，按专业审校后接入题库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本章结论">
            <a:extLst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差异化方向：把指南依据、病例和影像联动起来，帮助考生理解判断过程。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1150</Words>
  <Application>Microsoft Macintosh PowerPoint</Application>
  <DocSecurity>0</DocSecurity>
  <PresentationFormat>宽屏</PresentationFormat>
  <Paragraphs>337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翼 杜</cp:lastModifiedBy>
  <cp:revision>1</cp:revision>
  <dcterms:created xsi:type="dcterms:W3CDTF">2026-09-17T03:47:42Z</dcterms:created>
  <dcterms:modified xsi:type="dcterms:W3CDTF">2026-09-17T05:18:11Z</dcterms:modified>
</cp:coreProperties>
</file>