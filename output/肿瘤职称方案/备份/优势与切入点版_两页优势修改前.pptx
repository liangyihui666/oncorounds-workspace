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9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24"/>
  </p:normalViewPr>
  <p:slideViewPr>
    <p:cSldViewPr snapToGrid="0">
      <p:cViewPr varScale="1">
        <p:scale>
          <a:sx n="150" d="100"/>
          <a:sy n="150" d="100"/>
        </p:scale>
        <p:origin x="45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2026考生须知：https://www.21wecan.com/wsrcw/c100193/202511/1002760.shtml</a:t>
            </a:r>
          </a:p>
          <a:p>
            <a:r>
              <a:t>共用试卷目录：https://www.21wecan.com/wsrcw/c100193/202208/1d3cddb94d034000a0e8a4178b8f92a6.shtml</a:t>
            </a:r>
          </a:p>
          <a:p>
            <a:r>
              <a:t>合格标准相关官方通知：https://www.huaihua.gov.cn/wsjkw/c100587/202512/73a23312619d4460a3685c7cd0e0645c.shtml</a:t>
            </a:r>
          </a:p>
          <a:p>
            <a:r>
              <a:t>本次调整为价值主张与产品切入点：目标是做题后仍易混的肿瘤职称考生；提供依据解释、病例条件辨别与变式复测。资源存在由用户说明和本地题目样本支持，功能流程是本期建议，学习效果尚需试点。不声称竞品均无此能力、不承诺提分或通过率。三专业同时上线，题目适配按各自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次调整为价值主张与产品切入点：目标是做题后仍易混的肿瘤职称考生；提供依据解释、病例条件辨别与变式复测。资源存在由用户说明和本地题目样本支持，功能流程是本期建议，学习效果尚需试点。不声称竞品均无此能力、不承诺提分或通过率。三专业同时上线，题目适配按各自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2026考生须知：https://www.21wecan.com/wsrcw/c100193/202511/1002760.shtml</a:t>
            </a:r>
          </a:p>
          <a:p>
            <a:r>
              <a:t>共用试卷目录：https://www.21wecan.com/wsrcw/c100193/202208/1d3cddb94d034000a0e8a4178b8f92a6.shtml</a:t>
            </a:r>
          </a:p>
          <a:p>
            <a:r>
              <a:t>合格标准相关官方通知：https://www.huaihua.gov.cn/wsjkw/c100587/202512/73a23312619d4460a3685c7cd0e0645c.shtml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本页源于机构销售聊天截图，主要讨论肿瘤内科，不代表已验证需求或三专业共同考试事实。不采用病例占比、学习截止时间等机构断言。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竞品覆盖、价格与功能尚需官方商品页面留证，不采用原160元、168元、58元等价格或合并商品结论。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竞品覆盖、价格与功能尚需官方商品页面留证，不采用原160元、168元、58元等价格或合并商品结论。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资源归属与持有情况来自用户确认，具体使用范围及版本在内容上线时核对。竞品尚未完成同口径调查，不写“其他竞品均没有”。已读取outputs/五套优化题与病例JSON-20260904下5份题目JSON，共25题，包含胃癌免疫相关胆管炎、GEJ腺癌、食管鳞癌、乳腺小叶癌、炎性乳腺癌。样题引用包含CAP、RECIST、ASCO、研究论文等，不声称全部样题源于CSCO，也未在本次复核医学答案。图像素材持有来自用户说明，读取的题目JSON以文字描述影像为主。大查房题不等同考试真题；需映射考纲、评估难度、核对依据并补齐外科和放疗覆盖。</a:t>
            </a:r>
          </a:p>
          <a:p>
            <a:r>
              <a:t>本次调整为价值主张与产品切入点：目标是做题后仍易混的肿瘤职称考生；提供依据解释、病例条件辨别与变式复测。资源存在由用户说明和本地题目样本支持，功能流程是本期建议，学习效果尚需试点。不声称竞品均无此能力、不承诺提分或通过率。三专业同时上线，题目适配按各自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次调整为价值主张与产品切入点：目标是做题后仍易混的肿瘤职称考生；提供依据解释、病例条件辨别与变式复测。资源存在由用户说明和本地题目样本支持，功能流程是本期建议，学习效果尚需试点。不声称竞品均无此能力、不承诺提分或通过率。三专业同时上线，题目适配按各自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用户要求恢复最初方案数字。68,398为原2024医师存量推算，6.61–7.07万为原情景范围；年度3,400–6,800及分专业拆分来自原稿。原分母扣减、1.5%占比及5%–10%报考比例没有充分依据，本次不重新认定为准确统计。所有数字只作原方案内部情景，禁止引用为官方报名人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用户要求恢复最初方案数字。68,398为原2024医师存量推算，6.61–7.07万为原情景范围；年度3,400–6,800及分专业拆分来自原稿。原分母扣减、1.5%占比及5%–10%报考比例没有充分依据，本次不重新认定为准确统计。所有数字只作原方案内部情景，禁止引用为官方报名人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次调整为价值主张与产品切入点：目标是做题后仍易混的肿瘤职称考生；提供依据解释、病例条件辨别与变式复测。资源存在由用户说明和本地题目样本支持，功能流程是本期建议，学习效果尚需试点。不声称竞品均无此能力、不承诺提分或通过率。三专业同时上线，题目适配按各自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市场规模、竞品格局与首期产品范围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核心结论">
            <a:extLst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以肿瘤病例理解型备考切入，三专业同步上线</a:t>
            </a:r>
          </a:p>
        </p:txBody>
      </p:sp>
      <p:sp>
        <p:nvSpPr>
          <p:cNvPr id="3" name="市场规模不大，但与良医汇现有肿瘤医生用户高度匹配。">
            <a:extLst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面向做题后仍分不清判断依据的考生，将指南解释、病例训练和错题复测连成学习流程。</a:t>
            </a:r>
          </a:p>
        </p:txBody>
      </p:sp>
      <p:sp>
        <p:nvSpPr>
          <p:cNvPr id="4" name="02">
            <a:extLst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6.6–7.1 万">
            <a:extLst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四科备考</a:t>
            </a:r>
            <a:endParaRPr sz="30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全国狭义肿瘤科医师">
            <a:extLst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同专业成绩两年滚动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0.33–0.71 万">
            <a:extLst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noGrp="1"/>
          </p:cNvSpPr>
          <p:nvPr/>
        </p:nvSpPr>
        <p:spPr>
          <a:xfrm>
            <a:off x="331470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两科共用</a:t>
            </a:r>
            <a:endParaRPr sz="30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潜在年度考生">
            <a:extLst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noGrp="1"/>
          </p:cNvSpPr>
          <p:nvPr/>
        </p:nvSpPr>
        <p:spPr>
          <a:xfrm>
            <a:off x="331470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基础知识、相关专业知识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noGrp="1"/>
          </p:cNvSpPr>
          <p:nvPr/>
        </p:nvSpPr>
        <p:spPr>
          <a:xfrm>
            <a:off x="57531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 个专业">
            <a:extLst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noGrp="1"/>
          </p:cNvSpPr>
          <p:nvPr/>
        </p:nvSpPr>
        <p:spPr>
          <a:xfrm>
            <a:off x="59245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</a:t>
            </a:r>
            <a:r>
              <a:rPr sz="30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个专业</a:t>
            </a:r>
            <a:endParaRPr sz="30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341 / 342 / 343 同步上线">
            <a:extLst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noGrp="1"/>
          </p:cNvSpPr>
          <p:nvPr/>
        </p:nvSpPr>
        <p:spPr>
          <a:xfrm>
            <a:off x="59245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noGrp="1"/>
          </p:cNvSpPr>
          <p:nvPr/>
        </p:nvSpPr>
        <p:spPr>
          <a:xfrm>
            <a:off x="8362950" y="1790700"/>
            <a:ext cx="329565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低成本试点">
            <a:extLst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noGrp="1"/>
          </p:cNvSpPr>
          <p:nvPr/>
        </p:nvSpPr>
        <p:spPr>
          <a:xfrm>
            <a:off x="8534400" y="194310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  <a:endParaRPr sz="30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真实使用与付费再决策">
            <a:extLst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noGrp="1"/>
          </p:cNvSpPr>
          <p:nvPr/>
        </p:nvSpPr>
        <p:spPr>
          <a:xfrm>
            <a:off x="8534400" y="250507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价格与权益单独决策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1">
            <a:extLst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noGrp="1"/>
          </p:cNvSpPr>
          <p:nvPr/>
        </p:nvSpPr>
        <p:spPr>
          <a:xfrm>
            <a:off x="1504950" y="33432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产品范围</a:t>
            </a:r>
          </a:p>
        </p:txBody>
      </p:sp>
      <p:sp>
        <p:nvSpPr>
          <p:cNvPr id="24" name="接入现有职考小程序，复用答题、诊断、错题和 AI 辅助能力。">
            <a:extLst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noGrp="1"/>
          </p:cNvSpPr>
          <p:nvPr/>
        </p:nvSpPr>
        <p:spPr>
          <a:xfrm>
            <a:off x="4953000" y="33432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接入现有职考小程序，评估答题、错题与 AI 能力的专业适配。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noGrp="1"/>
          </p:cNvSpPr>
          <p:nvPr/>
        </p:nvSpPr>
        <p:spPr>
          <a:xfrm>
            <a:off x="533400" y="40862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02">
            <a:extLst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noGrp="1"/>
          </p:cNvSpPr>
          <p:nvPr/>
        </p:nvSpPr>
        <p:spPr>
          <a:xfrm>
            <a:off x="1504950" y="42195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noGrp="1"/>
          </p:cNvSpPr>
          <p:nvPr/>
        </p:nvSpPr>
        <p:spPr>
          <a:xfrm>
            <a:off x="4953000" y="42195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以有依据的解析和病例变式练习，帮助考生理解选项差异并迁移到新题。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核心结论">
            <a:extLst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noGrp="1"/>
          </p:cNvSpPr>
          <p:nvPr/>
        </p:nvSpPr>
        <p:spPr>
          <a:xfrm>
            <a:off x="704850" y="57245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noGrp="1"/>
          </p:cNvSpPr>
          <p:nvPr/>
        </p:nvSpPr>
        <p:spPr>
          <a:xfrm>
            <a:off x="2133600" y="5695950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首期切入易混考点与病例判断，验证考生能否理解依据、做对变式题。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项目背景">
            <a:extLst>
              <a:ext uri="{FF2B5EF4-FFF2-40B4-BE49-F238E27FC236}">
                <a16:creationId xmlns:a16="http://schemas.microsoft.com/office/drawing/2014/main" id="{865D4DF6-AE29-4F1D-A696-F76F03AB8C58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项目优势与切入点</a:t>
            </a:r>
          </a:p>
        </p:txBody>
      </p:sp>
      <p:sp>
        <p:nvSpPr>
          <p:cNvPr id="2" name="项目基础与考试类型覆盖">
            <a:extLst>
              <a:ext uri="{FF2B5EF4-FFF2-40B4-BE49-F238E27FC236}">
                <a16:creationId xmlns:a16="http://schemas.microsoft.com/office/drawing/2014/main" id="{DB560986-93F2-44F3-96E2-060321947BDF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从“记住答案”进一步走向“会判断病例”</a:t>
            </a:r>
          </a:p>
        </p:txBody>
      </p:sp>
      <p:sp>
        <p:nvSpPr>
          <p:cNvPr id="3" name="良医汇现有肿瘤医生用户与职考产品基础，降低了中级题库的接入成本。">
            <a:extLst>
              <a:ext uri="{FF2B5EF4-FFF2-40B4-BE49-F238E27FC236}">
                <a16:creationId xmlns:a16="http://schemas.microsoft.com/office/drawing/2014/main" id="{5EB55CBF-8128-4D48-9C87-E033E4A265A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切入肿瘤职称备考中的易混考点与病例判断，把查资料、看解析、练应用放进同一学习流程。</a:t>
            </a:r>
          </a:p>
        </p:txBody>
      </p:sp>
      <p:sp>
        <p:nvSpPr>
          <p:cNvPr id="4" name="03">
            <a:extLst>
              <a:ext uri="{FF2B5EF4-FFF2-40B4-BE49-F238E27FC236}">
                <a16:creationId xmlns:a16="http://schemas.microsoft.com/office/drawing/2014/main" id="{C3FAC473-C1A7-452E-A8B9-8F1E69C669E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B37B7B-FA08-46DF-B177-D49375C318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D569B9-266E-41DE-AAA3-F98CADA22AD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4C3E394-8D02-4603-B021-FE015156FA94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>
              <a:ext uri="{FF2B5EF4-FFF2-40B4-BE49-F238E27FC236}">
                <a16:creationId xmlns:a16="http://schemas.microsoft.com/office/drawing/2014/main" id="{63E80F1C-B0FD-4644-99C2-B3FE48604A6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B44DDB3-ED3C-4481-815A-A5B849623969}"/>
              </a:ext>
            </a:extLst>
          </p:cNvPr>
          <p:cNvSpPr>
            <a:spLocks noGrp="1"/>
          </p:cNvSpPr>
          <p:nvPr/>
        </p:nvSpPr>
        <p:spPr>
          <a:xfrm>
            <a:off x="533400" y="1781175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DDE9F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项目价值">
            <a:extLst>
              <a:ext uri="{FF2B5EF4-FFF2-40B4-BE49-F238E27FC236}">
                <a16:creationId xmlns:a16="http://schemas.microsoft.com/office/drawing/2014/main" id="{CF30EC5B-43F4-41EB-A4C5-F94C282F2D08}"/>
              </a:ext>
            </a:extLst>
          </p:cNvPr>
          <p:cNvSpPr>
            <a:spLocks noGrp="1"/>
          </p:cNvSpPr>
          <p:nvPr/>
        </p:nvSpPr>
        <p:spPr>
          <a:xfrm>
            <a:off x="533400" y="1838325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考生获得的价值</a:t>
            </a:r>
          </a:p>
        </p:txBody>
      </p:sp>
      <p:sp>
        <p:nvSpPr>
          <p:cNvPr id="11" name="复用现有用户">
            <a:extLst>
              <a:ext uri="{FF2B5EF4-FFF2-40B4-BE49-F238E27FC236}">
                <a16:creationId xmlns:a16="http://schemas.microsoft.com/office/drawing/2014/main" id="{EC93B665-9935-4EC7-8DF3-620A819E9EC1}"/>
              </a:ext>
            </a:extLst>
          </p:cNvPr>
          <p:cNvSpPr>
            <a:spLocks noGrp="1"/>
          </p:cNvSpPr>
          <p:nvPr/>
        </p:nvSpPr>
        <p:spPr>
          <a:xfrm>
            <a:off x="5334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知道为什么选</a:t>
            </a:r>
          </a:p>
        </p:txBody>
      </p:sp>
      <p:sp>
        <p:nvSpPr>
          <p:cNvPr id="12" name="降低目标用户触达与获取成本">
            <a:extLst>
              <a:ext uri="{FF2B5EF4-FFF2-40B4-BE49-F238E27FC236}">
                <a16:creationId xmlns:a16="http://schemas.microsoft.com/office/drawing/2014/main" id="{DB024E3A-1178-4556-856D-4EEC1996DD2B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解析标明依据，讲清选项差异</a:t>
            </a:r>
          </a:p>
        </p:txBody>
      </p:sp>
      <p:sp>
        <p:nvSpPr>
          <p:cNvPr id="13" name="满足晋升需求">
            <a:extLst>
              <a:ext uri="{FF2B5EF4-FFF2-40B4-BE49-F238E27FC236}">
                <a16:creationId xmlns:a16="http://schemas.microsoft.com/office/drawing/2014/main" id="{EE58EDBC-3DE2-4741-B4E2-4EB4CFA94085}"/>
              </a:ext>
            </a:extLst>
          </p:cNvPr>
          <p:cNvSpPr>
            <a:spLocks noGrp="1"/>
          </p:cNvSpPr>
          <p:nvPr/>
        </p:nvSpPr>
        <p:spPr>
          <a:xfrm>
            <a:off x="42291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换个病例也会做</a:t>
            </a:r>
          </a:p>
        </p:txBody>
      </p:sp>
      <p:sp>
        <p:nvSpPr>
          <p:cNvPr id="14" name="把学习服务延伸到职称晋升阶段">
            <a:extLst>
              <a:ext uri="{FF2B5EF4-FFF2-40B4-BE49-F238E27FC236}">
                <a16:creationId xmlns:a16="http://schemas.microsoft.com/office/drawing/2014/main" id="{83AE2FF4-F322-4531-8F3F-A82382D6C3AF}"/>
              </a:ext>
            </a:extLst>
          </p:cNvPr>
          <p:cNvSpPr>
            <a:spLocks noGrp="1"/>
          </p:cNvSpPr>
          <p:nvPr/>
        </p:nvSpPr>
        <p:spPr>
          <a:xfrm>
            <a:off x="42291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结合影像与病理，练习判断条件</a:t>
            </a:r>
          </a:p>
        </p:txBody>
      </p:sp>
      <p:sp>
        <p:nvSpPr>
          <p:cNvPr id="15" name="拓展 AI 场景">
            <a:extLst>
              <a:ext uri="{FF2B5EF4-FFF2-40B4-BE49-F238E27FC236}">
                <a16:creationId xmlns:a16="http://schemas.microsoft.com/office/drawing/2014/main" id="{81364E9D-20C7-434F-8CAE-763F91ABD9EF}"/>
              </a:ext>
            </a:extLst>
          </p:cNvPr>
          <p:cNvSpPr>
            <a:spLocks noGrp="1"/>
          </p:cNvSpPr>
          <p:nvPr/>
        </p:nvSpPr>
        <p:spPr>
          <a:xfrm>
            <a:off x="79248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错题能针对性补</a:t>
            </a:r>
          </a:p>
        </p:txBody>
      </p:sp>
      <p:sp>
        <p:nvSpPr>
          <p:cNvPr id="16" name="将 AI 私教与追问迁移到职称考试">
            <a:extLst>
              <a:ext uri="{FF2B5EF4-FFF2-40B4-BE49-F238E27FC236}">
                <a16:creationId xmlns:a16="http://schemas.microsoft.com/office/drawing/2014/main" id="{5816822B-7674-416F-8C37-EA19AC26C136}"/>
              </a:ext>
            </a:extLst>
          </p:cNvPr>
          <p:cNvSpPr>
            <a:spLocks noGrp="1"/>
          </p:cNvSpPr>
          <p:nvPr/>
        </p:nvSpPr>
        <p:spPr>
          <a:xfrm>
            <a:off x="7924800" y="2667000"/>
            <a:ext cx="31242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关联薄弱考点，再做变式复测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C46A19-2AFD-439D-A715-6E89428F28D5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7B798AE-3FB2-45D6-8CD1-867E439BB92A}"/>
              </a:ext>
            </a:extLst>
          </p:cNvPr>
          <p:cNvSpPr>
            <a:spLocks noGrp="1"/>
          </p:cNvSpPr>
          <p:nvPr/>
        </p:nvSpPr>
        <p:spPr>
          <a:xfrm>
            <a:off x="533400" y="3581400"/>
            <a:ext cx="111252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69A3BB5-9B6E-4CBC-A180-9C4164B0F932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0B23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中级">
            <a:extLst>
              <a:ext uri="{FF2B5EF4-FFF2-40B4-BE49-F238E27FC236}">
                <a16:creationId xmlns:a16="http://schemas.microsoft.com/office/drawing/2014/main" id="{04C5C3ED-4D80-45D6-A02A-39B02AA33620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人群</a:t>
            </a:r>
          </a:p>
        </p:txBody>
      </p:sp>
      <p:sp>
        <p:nvSpPr>
          <p:cNvPr id="21" name="全国统一考试">
            <a:extLst>
              <a:ext uri="{FF2B5EF4-FFF2-40B4-BE49-F238E27FC236}">
                <a16:creationId xmlns:a16="http://schemas.microsoft.com/office/drawing/2014/main" id="{3F385486-EE28-4FF3-A21E-F1FCA6A633F8}"/>
              </a:ext>
            </a:extLst>
          </p:cNvPr>
          <p:cNvSpPr>
            <a:spLocks noGrp="1"/>
          </p:cNvSpPr>
          <p:nvPr/>
        </p:nvSpPr>
        <p:spPr>
          <a:xfrm>
            <a:off x="1866900" y="380047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服务谁</a:t>
            </a:r>
          </a:p>
        </p:txBody>
      </p:sp>
      <p:sp>
        <p:nvSpPr>
          <p:cNvPr id="22" name="341 肿瘤内科学、342 肿瘤外科学、343 肿瘤放射治疗学、388 ">
            <a:extLst>
              <a:ext uri="{FF2B5EF4-FFF2-40B4-BE49-F238E27FC236}">
                <a16:creationId xmlns:a16="http://schemas.microsoft.com/office/drawing/2014/main" id="{A7B491B6-96F6-403D-AD30-17554C0DAF39}"/>
              </a:ext>
            </a:extLst>
          </p:cNvPr>
          <p:cNvSpPr>
            <a:spLocks noGrp="1"/>
          </p:cNvSpPr>
          <p:nvPr/>
        </p:nvSpPr>
        <p:spPr>
          <a:xfrm>
            <a:off x="4229100" y="3790950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341／342／343 考生中，做过题但分期、方案与病例判断仍易混的人</a:t>
            </a:r>
          </a:p>
        </p:txBody>
      </p:sp>
      <p:sp>
        <p:nvSpPr>
          <p:cNvPr id="23" name="通常每年 4 月，标准化程度高；首期聚焦 341–343">
            <a:extLst>
              <a:ext uri="{FF2B5EF4-FFF2-40B4-BE49-F238E27FC236}">
                <a16:creationId xmlns:a16="http://schemas.microsoft.com/office/drawing/2014/main" id="{DB4A178E-8BAE-44EA-9E46-92BB498BA744}"/>
              </a:ext>
            </a:extLst>
          </p:cNvPr>
          <p:cNvSpPr>
            <a:spLocks noGrp="1"/>
          </p:cNvSpPr>
          <p:nvPr/>
        </p:nvSpPr>
        <p:spPr>
          <a:xfrm>
            <a:off x="1866900" y="42100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先验证这一备考任务；三个专业按各自考纲适配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1A617D5-D6F6-4E14-B108-6434060F9889}"/>
              </a:ext>
            </a:extLst>
          </p:cNvPr>
          <p:cNvSpPr>
            <a:spLocks noGrp="1"/>
          </p:cNvSpPr>
          <p:nvPr/>
        </p:nvSpPr>
        <p:spPr>
          <a:xfrm>
            <a:off x="533400" y="4724400"/>
            <a:ext cx="11125200" cy="742950"/>
          </a:xfrm>
          <a:prstGeom prst="roundRect">
            <a:avLst>
              <a:gd name="adj" fmla="val 25641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AF082CE4-B7CC-456F-861E-D28E90F95D91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7ED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高级">
            <a:extLst>
              <a:ext uri="{FF2B5EF4-FFF2-40B4-BE49-F238E27FC236}">
                <a16:creationId xmlns:a16="http://schemas.microsoft.com/office/drawing/2014/main" id="{29DDD654-6E0C-41DC-A140-3CB351E67DF9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切入</a:t>
            </a:r>
          </a:p>
        </p:txBody>
      </p:sp>
      <p:sp>
        <p:nvSpPr>
          <p:cNvPr id="27" name="各省组织考试">
            <a:extLst>
              <a:ext uri="{FF2B5EF4-FFF2-40B4-BE49-F238E27FC236}">
                <a16:creationId xmlns:a16="http://schemas.microsoft.com/office/drawing/2014/main" id="{12AC85D6-1A1A-441F-8EEB-58ACB4FD5639}"/>
              </a:ext>
            </a:extLst>
          </p:cNvPr>
          <p:cNvSpPr>
            <a:spLocks noGrp="1"/>
          </p:cNvSpPr>
          <p:nvPr/>
        </p:nvSpPr>
        <p:spPr>
          <a:xfrm>
            <a:off x="1866900" y="492442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先解决什么</a:t>
            </a:r>
          </a:p>
        </p:txBody>
      </p:sp>
      <p:sp>
        <p:nvSpPr>
          <p:cNvPr id="28" name="专业代码与要求因省份而异，通常集中在 4–7 月，首期暂不纳入">
            <a:extLst>
              <a:ext uri="{FF2B5EF4-FFF2-40B4-BE49-F238E27FC236}">
                <a16:creationId xmlns:a16="http://schemas.microsoft.com/office/drawing/2014/main" id="{5F5CC258-51E9-4E20-AFCD-B56B60E5660C}"/>
              </a:ext>
            </a:extLst>
          </p:cNvPr>
          <p:cNvSpPr>
            <a:spLocks noGrp="1"/>
          </p:cNvSpPr>
          <p:nvPr/>
        </p:nvSpPr>
        <p:spPr>
          <a:xfrm>
            <a:off x="4229100" y="4924425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从一道易错病例题进入：看依据 → 比差异 → 做变式 → 再复测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33C24F8-D8BE-416B-AF7C-838921E83915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本章结论">
            <a:extLst>
              <a:ext uri="{FF2B5EF4-FFF2-40B4-BE49-F238E27FC236}">
                <a16:creationId xmlns:a16="http://schemas.microsoft.com/office/drawing/2014/main" id="{CB8F9250-F957-4FD0-906D-DABD7DAF98ED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1" name="现有用户与职考产品基础降低了触达和接入成本，首期聚焦 341、342、3">
            <a:extLst>
              <a:ext uri="{FF2B5EF4-FFF2-40B4-BE49-F238E27FC236}">
                <a16:creationId xmlns:a16="http://schemas.microsoft.com/office/drawing/2014/main" id="{FEF49A02-0159-4E81-914A-52BF3B2A067E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我们的切入点：用有依据的病例练习，帮助考生把知识用于具体判断。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本期聚焦三个中级专业，高级职称后续评估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三个中级专业同步上线已确定，高级职称需另行核对目标地区要求。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 / 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按目标地区官方文件核验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目标用户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确认报考专业、年度和待考科目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待确定地区后开展用户调研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产品建设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三专业共用产品框架，内容按专业适配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另行评估内容与交互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主要挑战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同专业四科成绩两年滚动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考试安排与要求存在地区差异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 同步上线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暂不纳入本期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本期覆盖 341、342、343；高级职称暂不纳入，后续另行评估。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本期同步上线 341、342、343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三者均为全国统考专业，本期不再设置单专业优先级。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341 的考生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342 的考生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343 的考生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三个专业同步上线，内容按所选专业配置，不以所在科室代替报考专业。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四科分别备考，题型与计分规则按官方材料确认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2026口径：四科机考，每科90分钟，各科60分合格，同专业成绩两年滚动。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14</a:t>
            </a:r>
          </a:p>
        </p:txBody>
      </p:sp>
      <p:graphicFrame>
        <p:nvGraphicFramePr>
          <p:cNvPr id="28" name="表格 27"/>
          <p:cNvGraphicFramePr/>
          <p:nvPr/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内容与规则依据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按适用年度官方大纲组织内容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按适用年度官方大纲组织内容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分别核对考点与题型要求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按专业核对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具体题型、计分及回退规则待确认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模拟功能待核验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案例题计分待核验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回退规则待核验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题型题量待核验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前两科共用试卷，后两科按专业考纲建设；练习表现不等同正式考试成绩。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备考难点与产品应对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围绕易混知识与病例判断，补充理解型练习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机构沟通提示的需求线索，主要涉及肿瘤内科；需考生访谈验证，具体内容按官方考纲核对。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调研线索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可能的备考任务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知识分散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串联跨学科知识，定位薄弱点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按考纲关联考点与题目，提供学习路径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分期与方案易混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比较病例条件及对应判断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分期与条件对照，安排同考点变式练习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病例与相似选项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识别病史、影像、病理中的关键依据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解释选项差异和排除理由，支持追问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药物知识记忆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区分适用条件、不良反应与易混点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经审核的知识对照与间隔复测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内容版本变化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理解考纲与参考资料的版本差异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标注适用版本，由教研核对更新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验证重点：换了题目或病例条件后，考生能否说清判断依据。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按产品形态比较供给，重点核对专业覆盖与学习体验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以下为调研框架；具体功能与产品差异需以官方商品页面和实测留证。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14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产品形态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需核验事项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教材与习题集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适用年度正式出版物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目录、版本与解析结构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适用专业与更新版本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各品牌肿瘤中级商品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四科与案例内容覆盖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题目来源、解析与有效期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课程与题库套餐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品牌官方课程套餐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课程、题库与服务权益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商品边界与实际价格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正式产品及实测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追问、解释与纠错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专业准确性与使用额度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候选调研对象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先核对目标专业、内容与权益，再判断直接竞争关系和差异化机会。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竞品价格与权益需要按具体商品核对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原价格样本缺少可追溯证据，暂不作为定价依据；采集时记录日期、渠道与有效期。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价格处理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需留存证据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原价格暂不采用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对应专业购买页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区分题库与课程权益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按商品重新核验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商品名称与有效期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核对专业范围与内容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各专业单科题库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摘要价格待留证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官网或App购买页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题量、解析及有效期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原价格暂不采用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官方购买页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专业覆盖与基础体验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题库会员及课程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分产品核对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会员及课程权益页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区分会员与单独商品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单题库、组合包与会员均为备选，本期收费方式尚未确定。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为什么由我们来做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我们的优势：把依据、情境与练习连接起来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已有内容积累支撑这一方向；首期把资源转成考生可使用的学习流程，并验证实际效果。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可发挥的优势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考生能获得什么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我们的支撑与落地方式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解析有依据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看懂为什么选、其他选项为何不合适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 等参考资料支撑解析，标明版本与出处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病例能练判断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把病史、影像、病理用于判断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病例与影像积累支撑按考纲改编的情境练习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易混条件可对比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分清条件变化为何改变判断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结合大查房分期、病理与治疗评估题设计变式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错题后有下一步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知道该补什么，并检查是否掌握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将既有题目映射考点，设计错因反馈与复测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沿用已有入口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在现有小程序完成连续学习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复用职考流程与题目结构，接入三专业内容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选择我们的理由：做完一道题，还能弄清依据、辨别条件，并练会同类题。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能力对标与产品响应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首期交付：一道题带出一个判断方法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从错题或病例练习进入，完成“作答—理解依据—辨别条件—变式复测”的完整体验。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14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学习环节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首期产品响应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对应价值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做一道病例题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按报考专业匹配病例与考点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暴露具体的知识与判断薄弱点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看懂答案依据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显示关键线索、选项差异与参考来源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弄清为什么这样判断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练习条件变化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同考点更换病例条件，安排变式题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检查是否理解，而非只记住答案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复测与继续学习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按错题考点组织复测，记录完成与回访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判断掌握情况，衔接后续学习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内容要求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依据可追溯、题目符合考纲；指南更新与考试要求分别核对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试点重点：考生能否解释选项差异，并独立完成同考点的新题。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沿用原方案规模估算，区分存量与年度考生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保留原方案数值用于内部规划；基础数据、专业占比和报考比例尚未验证，不作为官方统计。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A｜原方案存量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68,398 人：原医师存量推算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B｜年度情景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3,400–6,800 人：原年度估算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C｜首期验证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盘点可触达考生与学习需求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专业存量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报名人数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付费率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客单价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行业背景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原估算基础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考生规模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核对原来源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保留原估算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以情景展示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待测试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待决策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原方案医师存量推算（非考生数）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原存量情景范围（未验证）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口径要求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医师存量不能直接换算考生人数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保留原方案估算用于讨论，年度报名规模与付费规模分别核对。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原方案年度考生估算：3,400–6,800 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恢复原方案数值与分专业拆分，仅作内部情景；不是官方报名人数，也不代表付费用户。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原年度估算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原方案扩大情景范围为3,306–7,068人；比例与拆分未验证，不能视为统计置信区间。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沿用原估算支持试点规划，结合实际触达、使用与付费情况逐步校准。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095500"/>
            <a:ext cx="5905500" cy="381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2100" b="1">
                <a:solidFill>
                  <a:srgbClr val="102744"/>
                </a:solidFill>
                <a:latin typeface="Microsoft YaHei"/>
              </a:defRPr>
            </a:pPr>
            <a:r>
              <a:t>中性情景约 5,000 人／年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667000"/>
            <a:ext cx="5905500" cy="157162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725" b="0">
                <a:solidFill>
                  <a:srgbClr val="102744"/>
                </a:solidFill>
                <a:latin typeface="Microsoft YaHei"/>
              </a:defRPr>
            </a:pPr>
            <a:r>
              <a:t>原方案按医师存量的5%–10%估算
报考比例与专业拆分属于假设
先盘点现有渠道可触达考生
收费方案确定后再验证收入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以病例判断切入，验证理解与迁移的价值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面向341／342／343考生，将有依据的解析、病例变式练习与错题复测接入现有小程序。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建设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按考纲筛选病例题，补充依据、选项差异与同考点变式。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首屏直接增加三个专业选项，后续内容与进度按专业适配。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收费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收费方式、价格与权益待定，结合需求与服务成本单独决策。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观察解析使用、变式题表现与复测回访；收费后验证转化。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用病例练习帮助考生理解判断依据，以试点结果评估学习价值与后续投入。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1373</Words>
  <Application>Microsoft Office PowerPoint</Application>
  <DocSecurity>0</DocSecurity>
  <PresentationFormat>宽屏</PresentationFormat>
  <Paragraphs>387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2</cp:revision>
  <dcterms:created xsi:type="dcterms:W3CDTF">2026-09-17T03:47:42Z</dcterms:created>
  <dcterms:modified xsi:type="dcterms:W3CDTF">2026-09-17T09:59:36Z</dcterms:modified>
</cp:coreProperties>
</file>