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8" r:id="rId11"/>
    <p:sldId id="269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24"/>
  </p:normalViewPr>
  <p:slideViewPr>
    <p:cSldViewPr snapToGrid="0">
      <p:cViewPr varScale="1">
        <p:scale>
          <a:sx n="102" d="100"/>
          <a:sy n="102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潜在年度考生</c:v>
          </c:tx>
          <c:spPr>
            <a:solidFill>
              <a:srgbClr val="2F66E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102744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保守 5.0%</c:v>
              </c:pt>
              <c:pt idx="1">
                <c:v>中性 7.5%</c:v>
              </c:pt>
              <c:pt idx="2">
                <c:v>积极 10.0%</c:v>
              </c:pt>
            </c:strLit>
          </c:cat>
          <c:val>
            <c:numLit>
              <c:formatCode>General</c:formatCode>
              <c:ptCount val="3"/>
              <c:pt idx="0">
                <c:v>3420</c:v>
              </c:pt>
              <c:pt idx="1">
                <c:v>5130</c:v>
              </c:pt>
              <c:pt idx="2">
                <c:v>6840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BB7-5B49-AE63-0533C6D439A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7E2F1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7E2F1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E2F1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本页为新增市场需求分析，其他原页内容保持用户提供版本，仅页码顺延。</a:t>
            </a:r>
          </a:p>
          <a:p>
            <a:r>
              <a:t>来源1：人卫医学网《2023年考试五个题型重点剖析》（2022-12-26）：https://uat.ipmph.com/examzcms/c/2022-12-26/556633.shtml。2026-09-18查阅。该文说明案例分析题使用模拟临床情境，侧重病情分析、判断和处理。仅引用题型特点，不将旧年份说明作为2026年341/342/343题型占比或计分依据。</a:t>
            </a:r>
          </a:p>
          <a:p>
            <a:r>
              <a:t>来源2：用户提供341 342 343肿瘤学考试大纲.pdf，PDF第20、25、33–34、38–39页涉及毒副反应评估、药物毒性、影像学检查、病理及基因检测、分期和治疗原则；该文件本次未重新认定其年度。</a:t>
            </a:r>
          </a:p>
          <a:p>
            <a:r>
              <a:t>来源3：用户提供机构沟通截图及本轮文字，主要讨论肿瘤内科；一线/二线方案和相似选项作为调研难点，非官方题量统计或全部三个专业的统一难度结论。表中以一线/后线作为学习需求例子，不提供临床处方建议。未采用“病例题占比非常高”“大量题来自真实病例”断言。各项市场需求为材料归纳，尚非代表性考生样本验证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公开来源：</a:t>
            </a:r>
          </a:p>
          <a:p>
            <a:r>
              <a:t>https://www.csco.org.cn/cn/ncontent.aspx?oid=9278</a:t>
            </a:r>
          </a:p>
          <a:p>
            <a:r>
              <a:t>https://www-search.liangyihui.net/doc/166633</a:t>
            </a:r>
          </a:p>
          <a:p>
            <a:r>
              <a:t>2026-09-17已查阅。资源归属依据用户说明。商业意义为分析判断，不是已验证的付费转化结果。大查房公开专栏与本地题目分别作为证据，不声称专栏专家审核本地题目。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公开来源：</a:t>
            </a:r>
          </a:p>
          <a:p>
            <a:r>
              <a:t>https://www-search.liangyihui.net/column/162</a:t>
            </a:r>
          </a:p>
          <a:p>
            <a:r>
              <a:t>https://www-search.liangyihui.net/column/158</a:t>
            </a:r>
          </a:p>
          <a:p>
            <a:r>
              <a:t>2026-09-17已查阅。资源归属依据用户说明。商业意义为分析判断，不是已验证的付费转化结果。大查房公开专栏与本地题目分别作为证据，不声称专栏专家审核本地题目。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85EE8ECE-FA42-418A-B3D9-886EE2D87493}"/>
              </a:ext>
            </a:extLst>
          </p:cNvPr>
          <p:cNvSpPr>
            <a:spLocks noGrp="1"/>
          </p:cNvSpPr>
          <p:nvPr/>
        </p:nvSpPr>
        <p:spPr>
          <a:xfrm>
            <a:off x="323850" y="381000"/>
            <a:ext cx="5219700" cy="6096000"/>
          </a:xfrm>
          <a:prstGeom prst="roundRect">
            <a:avLst>
              <a:gd name="adj" fmla="val 5109"/>
            </a:avLst>
          </a:prstGeom>
          <a:solidFill>
            <a:srgbClr val="071B36"/>
          </a:solidFill>
          <a:ln w="9525">
            <a:solidFill>
              <a:srgbClr val="24476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职考项目拓展">
            <a:extLst>
              <a:ext uri="{FF2B5EF4-FFF2-40B4-BE49-F238E27FC236}">
                <a16:creationId xmlns:a16="http://schemas.microsoft.com/office/drawing/2014/main" id="{6F59EA63-B080-4518-839C-81A1D8F1AC6B}"/>
              </a:ext>
            </a:extLst>
          </p:cNvPr>
          <p:cNvSpPr>
            <a:spLocks noGrp="1"/>
          </p:cNvSpPr>
          <p:nvPr/>
        </p:nvSpPr>
        <p:spPr>
          <a:xfrm>
            <a:off x="628650" y="78105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职考项目拓展</a:t>
            </a:r>
          </a:p>
        </p:txBody>
      </p:sp>
      <p:sp>
        <p:nvSpPr>
          <p:cNvPr id="4" name="肿瘤职称 市场分析">
            <a:extLst>
              <a:ext uri="{FF2B5EF4-FFF2-40B4-BE49-F238E27FC236}">
                <a16:creationId xmlns:a16="http://schemas.microsoft.com/office/drawing/2014/main" id="{AD90D4A1-D79C-400C-823A-1006854AF5CC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45720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肿瘤职称</a:t>
            </a:r>
          </a:p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</a:p>
        </p:txBody>
      </p:sp>
      <p:sp>
        <p:nvSpPr>
          <p:cNvPr id="5" name="市场规模、竞品格局与首期产品范围">
            <a:extLst>
              <a:ext uri="{FF2B5EF4-FFF2-40B4-BE49-F238E27FC236}">
                <a16:creationId xmlns:a16="http://schemas.microsoft.com/office/drawing/2014/main" id="{AEB54D5D-0C52-4EB1-869D-EF8D35824C1E}"/>
              </a:ext>
            </a:extLst>
          </p:cNvPr>
          <p:cNvSpPr>
            <a:spLocks noGrp="1"/>
          </p:cNvSpPr>
          <p:nvPr/>
        </p:nvSpPr>
        <p:spPr>
          <a:xfrm>
            <a:off x="666750" y="3590925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rPr>
              <a:t>市场规模、竞争格局与业务机会</a:t>
            </a:r>
          </a:p>
        </p:txBody>
      </p:sp>
      <p:sp>
        <p:nvSpPr>
          <p:cNvPr id="8" name="2026.09">
            <a:extLst>
              <a:ext uri="{FF2B5EF4-FFF2-40B4-BE49-F238E27FC236}">
                <a16:creationId xmlns:a16="http://schemas.microsoft.com/office/drawing/2014/main" id="{818A5201-6628-453E-A582-441D99FBC96B}"/>
              </a:ext>
            </a:extLst>
          </p:cNvPr>
          <p:cNvSpPr>
            <a:spLocks noGrp="1"/>
          </p:cNvSpPr>
          <p:nvPr/>
        </p:nvSpPr>
        <p:spPr>
          <a:xfrm>
            <a:off x="666750" y="60013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390344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核心结论">
            <a:extLst>
              <a:ext uri="{FF2B5EF4-FFF2-40B4-BE49-F238E27FC236}">
                <a16:creationId xmlns:a16="http://schemas.microsoft.com/office/drawing/2014/main" id="{AF2ADD23-A25D-4FCD-BADA-7DE605F04C2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" name="同步上线 341、342、343，以低成本试点验证真实价值">
            <a:extLst>
              <a:ext uri="{FF2B5EF4-FFF2-40B4-BE49-F238E27FC236}">
                <a16:creationId xmlns:a16="http://schemas.microsoft.com/office/drawing/2014/main" id="{79CB149E-1E76-4DF7-B183-F246CDECD6F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肿瘤职称是细分市场，机会在专科内容与现有用户</a:t>
            </a:r>
          </a:p>
        </p:txBody>
      </p:sp>
      <p:sp>
        <p:nvSpPr>
          <p:cNvPr id="3" name="市场规模不大，但与良医汇现有肿瘤医生用户高度匹配。">
            <a:extLst>
              <a:ext uri="{FF2B5EF4-FFF2-40B4-BE49-F238E27FC236}">
                <a16:creationId xmlns:a16="http://schemas.microsoft.com/office/drawing/2014/main" id="{4E8ED9C1-1921-4C13-8D2C-DFE5008DFA62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沿用原方案规模估算；结合肿瘤医生 APP 的内容积累与目标用户触达，判断进入机会。</a:t>
            </a:r>
          </a:p>
        </p:txBody>
      </p:sp>
      <p:sp>
        <p:nvSpPr>
          <p:cNvPr id="4" name="02">
            <a:extLst>
              <a:ext uri="{FF2B5EF4-FFF2-40B4-BE49-F238E27FC236}">
                <a16:creationId xmlns:a16="http://schemas.microsoft.com/office/drawing/2014/main" id="{E2E4AE49-5110-414D-B209-F4A69EB68D5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0042E1-E943-43B8-9699-40D17015E4CD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D712F1-1A2D-4313-B331-080778D7B249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86890A9F-9B09-4E65-925D-09162427CB3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2 / 12">
            <a:extLst>
              <a:ext uri="{FF2B5EF4-FFF2-40B4-BE49-F238E27FC236}">
                <a16:creationId xmlns:a16="http://schemas.microsoft.com/office/drawing/2014/main" id="{357E8A26-28F6-4119-8ECF-46D3F19AB421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02 / 15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5CF8B3E-8C46-443E-9BE8-E055C7332FCB}"/>
              </a:ext>
            </a:extLst>
          </p:cNvPr>
          <p:cNvSpPr>
            <a:spLocks noGrp="1"/>
          </p:cNvSpPr>
          <p:nvPr/>
        </p:nvSpPr>
        <p:spPr>
          <a:xfrm>
            <a:off x="53340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6.6–7.1 万">
            <a:extLst>
              <a:ext uri="{FF2B5EF4-FFF2-40B4-BE49-F238E27FC236}">
                <a16:creationId xmlns:a16="http://schemas.microsoft.com/office/drawing/2014/main" id="{B4E699BC-B3EE-4E9C-99C5-DF656F89ABC7}"/>
              </a:ext>
            </a:extLst>
          </p:cNvPr>
          <p:cNvSpPr>
            <a:spLocks noGrp="1"/>
          </p:cNvSpPr>
          <p:nvPr/>
        </p:nvSpPr>
        <p:spPr>
          <a:xfrm>
            <a:off x="70485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6.6–7.1 万</a:t>
            </a:r>
          </a:p>
        </p:txBody>
      </p:sp>
      <p:sp>
        <p:nvSpPr>
          <p:cNvPr id="11" name="全国狭义肿瘤科医师">
            <a:extLst>
              <a:ext uri="{FF2B5EF4-FFF2-40B4-BE49-F238E27FC236}">
                <a16:creationId xmlns:a16="http://schemas.microsoft.com/office/drawing/2014/main" id="{9C78ECEF-4A3E-4758-BFFA-CAD11D077A86}"/>
              </a:ext>
            </a:extLst>
          </p:cNvPr>
          <p:cNvSpPr>
            <a:spLocks noGrp="1"/>
          </p:cNvSpPr>
          <p:nvPr/>
        </p:nvSpPr>
        <p:spPr>
          <a:xfrm>
            <a:off x="70485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rPr>
              <a:t>原方案医师存量估算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A0BAC88A-AF3E-4A1A-B44C-ADF983B2F032}"/>
              </a:ext>
            </a:extLst>
          </p:cNvPr>
          <p:cNvSpPr>
            <a:spLocks noGrp="1"/>
          </p:cNvSpPr>
          <p:nvPr/>
        </p:nvSpPr>
        <p:spPr>
          <a:xfrm>
            <a:off x="314325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0.33–0.71 万">
            <a:extLst>
              <a:ext uri="{FF2B5EF4-FFF2-40B4-BE49-F238E27FC236}">
                <a16:creationId xmlns:a16="http://schemas.microsoft.com/office/drawing/2014/main" id="{CBB4DEE9-077B-4F69-8D9B-82BEF6616D8C}"/>
              </a:ext>
            </a:extLst>
          </p:cNvPr>
          <p:cNvSpPr>
            <a:spLocks noGrp="1"/>
          </p:cNvSpPr>
          <p:nvPr/>
        </p:nvSpPr>
        <p:spPr>
          <a:xfrm>
            <a:off x="331470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0.33–0.71 万</a:t>
            </a:r>
          </a:p>
        </p:txBody>
      </p:sp>
      <p:sp>
        <p:nvSpPr>
          <p:cNvPr id="14" name="潜在年度考生">
            <a:extLst>
              <a:ext uri="{FF2B5EF4-FFF2-40B4-BE49-F238E27FC236}">
                <a16:creationId xmlns:a16="http://schemas.microsoft.com/office/drawing/2014/main" id="{E53E8FE0-1847-4409-A2E7-445ED033B5D4}"/>
              </a:ext>
            </a:extLst>
          </p:cNvPr>
          <p:cNvSpPr>
            <a:spLocks noGrp="1"/>
          </p:cNvSpPr>
          <p:nvPr/>
        </p:nvSpPr>
        <p:spPr>
          <a:xfrm>
            <a:off x="331470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原方案年度考生估算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4C7252AE-C453-4846-8551-B4AC5AA6CBFB}"/>
              </a:ext>
            </a:extLst>
          </p:cNvPr>
          <p:cNvSpPr>
            <a:spLocks noGrp="1"/>
          </p:cNvSpPr>
          <p:nvPr/>
        </p:nvSpPr>
        <p:spPr>
          <a:xfrm>
            <a:off x="575310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3 个专业">
            <a:extLst>
              <a:ext uri="{FF2B5EF4-FFF2-40B4-BE49-F238E27FC236}">
                <a16:creationId xmlns:a16="http://schemas.microsoft.com/office/drawing/2014/main" id="{86013250-096D-43E8-9F04-EE135CB1B5B4}"/>
              </a:ext>
            </a:extLst>
          </p:cNvPr>
          <p:cNvSpPr>
            <a:spLocks noGrp="1"/>
          </p:cNvSpPr>
          <p:nvPr/>
        </p:nvSpPr>
        <p:spPr>
          <a:xfrm>
            <a:off x="592455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 个专业</a:t>
            </a:r>
          </a:p>
        </p:txBody>
      </p:sp>
      <p:sp>
        <p:nvSpPr>
          <p:cNvPr id="17" name="341 / 342 / 343 同步上线">
            <a:extLst>
              <a:ext uri="{FF2B5EF4-FFF2-40B4-BE49-F238E27FC236}">
                <a16:creationId xmlns:a16="http://schemas.microsoft.com/office/drawing/2014/main" id="{0F328309-1599-4A2A-9C48-6120623C69BD}"/>
              </a:ext>
            </a:extLst>
          </p:cNvPr>
          <p:cNvSpPr>
            <a:spLocks noGrp="1"/>
          </p:cNvSpPr>
          <p:nvPr/>
        </p:nvSpPr>
        <p:spPr>
          <a:xfrm>
            <a:off x="592455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341 / 342 / 343 同步上线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7E48F290-B096-4169-A2CA-6A3075759F96}"/>
              </a:ext>
            </a:extLst>
          </p:cNvPr>
          <p:cNvSpPr>
            <a:spLocks noGrp="1"/>
          </p:cNvSpPr>
          <p:nvPr/>
        </p:nvSpPr>
        <p:spPr>
          <a:xfrm>
            <a:off x="8362950" y="1790700"/>
            <a:ext cx="329565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低成本试点">
            <a:extLst>
              <a:ext uri="{FF2B5EF4-FFF2-40B4-BE49-F238E27FC236}">
                <a16:creationId xmlns:a16="http://schemas.microsoft.com/office/drawing/2014/main" id="{375D0AE6-E9EE-44AE-BAF4-B8238E14F66A}"/>
              </a:ext>
            </a:extLst>
          </p:cNvPr>
          <p:cNvSpPr>
            <a:spLocks noGrp="1"/>
          </p:cNvSpPr>
          <p:nvPr/>
        </p:nvSpPr>
        <p:spPr>
          <a:xfrm>
            <a:off x="8534400" y="1943100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收费待定</a:t>
            </a:r>
          </a:p>
        </p:txBody>
      </p:sp>
      <p:sp>
        <p:nvSpPr>
          <p:cNvPr id="20" name="真实使用与付费再决策">
            <a:extLst>
              <a:ext uri="{FF2B5EF4-FFF2-40B4-BE49-F238E27FC236}">
                <a16:creationId xmlns:a16="http://schemas.microsoft.com/office/drawing/2014/main" id="{FAF3E70D-91B1-481D-B151-4E9F6AAED684}"/>
              </a:ext>
            </a:extLst>
          </p:cNvPr>
          <p:cNvSpPr>
            <a:spLocks noGrp="1"/>
          </p:cNvSpPr>
          <p:nvPr/>
        </p:nvSpPr>
        <p:spPr>
          <a:xfrm>
            <a:off x="8534400" y="2505075"/>
            <a:ext cx="2952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结合付费意愿与成本决策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109FEB37-E456-4413-B1EF-37EB92795483}"/>
              </a:ext>
            </a:extLst>
          </p:cNvPr>
          <p:cNvSpPr>
            <a:spLocks noGrp="1"/>
          </p:cNvSpPr>
          <p:nvPr/>
        </p:nvSpPr>
        <p:spPr>
          <a:xfrm>
            <a:off x="533400" y="3209925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1">
            <a:extLst>
              <a:ext uri="{FF2B5EF4-FFF2-40B4-BE49-F238E27FC236}">
                <a16:creationId xmlns:a16="http://schemas.microsoft.com/office/drawing/2014/main" id="{666AB40D-F3A2-431C-B2DF-5AE2BBBA6D48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产品范围">
            <a:extLst>
              <a:ext uri="{FF2B5EF4-FFF2-40B4-BE49-F238E27FC236}">
                <a16:creationId xmlns:a16="http://schemas.microsoft.com/office/drawing/2014/main" id="{FC126D14-A40F-4A63-BCF9-14760540D993}"/>
              </a:ext>
            </a:extLst>
          </p:cNvPr>
          <p:cNvSpPr>
            <a:spLocks noGrp="1"/>
          </p:cNvSpPr>
          <p:nvPr/>
        </p:nvSpPr>
        <p:spPr>
          <a:xfrm>
            <a:off x="1504950" y="3343275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市场机会</a:t>
            </a:r>
          </a:p>
        </p:txBody>
      </p:sp>
      <p:sp>
        <p:nvSpPr>
          <p:cNvPr id="24" name="接入现有职考小程序，复用答题、诊断、错题和 AI 辅助能力。">
            <a:extLst>
              <a:ext uri="{FF2B5EF4-FFF2-40B4-BE49-F238E27FC236}">
                <a16:creationId xmlns:a16="http://schemas.microsoft.com/office/drawing/2014/main" id="{53572D5A-1686-4F97-AEA3-AECBD49D3C27}"/>
              </a:ext>
            </a:extLst>
          </p:cNvPr>
          <p:cNvSpPr>
            <a:spLocks noGrp="1"/>
          </p:cNvSpPr>
          <p:nvPr/>
        </p:nvSpPr>
        <p:spPr>
          <a:xfrm>
            <a:off x="4953000" y="3343275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从现有肿瘤医生用户中承接职称备考需求，实际考生数量需盘点。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DF529BFE-CB34-49A7-A026-6744313429FE}"/>
              </a:ext>
            </a:extLst>
          </p:cNvPr>
          <p:cNvSpPr>
            <a:spLocks noGrp="1"/>
          </p:cNvSpPr>
          <p:nvPr/>
        </p:nvSpPr>
        <p:spPr>
          <a:xfrm>
            <a:off x="533400" y="4086225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02">
            <a:extLst>
              <a:ext uri="{FF2B5EF4-FFF2-40B4-BE49-F238E27FC236}">
                <a16:creationId xmlns:a16="http://schemas.microsoft.com/office/drawing/2014/main" id="{FB5616E8-64DB-4F08-BC85-BCDCDA434711}"/>
              </a:ext>
            </a:extLst>
          </p:cNvPr>
          <p:cNvSpPr>
            <a:spLocks noGrp="1"/>
          </p:cNvSpPr>
          <p:nvPr/>
        </p:nvSpPr>
        <p:spPr>
          <a:xfrm>
            <a:off x="723900" y="42100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竞争策略">
            <a:extLst>
              <a:ext uri="{FF2B5EF4-FFF2-40B4-BE49-F238E27FC236}">
                <a16:creationId xmlns:a16="http://schemas.microsoft.com/office/drawing/2014/main" id="{E01ADD5F-C4A5-447F-B1A1-99369F33499B}"/>
              </a:ext>
            </a:extLst>
          </p:cNvPr>
          <p:cNvSpPr>
            <a:spLocks noGrp="1"/>
          </p:cNvSpPr>
          <p:nvPr/>
        </p:nvSpPr>
        <p:spPr>
          <a:xfrm>
            <a:off x="1504950" y="4219575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竞争策略</a:t>
            </a:r>
          </a:p>
        </p:txBody>
      </p:sp>
      <p:sp>
        <p:nvSpPr>
          <p:cNvPr id="28" name="依靠三专业覆盖、可信解析、持续更新和现有用户触达形成差异。">
            <a:extLst>
              <a:ext uri="{FF2B5EF4-FFF2-40B4-BE49-F238E27FC236}">
                <a16:creationId xmlns:a16="http://schemas.microsoft.com/office/drawing/2014/main" id="{A738A5EA-23C5-4A45-AC8E-41856C975FC5}"/>
              </a:ext>
            </a:extLst>
          </p:cNvPr>
          <p:cNvSpPr>
            <a:spLocks noGrp="1"/>
          </p:cNvSpPr>
          <p:nvPr/>
        </p:nvSpPr>
        <p:spPr>
          <a:xfrm>
            <a:off x="4953000" y="4219575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 CSCO 指南和大查房的内容积累，建立肿瘤专科备考的差异化。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959E7ED6-29B0-479C-833E-3AA8201C26A7}"/>
              </a:ext>
            </a:extLst>
          </p:cNvPr>
          <p:cNvSpPr>
            <a:spLocks noGrp="1"/>
          </p:cNvSpPr>
          <p:nvPr/>
        </p:nvSpPr>
        <p:spPr>
          <a:xfrm>
            <a:off x="533400" y="5572125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核心结论">
            <a:extLst>
              <a:ext uri="{FF2B5EF4-FFF2-40B4-BE49-F238E27FC236}">
                <a16:creationId xmlns:a16="http://schemas.microsoft.com/office/drawing/2014/main" id="{38702767-A290-49CE-8B08-B2ED2599058F}"/>
              </a:ext>
            </a:extLst>
          </p:cNvPr>
          <p:cNvSpPr>
            <a:spLocks noGrp="1"/>
          </p:cNvSpPr>
          <p:nvPr/>
        </p:nvSpPr>
        <p:spPr>
          <a:xfrm>
            <a:off x="704850" y="57245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31" name="同步上线 341、342、343，以真实使用率和付费表现决定后续投入。">
            <a:extLst>
              <a:ext uri="{FF2B5EF4-FFF2-40B4-BE49-F238E27FC236}">
                <a16:creationId xmlns:a16="http://schemas.microsoft.com/office/drawing/2014/main" id="{F085D90A-847A-43D1-8E18-BA688625A239}"/>
              </a:ext>
            </a:extLst>
          </p:cNvPr>
          <p:cNvSpPr>
            <a:spLocks noGrp="1"/>
          </p:cNvSpPr>
          <p:nvPr/>
        </p:nvSpPr>
        <p:spPr>
          <a:xfrm>
            <a:off x="2133600" y="5695950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围绕三个中级专业进入细分市场，以付费需求和服务成本判断商业可行性。</a:t>
            </a:r>
          </a:p>
        </p:txBody>
      </p:sp>
    </p:spTree>
    <p:extLst>
      <p:ext uri="{BB962C8B-B14F-4D97-AF65-F5344CB8AC3E}">
        <p14:creationId xmlns:p14="http://schemas.microsoft.com/office/powerpoint/2010/main" val="1421287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项目背景">
            <a:extLst>
              <a:ext uri="{FF2B5EF4-FFF2-40B4-BE49-F238E27FC236}">
                <a16:creationId xmlns:a16="http://schemas.microsoft.com/office/drawing/2014/main" id="{865D4DF6-AE29-4F1D-A696-F76F03AB8C58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2" name="项目基础与考试类型覆盖">
            <a:extLst>
              <a:ext uri="{FF2B5EF4-FFF2-40B4-BE49-F238E27FC236}">
                <a16:creationId xmlns:a16="http://schemas.microsoft.com/office/drawing/2014/main" id="{DB560986-93F2-44F3-96E2-060321947BDF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项目基础与考试类型覆盖</a:t>
            </a:r>
          </a:p>
        </p:txBody>
      </p:sp>
      <p:sp>
        <p:nvSpPr>
          <p:cNvPr id="3" name="良医汇现有肿瘤医生用户与职考产品基础，降低了中级题库的接入成本。">
            <a:extLst>
              <a:ext uri="{FF2B5EF4-FFF2-40B4-BE49-F238E27FC236}">
                <a16:creationId xmlns:a16="http://schemas.microsoft.com/office/drawing/2014/main" id="{5EB55CBF-8128-4D48-9C87-E033E4A265A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肿瘤医生 APP 已有专科用户和内容积累，为拓展职称备考业务提供基础。</a:t>
            </a:r>
          </a:p>
        </p:txBody>
      </p:sp>
      <p:sp>
        <p:nvSpPr>
          <p:cNvPr id="4" name="03">
            <a:extLst>
              <a:ext uri="{FF2B5EF4-FFF2-40B4-BE49-F238E27FC236}">
                <a16:creationId xmlns:a16="http://schemas.microsoft.com/office/drawing/2014/main" id="{C3FAC473-C1A7-452E-A8B9-8F1E69C669E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B37B7B-FA08-46DF-B177-D49375C318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D569B9-266E-41DE-AAA3-F98CADA22AD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4C3E394-8D02-4603-B021-FE015156FA94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3 / 12">
            <a:extLst>
              <a:ext uri="{FF2B5EF4-FFF2-40B4-BE49-F238E27FC236}">
                <a16:creationId xmlns:a16="http://schemas.microsoft.com/office/drawing/2014/main" id="{63E80F1C-B0FD-4644-99C2-B3FE48604A6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03 / 15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B44DDB3-ED3C-4481-815A-A5B849623969}"/>
              </a:ext>
            </a:extLst>
          </p:cNvPr>
          <p:cNvSpPr>
            <a:spLocks noGrp="1"/>
          </p:cNvSpPr>
          <p:nvPr/>
        </p:nvSpPr>
        <p:spPr>
          <a:xfrm>
            <a:off x="533400" y="1781175"/>
            <a:ext cx="1295400" cy="323850"/>
          </a:xfrm>
          <a:prstGeom prst="roundRect">
            <a:avLst>
              <a:gd name="adj" fmla="val 50000"/>
            </a:avLst>
          </a:prstGeom>
          <a:solidFill>
            <a:srgbClr val="DDE9F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项目价值">
            <a:extLst>
              <a:ext uri="{FF2B5EF4-FFF2-40B4-BE49-F238E27FC236}">
                <a16:creationId xmlns:a16="http://schemas.microsoft.com/office/drawing/2014/main" id="{CF30EC5B-43F4-41EB-A4C5-F94C282F2D08}"/>
              </a:ext>
            </a:extLst>
          </p:cNvPr>
          <p:cNvSpPr>
            <a:spLocks noGrp="1"/>
          </p:cNvSpPr>
          <p:nvPr/>
        </p:nvSpPr>
        <p:spPr>
          <a:xfrm>
            <a:off x="533400" y="1838325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项目价值</a:t>
            </a:r>
          </a:p>
        </p:txBody>
      </p:sp>
      <p:sp>
        <p:nvSpPr>
          <p:cNvPr id="11" name="复用现有用户">
            <a:extLst>
              <a:ext uri="{FF2B5EF4-FFF2-40B4-BE49-F238E27FC236}">
                <a16:creationId xmlns:a16="http://schemas.microsoft.com/office/drawing/2014/main" id="{EC93B665-9935-4EC7-8DF3-620A819E9EC1}"/>
              </a:ext>
            </a:extLst>
          </p:cNvPr>
          <p:cNvSpPr>
            <a:spLocks noGrp="1"/>
          </p:cNvSpPr>
          <p:nvPr/>
        </p:nvSpPr>
        <p:spPr>
          <a:xfrm>
            <a:off x="5334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复用现有用户</a:t>
            </a:r>
            <a:endParaRPr sz="1875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降低目标用户触达与获取成本">
            <a:extLst>
              <a:ext uri="{FF2B5EF4-FFF2-40B4-BE49-F238E27FC236}">
                <a16:creationId xmlns:a16="http://schemas.microsoft.com/office/drawing/2014/main" id="{DB024E3A-1178-4556-856D-4EEC1996DD2B}"/>
              </a:ext>
            </a:extLst>
          </p:cNvPr>
          <p:cNvSpPr>
            <a:spLocks noGrp="1"/>
          </p:cNvSpPr>
          <p:nvPr/>
        </p:nvSpPr>
        <p:spPr>
          <a:xfrm>
            <a:off x="533400" y="266700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通过现有渠道触达潜在考生</a:t>
            </a:r>
          </a:p>
        </p:txBody>
      </p:sp>
      <p:sp>
        <p:nvSpPr>
          <p:cNvPr id="13" name="满足晋升需求">
            <a:extLst>
              <a:ext uri="{FF2B5EF4-FFF2-40B4-BE49-F238E27FC236}">
                <a16:creationId xmlns:a16="http://schemas.microsoft.com/office/drawing/2014/main" id="{EE58EDBC-3DE2-4741-B4E2-4EB4CFA94085}"/>
              </a:ext>
            </a:extLst>
          </p:cNvPr>
          <p:cNvSpPr>
            <a:spLocks noGrp="1"/>
          </p:cNvSpPr>
          <p:nvPr/>
        </p:nvSpPr>
        <p:spPr>
          <a:xfrm>
            <a:off x="42291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满足晋升需求</a:t>
            </a:r>
          </a:p>
        </p:txBody>
      </p:sp>
      <p:sp>
        <p:nvSpPr>
          <p:cNvPr id="14" name="把学习服务延伸到职称晋升阶段">
            <a:extLst>
              <a:ext uri="{FF2B5EF4-FFF2-40B4-BE49-F238E27FC236}">
                <a16:creationId xmlns:a16="http://schemas.microsoft.com/office/drawing/2014/main" id="{83AE2FF4-F322-4531-8F3F-A82382D6C3AF}"/>
              </a:ext>
            </a:extLst>
          </p:cNvPr>
          <p:cNvSpPr>
            <a:spLocks noGrp="1"/>
          </p:cNvSpPr>
          <p:nvPr/>
        </p:nvSpPr>
        <p:spPr>
          <a:xfrm>
            <a:off x="4229100" y="266700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把学习服务延伸到职称晋升阶段</a:t>
            </a:r>
          </a:p>
        </p:txBody>
      </p:sp>
      <p:sp>
        <p:nvSpPr>
          <p:cNvPr id="15" name="拓展 AI 场景">
            <a:extLst>
              <a:ext uri="{FF2B5EF4-FFF2-40B4-BE49-F238E27FC236}">
                <a16:creationId xmlns:a16="http://schemas.microsoft.com/office/drawing/2014/main" id="{81364E9D-20C7-434F-8CAE-763F91ABD9EF}"/>
              </a:ext>
            </a:extLst>
          </p:cNvPr>
          <p:cNvSpPr>
            <a:spLocks noGrp="1"/>
          </p:cNvSpPr>
          <p:nvPr/>
        </p:nvSpPr>
        <p:spPr>
          <a:xfrm>
            <a:off x="79248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延伸内容价值</a:t>
            </a:r>
          </a:p>
        </p:txBody>
      </p:sp>
      <p:sp>
        <p:nvSpPr>
          <p:cNvPr id="16" name="将 AI 私教与追问迁移到职称考试">
            <a:extLst>
              <a:ext uri="{FF2B5EF4-FFF2-40B4-BE49-F238E27FC236}">
                <a16:creationId xmlns:a16="http://schemas.microsoft.com/office/drawing/2014/main" id="{5816822B-7674-416F-8C37-EA19AC26C136}"/>
              </a:ext>
            </a:extLst>
          </p:cNvPr>
          <p:cNvSpPr>
            <a:spLocks noGrp="1"/>
          </p:cNvSpPr>
          <p:nvPr/>
        </p:nvSpPr>
        <p:spPr>
          <a:xfrm>
            <a:off x="7924800" y="2667000"/>
            <a:ext cx="31242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将指南与大查房内容延伸至备考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C46A19-2AFD-439D-A715-6E89428F28D5}"/>
              </a:ext>
            </a:extLst>
          </p:cNvPr>
          <p:cNvSpPr>
            <a:spLocks noGrp="1"/>
          </p:cNvSpPr>
          <p:nvPr/>
        </p:nvSpPr>
        <p:spPr>
          <a:xfrm>
            <a:off x="533400" y="3295650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47B798AE-3FB2-45D6-8CD1-867E439BB92A}"/>
              </a:ext>
            </a:extLst>
          </p:cNvPr>
          <p:cNvSpPr>
            <a:spLocks noGrp="1"/>
          </p:cNvSpPr>
          <p:nvPr/>
        </p:nvSpPr>
        <p:spPr>
          <a:xfrm>
            <a:off x="533400" y="3581400"/>
            <a:ext cx="1112520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369A3BB5-9B6E-4CBC-A180-9C4164B0F932}"/>
              </a:ext>
            </a:extLst>
          </p:cNvPr>
          <p:cNvSpPr>
            <a:spLocks noGrp="1"/>
          </p:cNvSpPr>
          <p:nvPr/>
        </p:nvSpPr>
        <p:spPr>
          <a:xfrm>
            <a:off x="723900" y="381000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0B23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中级">
            <a:extLst>
              <a:ext uri="{FF2B5EF4-FFF2-40B4-BE49-F238E27FC236}">
                <a16:creationId xmlns:a16="http://schemas.microsoft.com/office/drawing/2014/main" id="{04C5C3ED-4D80-45D6-A02A-39B02AA33620}"/>
              </a:ext>
            </a:extLst>
          </p:cNvPr>
          <p:cNvSpPr>
            <a:spLocks noGrp="1"/>
          </p:cNvSpPr>
          <p:nvPr/>
        </p:nvSpPr>
        <p:spPr>
          <a:xfrm>
            <a:off x="723900" y="3867150"/>
            <a:ext cx="914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中级</a:t>
            </a:r>
          </a:p>
        </p:txBody>
      </p:sp>
      <p:sp>
        <p:nvSpPr>
          <p:cNvPr id="21" name="全国统一考试">
            <a:extLst>
              <a:ext uri="{FF2B5EF4-FFF2-40B4-BE49-F238E27FC236}">
                <a16:creationId xmlns:a16="http://schemas.microsoft.com/office/drawing/2014/main" id="{3F385486-EE28-4FF3-A21E-F1FCA6A633F8}"/>
              </a:ext>
            </a:extLst>
          </p:cNvPr>
          <p:cNvSpPr>
            <a:spLocks noGrp="1"/>
          </p:cNvSpPr>
          <p:nvPr/>
        </p:nvSpPr>
        <p:spPr>
          <a:xfrm>
            <a:off x="1866900" y="3800475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全国统一考试</a:t>
            </a:r>
          </a:p>
        </p:txBody>
      </p:sp>
      <p:sp>
        <p:nvSpPr>
          <p:cNvPr id="22" name="341 肿瘤内科学、342 肿瘤外科学、343 肿瘤放射治疗学、388 ">
            <a:extLst>
              <a:ext uri="{FF2B5EF4-FFF2-40B4-BE49-F238E27FC236}">
                <a16:creationId xmlns:a16="http://schemas.microsoft.com/office/drawing/2014/main" id="{A7B491B6-96F6-403D-AD30-17554C0DAF39}"/>
              </a:ext>
            </a:extLst>
          </p:cNvPr>
          <p:cNvSpPr>
            <a:spLocks noGrp="1"/>
          </p:cNvSpPr>
          <p:nvPr/>
        </p:nvSpPr>
        <p:spPr>
          <a:xfrm>
            <a:off x="4229100" y="3790950"/>
            <a:ext cx="7029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341 肿瘤内科学、342 肿瘤外科学、343 肿瘤放射治疗学、388 肿瘤放射治疗技术</a:t>
            </a:r>
          </a:p>
        </p:txBody>
      </p:sp>
      <p:sp>
        <p:nvSpPr>
          <p:cNvPr id="23" name="通常每年 4 月，标准化程度高；首期聚焦 341–343">
            <a:extLst>
              <a:ext uri="{FF2B5EF4-FFF2-40B4-BE49-F238E27FC236}">
                <a16:creationId xmlns:a16="http://schemas.microsoft.com/office/drawing/2014/main" id="{DB4A178E-8BAE-44EA-9E46-92BB498BA744}"/>
              </a:ext>
            </a:extLst>
          </p:cNvPr>
          <p:cNvSpPr>
            <a:spLocks noGrp="1"/>
          </p:cNvSpPr>
          <p:nvPr/>
        </p:nvSpPr>
        <p:spPr>
          <a:xfrm>
            <a:off x="1866900" y="421005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具体考试安排以当年官方通知为准；本次研究341–343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B1A617D5-D6F6-4E14-B108-6434060F9889}"/>
              </a:ext>
            </a:extLst>
          </p:cNvPr>
          <p:cNvSpPr>
            <a:spLocks noGrp="1"/>
          </p:cNvSpPr>
          <p:nvPr/>
        </p:nvSpPr>
        <p:spPr>
          <a:xfrm>
            <a:off x="533400" y="4724400"/>
            <a:ext cx="11125200" cy="742950"/>
          </a:xfrm>
          <a:prstGeom prst="roundRect">
            <a:avLst>
              <a:gd name="adj" fmla="val 25641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AF082CE4-B7CC-456F-861E-D28E90F95D91}"/>
              </a:ext>
            </a:extLst>
          </p:cNvPr>
          <p:cNvSpPr>
            <a:spLocks noGrp="1"/>
          </p:cNvSpPr>
          <p:nvPr/>
        </p:nvSpPr>
        <p:spPr>
          <a:xfrm>
            <a:off x="723900" y="493395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E7EDF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高级">
            <a:extLst>
              <a:ext uri="{FF2B5EF4-FFF2-40B4-BE49-F238E27FC236}">
                <a16:creationId xmlns:a16="http://schemas.microsoft.com/office/drawing/2014/main" id="{29DDD654-6E0C-41DC-A140-3CB351E67DF9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914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高级</a:t>
            </a:r>
          </a:p>
        </p:txBody>
      </p:sp>
      <p:sp>
        <p:nvSpPr>
          <p:cNvPr id="27" name="各省组织考试">
            <a:extLst>
              <a:ext uri="{FF2B5EF4-FFF2-40B4-BE49-F238E27FC236}">
                <a16:creationId xmlns:a16="http://schemas.microsoft.com/office/drawing/2014/main" id="{12AC85D6-1A1A-441F-8EEB-58ACB4FD5639}"/>
              </a:ext>
            </a:extLst>
          </p:cNvPr>
          <p:cNvSpPr>
            <a:spLocks noGrp="1"/>
          </p:cNvSpPr>
          <p:nvPr/>
        </p:nvSpPr>
        <p:spPr>
          <a:xfrm>
            <a:off x="1866900" y="4924425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各省组织考试</a:t>
            </a:r>
          </a:p>
        </p:txBody>
      </p:sp>
      <p:sp>
        <p:nvSpPr>
          <p:cNvPr id="28" name="专业代码与要求因省份而异，通常集中在 4–7 月，首期暂不纳入">
            <a:extLst>
              <a:ext uri="{FF2B5EF4-FFF2-40B4-BE49-F238E27FC236}">
                <a16:creationId xmlns:a16="http://schemas.microsoft.com/office/drawing/2014/main" id="{5F5CC258-51E9-4E20-AFCD-B56B60E5660C}"/>
              </a:ext>
            </a:extLst>
          </p:cNvPr>
          <p:cNvSpPr>
            <a:spLocks noGrp="1"/>
          </p:cNvSpPr>
          <p:nvPr/>
        </p:nvSpPr>
        <p:spPr>
          <a:xfrm>
            <a:off x="4229100" y="4924425"/>
            <a:ext cx="7029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专业代码、考试安排与要求存在地区差异，本次暂不纳入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E33C24F8-D8BE-416B-AF7C-838921E83915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本章结论">
            <a:extLst>
              <a:ext uri="{FF2B5EF4-FFF2-40B4-BE49-F238E27FC236}">
                <a16:creationId xmlns:a16="http://schemas.microsoft.com/office/drawing/2014/main" id="{CB8F9250-F957-4FD0-906D-DABD7DAF98ED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1" name="现有用户与职考产品基础降低了触达和接入成本，首期聚焦 341、342、3">
            <a:extLst>
              <a:ext uri="{FF2B5EF4-FFF2-40B4-BE49-F238E27FC236}">
                <a16:creationId xmlns:a16="http://schemas.microsoft.com/office/drawing/2014/main" id="{FEF49A02-0159-4E81-914A-52BF3B2A067E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从已有肿瘤学术用户中寻找备考需求，是本项目的市场进入基础。</a:t>
            </a:r>
          </a:p>
        </p:txBody>
      </p:sp>
    </p:spTree>
    <p:extLst>
      <p:ext uri="{BB962C8B-B14F-4D97-AF65-F5344CB8AC3E}">
        <p14:creationId xmlns:p14="http://schemas.microsoft.com/office/powerpoint/2010/main" val="1517325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>
            <a:extLst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考试类型与专业方向</a:t>
            </a:r>
          </a:p>
        </p:txBody>
      </p:sp>
      <p:sp>
        <p:nvSpPr>
          <p:cNvPr id="2" name="中级职称更适合首期规模化建设">
            <a:extLst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首期聚焦中级市场，高级职称后续评估</a:t>
            </a:r>
          </a:p>
        </p:txBody>
      </p:sp>
      <p:sp>
        <p:nvSpPr>
          <p:cNvPr id="3" name="全国统一考试的标准化程度更高；高级职称需要适配不同省份。">
            <a:extLst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中级考试按全国专业目录组织，适合统一分析；高级职称需按地区进一步拆分。</a:t>
            </a:r>
          </a:p>
        </p:txBody>
      </p:sp>
      <p:sp>
        <p:nvSpPr>
          <p:cNvPr id="4" name="04">
            <a:extLst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04 / 15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中级职称（主治医师）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高级职称（副高／正高）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考试性质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全国统一考试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按地区政策与安排核对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需求场景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取得中级资格的备考需求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晋升高级职称的考试与评审需求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市场分析口径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按专业及年度报名人数分析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按地区、专业及晋升要求拆分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主要差异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同专业成绩两年滚动，包含补考需求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考试与评审要求存在地区差异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本期范围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341、342、343三个专业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本次暂不纳入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中级全国统考更适合首期建设，高级职称因省级差异暂不纳入。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中级专业方向">
            <a:extLst>
              <a:ext uri="{FF2B5EF4-FFF2-40B4-BE49-F238E27FC236}">
                <a16:creationId xmlns:a16="http://schemas.microsoft.com/office/drawing/2014/main" id="{54DDF6B6-6C20-4067-BC7A-A5BF4A558E4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中级专业方向</a:t>
            </a:r>
          </a:p>
        </p:txBody>
      </p:sp>
      <p:sp>
        <p:nvSpPr>
          <p:cNvPr id="2" name="341、342、343 面向不同人群，适合同步上线">
            <a:extLst>
              <a:ext uri="{FF2B5EF4-FFF2-40B4-BE49-F238E27FC236}">
                <a16:creationId xmlns:a16="http://schemas.microsoft.com/office/drawing/2014/main" id="{29136708-264F-4066-9F83-60B79421C50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三个专业对应不同需求，统一纳入市场分析</a:t>
            </a:r>
          </a:p>
        </p:txBody>
      </p:sp>
      <p:sp>
        <p:nvSpPr>
          <p:cNvPr id="3" name="三者均为全国统考专业，本期不再设置单专业优先级。">
            <a:extLst>
              <a:ext uri="{FF2B5EF4-FFF2-40B4-BE49-F238E27FC236}">
                <a16:creationId xmlns:a16="http://schemas.microsoft.com/office/drawing/2014/main" id="{2EC52E06-68F1-4698-96E3-7046A58CE36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从实际报考专业识别市场；以下科室只作潜在用户触达线索。</a:t>
            </a:r>
          </a:p>
        </p:txBody>
      </p:sp>
      <p:sp>
        <p:nvSpPr>
          <p:cNvPr id="4" name="05">
            <a:extLst>
              <a:ext uri="{FF2B5EF4-FFF2-40B4-BE49-F238E27FC236}">
                <a16:creationId xmlns:a16="http://schemas.microsoft.com/office/drawing/2014/main" id="{4938C85E-43C0-4522-AF9A-90F0E52821F2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15DBF7-F8E8-47DE-802A-8693DD108AA9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6F1D6A-5472-465E-8A9F-525E65D3C927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240769C-C252-41F4-8CFF-56D121255288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5 / 12">
            <a:extLst>
              <a:ext uri="{FF2B5EF4-FFF2-40B4-BE49-F238E27FC236}">
                <a16:creationId xmlns:a16="http://schemas.microsoft.com/office/drawing/2014/main" id="{93C1086B-AC35-49F1-AE11-6B68E634082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05 / 15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05635B9-FD99-4026-835F-76C37AC5DFBA}"/>
              </a:ext>
            </a:extLst>
          </p:cNvPr>
          <p:cNvSpPr>
            <a:spLocks noGrp="1"/>
          </p:cNvSpPr>
          <p:nvPr/>
        </p:nvSpPr>
        <p:spPr>
          <a:xfrm>
            <a:off x="5334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341">
            <a:extLst>
              <a:ext uri="{FF2B5EF4-FFF2-40B4-BE49-F238E27FC236}">
                <a16:creationId xmlns:a16="http://schemas.microsoft.com/office/drawing/2014/main" id="{A17D4156-49C3-45E9-AB0F-55CB6401C453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341</a:t>
            </a:r>
          </a:p>
        </p:txBody>
      </p:sp>
      <p:sp>
        <p:nvSpPr>
          <p:cNvPr id="11" name="肿瘤内科学">
            <a:extLst>
              <a:ext uri="{FF2B5EF4-FFF2-40B4-BE49-F238E27FC236}">
                <a16:creationId xmlns:a16="http://schemas.microsoft.com/office/drawing/2014/main" id="{85D6F821-C30C-4163-A85C-570925B21744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肿瘤内科学</a:t>
            </a:r>
          </a:p>
        </p:txBody>
      </p:sp>
      <p:sp>
        <p:nvSpPr>
          <p:cNvPr id="12" name="主要用户">
            <a:extLst>
              <a:ext uri="{FF2B5EF4-FFF2-40B4-BE49-F238E27FC236}">
                <a16:creationId xmlns:a16="http://schemas.microsoft.com/office/drawing/2014/main" id="{7F1FF740-42B7-4D13-8E24-31B2BD02A881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rPr>
              <a:t>潜在触达群体</a:t>
            </a:r>
          </a:p>
        </p:txBody>
      </p:sp>
      <p:sp>
        <p:nvSpPr>
          <p:cNvPr id="13" name="肿瘤科、内科医生">
            <a:extLst>
              <a:ext uri="{FF2B5EF4-FFF2-40B4-BE49-F238E27FC236}">
                <a16:creationId xmlns:a16="http://schemas.microsoft.com/office/drawing/2014/main" id="{89D659A3-191C-4722-BC4F-9EB086738146}"/>
              </a:ext>
            </a:extLst>
          </p:cNvPr>
          <p:cNvSpPr>
            <a:spLocks noGrp="1"/>
          </p:cNvSpPr>
          <p:nvPr/>
        </p:nvSpPr>
        <p:spPr>
          <a:xfrm>
            <a:off x="7429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肿瘤科、内科医生</a:t>
            </a:r>
          </a:p>
        </p:txBody>
      </p:sp>
      <p:sp>
        <p:nvSpPr>
          <p:cNvPr id="14" name="与既有用户结构匹配度较高，是主要需求来源">
            <a:extLst>
              <a:ext uri="{FF2B5EF4-FFF2-40B4-BE49-F238E27FC236}">
                <a16:creationId xmlns:a16="http://schemas.microsoft.com/office/drawing/2014/main" id="{D54A6F3A-A69E-4344-993C-7A7D62416B64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rPr>
              <a:t>现有平台用户可提供线索；实际报考人数和需求占比需盘点。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FC4C68E3-62CB-424D-BDA8-F6863BCF1A24}"/>
              </a:ext>
            </a:extLst>
          </p:cNvPr>
          <p:cNvSpPr>
            <a:spLocks noGrp="1"/>
          </p:cNvSpPr>
          <p:nvPr/>
        </p:nvSpPr>
        <p:spPr>
          <a:xfrm>
            <a:off x="42672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342">
            <a:extLst>
              <a:ext uri="{FF2B5EF4-FFF2-40B4-BE49-F238E27FC236}">
                <a16:creationId xmlns:a16="http://schemas.microsoft.com/office/drawing/2014/main" id="{D6C0367E-6400-4917-9F0C-FAF28EF4F218}"/>
              </a:ext>
            </a:extLst>
          </p:cNvPr>
          <p:cNvSpPr>
            <a:spLocks noGrp="1"/>
          </p:cNvSpPr>
          <p:nvPr/>
        </p:nvSpPr>
        <p:spPr>
          <a:xfrm>
            <a:off x="44767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342</a:t>
            </a:r>
          </a:p>
        </p:txBody>
      </p:sp>
      <p:sp>
        <p:nvSpPr>
          <p:cNvPr id="17" name="肿瘤外科学">
            <a:extLst>
              <a:ext uri="{FF2B5EF4-FFF2-40B4-BE49-F238E27FC236}">
                <a16:creationId xmlns:a16="http://schemas.microsoft.com/office/drawing/2014/main" id="{47667000-1A1E-4B5E-8704-C524EC9B581E}"/>
              </a:ext>
            </a:extLst>
          </p:cNvPr>
          <p:cNvSpPr>
            <a:spLocks noGrp="1"/>
          </p:cNvSpPr>
          <p:nvPr/>
        </p:nvSpPr>
        <p:spPr>
          <a:xfrm>
            <a:off x="44767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肿瘤外科学</a:t>
            </a:r>
          </a:p>
        </p:txBody>
      </p:sp>
      <p:sp>
        <p:nvSpPr>
          <p:cNvPr id="18" name="主要用户">
            <a:extLst>
              <a:ext uri="{FF2B5EF4-FFF2-40B4-BE49-F238E27FC236}">
                <a16:creationId xmlns:a16="http://schemas.microsoft.com/office/drawing/2014/main" id="{F8E79459-F6C7-4C70-89FE-EAB2DCF811FB}"/>
              </a:ext>
            </a:extLst>
          </p:cNvPr>
          <p:cNvSpPr>
            <a:spLocks noGrp="1"/>
          </p:cNvSpPr>
          <p:nvPr/>
        </p:nvSpPr>
        <p:spPr>
          <a:xfrm>
            <a:off x="44767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潜在触达群体</a:t>
            </a:r>
          </a:p>
        </p:txBody>
      </p:sp>
      <p:sp>
        <p:nvSpPr>
          <p:cNvPr id="19" name="肿瘤外科医生">
            <a:extLst>
              <a:ext uri="{FF2B5EF4-FFF2-40B4-BE49-F238E27FC236}">
                <a16:creationId xmlns:a16="http://schemas.microsoft.com/office/drawing/2014/main" id="{F89C9C49-CE64-424D-AD77-C2F24A185E0F}"/>
              </a:ext>
            </a:extLst>
          </p:cNvPr>
          <p:cNvSpPr>
            <a:spLocks noGrp="1"/>
          </p:cNvSpPr>
          <p:nvPr/>
        </p:nvSpPr>
        <p:spPr>
          <a:xfrm>
            <a:off x="44767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肿瘤外科医生</a:t>
            </a:r>
          </a:p>
        </p:txBody>
      </p:sp>
      <p:sp>
        <p:nvSpPr>
          <p:cNvPr id="20" name="器官专科分散，但完整覆盖更利于承接真实需求">
            <a:extLst>
              <a:ext uri="{FF2B5EF4-FFF2-40B4-BE49-F238E27FC236}">
                <a16:creationId xmlns:a16="http://schemas.microsoft.com/office/drawing/2014/main" id="{361167A0-A06D-4EBD-86CE-3304A1BBD058}"/>
              </a:ext>
            </a:extLst>
          </p:cNvPr>
          <p:cNvSpPr>
            <a:spLocks noGrp="1"/>
          </p:cNvSpPr>
          <p:nvPr/>
        </p:nvSpPr>
        <p:spPr>
          <a:xfrm>
            <a:off x="44767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按实际报考代码识别，不能将所有外科医生计入342市场。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5B29C22-81F2-44EF-BDE1-FC378120DFBF}"/>
              </a:ext>
            </a:extLst>
          </p:cNvPr>
          <p:cNvSpPr>
            <a:spLocks noGrp="1"/>
          </p:cNvSpPr>
          <p:nvPr/>
        </p:nvSpPr>
        <p:spPr>
          <a:xfrm>
            <a:off x="80010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343">
            <a:extLst>
              <a:ext uri="{FF2B5EF4-FFF2-40B4-BE49-F238E27FC236}">
                <a16:creationId xmlns:a16="http://schemas.microsoft.com/office/drawing/2014/main" id="{86F40B49-8983-4343-BF63-7564539F1751}"/>
              </a:ext>
            </a:extLst>
          </p:cNvPr>
          <p:cNvSpPr>
            <a:spLocks noGrp="1"/>
          </p:cNvSpPr>
          <p:nvPr/>
        </p:nvSpPr>
        <p:spPr>
          <a:xfrm>
            <a:off x="82105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343</a:t>
            </a:r>
          </a:p>
        </p:txBody>
      </p:sp>
      <p:sp>
        <p:nvSpPr>
          <p:cNvPr id="23" name="肿瘤放射治疗学">
            <a:extLst>
              <a:ext uri="{FF2B5EF4-FFF2-40B4-BE49-F238E27FC236}">
                <a16:creationId xmlns:a16="http://schemas.microsoft.com/office/drawing/2014/main" id="{249614C3-16B5-434D-80F0-DC06E28E3268}"/>
              </a:ext>
            </a:extLst>
          </p:cNvPr>
          <p:cNvSpPr>
            <a:spLocks noGrp="1"/>
          </p:cNvSpPr>
          <p:nvPr/>
        </p:nvSpPr>
        <p:spPr>
          <a:xfrm>
            <a:off x="82105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肿瘤放射治疗学</a:t>
            </a:r>
          </a:p>
        </p:txBody>
      </p:sp>
      <p:sp>
        <p:nvSpPr>
          <p:cNvPr id="24" name="主要用户">
            <a:extLst>
              <a:ext uri="{FF2B5EF4-FFF2-40B4-BE49-F238E27FC236}">
                <a16:creationId xmlns:a16="http://schemas.microsoft.com/office/drawing/2014/main" id="{7EFB15BC-D31C-403D-9A04-09700F0032E5}"/>
              </a:ext>
            </a:extLst>
          </p:cNvPr>
          <p:cNvSpPr>
            <a:spLocks noGrp="1"/>
          </p:cNvSpPr>
          <p:nvPr/>
        </p:nvSpPr>
        <p:spPr>
          <a:xfrm>
            <a:off x="82105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潜在触达群体</a:t>
            </a:r>
          </a:p>
        </p:txBody>
      </p:sp>
      <p:sp>
        <p:nvSpPr>
          <p:cNvPr id="25" name="放疗医生">
            <a:extLst>
              <a:ext uri="{FF2B5EF4-FFF2-40B4-BE49-F238E27FC236}">
                <a16:creationId xmlns:a16="http://schemas.microsoft.com/office/drawing/2014/main" id="{1B9F0978-7684-476B-B62E-2D997B013319}"/>
              </a:ext>
            </a:extLst>
          </p:cNvPr>
          <p:cNvSpPr>
            <a:spLocks noGrp="1"/>
          </p:cNvSpPr>
          <p:nvPr/>
        </p:nvSpPr>
        <p:spPr>
          <a:xfrm>
            <a:off x="82105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放疗医生</a:t>
            </a:r>
          </a:p>
        </p:txBody>
      </p:sp>
      <p:sp>
        <p:nvSpPr>
          <p:cNvPr id="26" name="用户群体较明确，可复用部分基础知识与产品能力">
            <a:extLst>
              <a:ext uri="{FF2B5EF4-FFF2-40B4-BE49-F238E27FC236}">
                <a16:creationId xmlns:a16="http://schemas.microsoft.com/office/drawing/2014/main" id="{4741E8C2-67C5-4715-9D77-9A535FE2CD4C}"/>
              </a:ext>
            </a:extLst>
          </p:cNvPr>
          <p:cNvSpPr>
            <a:spLocks noGrp="1"/>
          </p:cNvSpPr>
          <p:nvPr/>
        </p:nvSpPr>
        <p:spPr>
          <a:xfrm>
            <a:off x="82105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通过放疗相关用户渠道触达，按报考年度识别当期需求。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2EBD2F2D-15C2-429F-8009-41CBF5F78909}"/>
              </a:ext>
            </a:extLst>
          </p:cNvPr>
          <p:cNvSpPr>
            <a:spLocks noGrp="1"/>
          </p:cNvSpPr>
          <p:nvPr/>
        </p:nvSpPr>
        <p:spPr>
          <a:xfrm>
            <a:off x="533400" y="539115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本章结论">
            <a:extLst>
              <a:ext uri="{FF2B5EF4-FFF2-40B4-BE49-F238E27FC236}">
                <a16:creationId xmlns:a16="http://schemas.microsoft.com/office/drawing/2014/main" id="{7530977A-4857-4EEA-8D5A-76F41EFCA8A7}"/>
              </a:ext>
            </a:extLst>
          </p:cNvPr>
          <p:cNvSpPr>
            <a:spLocks noGrp="1"/>
          </p:cNvSpPr>
          <p:nvPr/>
        </p:nvSpPr>
        <p:spPr>
          <a:xfrm>
            <a:off x="704850" y="55435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9" name="341、342、343 面向不同医生群体，可复用产品框架，建议同步上线。">
            <a:extLst>
              <a:ext uri="{FF2B5EF4-FFF2-40B4-BE49-F238E27FC236}">
                <a16:creationId xmlns:a16="http://schemas.microsoft.com/office/drawing/2014/main" id="{E6C5082D-F2B7-4F64-A120-46C79B5B3C98}"/>
              </a:ext>
            </a:extLst>
          </p:cNvPr>
          <p:cNvSpPr>
            <a:spLocks noGrp="1"/>
          </p:cNvSpPr>
          <p:nvPr/>
        </p:nvSpPr>
        <p:spPr>
          <a:xfrm>
            <a:off x="2133600" y="551497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三个专业共同构成研究范围；医生所属科室不能直接等同报考专业。</a:t>
            </a:r>
          </a:p>
        </p:txBody>
      </p:sp>
    </p:spTree>
    <p:extLst>
      <p:ext uri="{BB962C8B-B14F-4D97-AF65-F5344CB8AC3E}">
        <p14:creationId xmlns:p14="http://schemas.microsoft.com/office/powerpoint/2010/main" val="1422171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中级考试结构">
            <a:extLst>
              <a:ext uri="{FF2B5EF4-FFF2-40B4-BE49-F238E27FC236}">
                <a16:creationId xmlns:a16="http://schemas.microsoft.com/office/drawing/2014/main" id="{AC8F32C9-F18A-4E28-AC3F-76F1BF512ED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中级考试结构</a:t>
            </a:r>
          </a:p>
        </p:txBody>
      </p:sp>
      <p:sp>
        <p:nvSpPr>
          <p:cNvPr id="2" name="四个考试科目决定题库结构，案例题规则决定产品准确性">
            <a:extLst>
              <a:ext uri="{FF2B5EF4-FFF2-40B4-BE49-F238E27FC236}">
                <a16:creationId xmlns:a16="http://schemas.microsoft.com/office/drawing/2014/main" id="{A7B841EF-AA67-4502-9F59-D50408FDA59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四科考试形成分科备考与跨年补考需求</a:t>
            </a:r>
          </a:p>
        </p:txBody>
      </p:sp>
      <p:sp>
        <p:nvSpPr>
          <p:cNvPr id="3" name="适用于 341、342、343 等全国统一组织的中级职称考试。">
            <a:extLst>
              <a:ext uri="{FF2B5EF4-FFF2-40B4-BE49-F238E27FC236}">
                <a16:creationId xmlns:a16="http://schemas.microsoft.com/office/drawing/2014/main" id="{53BAB61A-BE68-4A0F-A75E-F5BCB91FD330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四科及考试时间按已收集官方资料；题型按用户提供截图列作参考，适用年度与专业范围待核实。</a:t>
            </a:r>
          </a:p>
        </p:txBody>
      </p:sp>
      <p:sp>
        <p:nvSpPr>
          <p:cNvPr id="4" name="06">
            <a:extLst>
              <a:ext uri="{FF2B5EF4-FFF2-40B4-BE49-F238E27FC236}">
                <a16:creationId xmlns:a16="http://schemas.microsoft.com/office/drawing/2014/main" id="{56BAF788-0B5A-420D-9386-95C1E2DE1E8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AF9DA1-C8E8-4423-AC0A-B9483CCB1983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AECA09-0004-4ADD-BDBF-F57A3FE6D6B0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213E7CF-8E60-4587-97C3-B9241A70FC7E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6 / 12">
            <a:extLst>
              <a:ext uri="{FF2B5EF4-FFF2-40B4-BE49-F238E27FC236}">
                <a16:creationId xmlns:a16="http://schemas.microsoft.com/office/drawing/2014/main" id="{3C0DDA9C-0B52-4DF8-8D0D-340F9C4166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06 / 15</a:t>
            </a:r>
          </a:p>
        </p:txBody>
      </p:sp>
      <p:graphicFrame>
        <p:nvGraphicFramePr>
          <p:cNvPr id="28" name="表格 27"/>
          <p:cNvGraphicFramePr/>
          <p:nvPr>
            <p:extLst>
              <p:ext uri="{D42A27DB-BD31-4B8C-83A1-F6EECF244321}">
                <p14:modId xmlns:p14="http://schemas.microsoft.com/office/powerpoint/2010/main" val="3751973820"/>
              </p:ext>
            </p:extLst>
          </p:nvPr>
        </p:nvGraphicFramePr>
        <p:xfrm>
          <a:off x="533400" y="1752600"/>
          <a:ext cx="11125200" cy="28956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试卷关系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题型参考（用户提供资料）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）、共用备选答案单选题（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）、共用备选答案单选题（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按专业组织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）、共用题干单选题（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按专业组织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题量不固定  </a:t>
                      </a: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案例分析题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产品必须准确适配">
            <a:extLst>
              <a:ext uri="{FF2B5EF4-FFF2-40B4-BE49-F238E27FC236}">
                <a16:creationId xmlns:a16="http://schemas.microsoft.com/office/drawing/2014/main" id="{FD3CD28A-81A6-4EB9-B8AA-5B9E6DAC66AA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需求分析关注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EB607DE-A7B2-4B11-B4CB-C860943239F6}"/>
              </a:ext>
            </a:extLst>
          </p:cNvPr>
          <p:cNvSpPr>
            <a:spLocks noGrp="1"/>
          </p:cNvSpPr>
          <p:nvPr/>
        </p:nvSpPr>
        <p:spPr>
          <a:xfrm>
            <a:off x="31432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案例分析题选错扣分">
            <a:extLst>
              <a:ext uri="{FF2B5EF4-FFF2-40B4-BE49-F238E27FC236}">
                <a16:creationId xmlns:a16="http://schemas.microsoft.com/office/drawing/2014/main" id="{BFE24780-3E37-4A0F-AE67-7B7E2F47B4DD}"/>
              </a:ext>
            </a:extLst>
          </p:cNvPr>
          <p:cNvSpPr>
            <a:spLocks noGrp="1"/>
          </p:cNvSpPr>
          <p:nvPr/>
        </p:nvSpPr>
        <p:spPr>
          <a:xfrm>
            <a:off x="31432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四科分别备考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2D0A369-5519-44DD-95AC-610CE50469BE}"/>
              </a:ext>
            </a:extLst>
          </p:cNvPr>
          <p:cNvSpPr>
            <a:spLocks noGrp="1"/>
          </p:cNvSpPr>
          <p:nvPr/>
        </p:nvSpPr>
        <p:spPr>
          <a:xfrm>
            <a:off x="58864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单向作答，不可回退">
            <a:extLst>
              <a:ext uri="{FF2B5EF4-FFF2-40B4-BE49-F238E27FC236}">
                <a16:creationId xmlns:a16="http://schemas.microsoft.com/office/drawing/2014/main" id="{B247E62C-EF04-46B8-9683-C64516E0DEDB}"/>
              </a:ext>
            </a:extLst>
          </p:cNvPr>
          <p:cNvSpPr>
            <a:spLocks noGrp="1"/>
          </p:cNvSpPr>
          <p:nvPr/>
        </p:nvSpPr>
        <p:spPr>
          <a:xfrm>
            <a:off x="58864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补考科目需求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831E238-BFB3-4D91-9098-B5B33A9AC59D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四科成绩两年滚动">
            <a:extLst>
              <a:ext uri="{FF2B5EF4-FFF2-40B4-BE49-F238E27FC236}">
                <a16:creationId xmlns:a16="http://schemas.microsoft.com/office/drawing/2014/main" id="{FEC089A2-98A5-41BE-96E1-8E266C5A56E2}"/>
              </a:ext>
            </a:extLst>
          </p:cNvPr>
          <p:cNvSpPr>
            <a:spLocks noGrp="1"/>
          </p:cNvSpPr>
          <p:nvPr/>
        </p:nvSpPr>
        <p:spPr>
          <a:xfrm>
            <a:off x="86296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同专业两年滚动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F78D1C2-5A9F-494D-8E56-61D92B397819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本章结论">
            <a:extLst>
              <a:ext uri="{FF2B5EF4-FFF2-40B4-BE49-F238E27FC236}">
                <a16:creationId xmlns:a16="http://schemas.microsoft.com/office/drawing/2014/main" id="{913F418F-19A8-4651-BD05-A059309D6451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9" name="三专业都要覆盖四科并适配考试规则，首期重点是题库、题型与解析准确。">
            <a:extLst>
              <a:ext uri="{FF2B5EF4-FFF2-40B4-BE49-F238E27FC236}">
                <a16:creationId xmlns:a16="http://schemas.microsoft.com/office/drawing/2014/main" id="{0054385D-0F92-4822-8BF1-48E0BE973442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备考需求应区分首次报考与补考，不将全部用户视为四科全套购买者。</a:t>
            </a:r>
          </a:p>
        </p:txBody>
      </p:sp>
    </p:spTree>
    <p:extLst>
      <p:ext uri="{BB962C8B-B14F-4D97-AF65-F5344CB8AC3E}">
        <p14:creationId xmlns:p14="http://schemas.microsoft.com/office/powerpoint/2010/main" val="1094101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>
            <a:extLst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备考需求｜病例分析</a:t>
            </a:r>
          </a:p>
        </p:txBody>
      </p:sp>
      <p:sp>
        <p:nvSpPr>
          <p:cNvPr id="2" name="差异化应集中在专科内容、可信解析与持续更新">
            <a:extLst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病例分析侧重临床判断，备考需要理解与应用</a:t>
            </a:r>
          </a:p>
        </p:txBody>
      </p:sp>
      <p:sp>
        <p:nvSpPr>
          <p:cNvPr id="3" name="复杂功能不能替代肿瘤专业内容质量。">
            <a:extLst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人卫题型说明强调病情分析、判断与处理；结合所提供肿瘤学大纲及调研线索，归纳以下备考需求。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07 / 15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需要完成的判断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病例中的信息与易混点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对应的备考需求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综合分析病例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结合病史、影像与病理报告，判断诊断及分期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学习如何提取线索、串联检查结果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辨别治疗方案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结合分期、分型与既往治疗，辨别方案适用条件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理解治疗顺序及方案差异，如一线／后线选择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识别并发症与不良反应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结合症状、检查与用药史，区分可能原因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掌握鉴别依据与处理原则，梳理易错点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排除相似选项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选项看似都合理，但适用条件可能不同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理解为何选、为何不选，避免只记答案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内容可信">
            <a:extLst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资料说明</a:t>
            </a:r>
          </a:p>
        </p:txBody>
      </p:sp>
      <p:sp>
        <p:nvSpPr>
          <p:cNvPr id="12" name="每道题都要有可核验的考纲与解析依据">
            <a:extLst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noGrp="1"/>
          </p:cNvSpPr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dirty="0" err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病例题占比及真实病例来源尚无可靠依据；相似选项难点来自机构调研线索。</a:t>
            </a:r>
            <a:endParaRPr sz="15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本章结论">
            <a:extLst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市场需求线索：除知识记忆外，考生还需要病例分析、方案辨别和易错点讲解。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竞品分析">
            <a:extLst>
              <a:ext uri="{FF2B5EF4-FFF2-40B4-BE49-F238E27FC236}">
                <a16:creationId xmlns:a16="http://schemas.microsoft.com/office/drawing/2014/main" id="{129A57BA-87EB-4F40-85A8-C975A6DE4CE4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竞品分析</a:t>
            </a:r>
          </a:p>
        </p:txBody>
      </p:sp>
      <p:sp>
        <p:nvSpPr>
          <p:cNvPr id="2" name="市场供给分为四类，五家重点对象构成直接竞争">
            <a:extLst>
              <a:ext uri="{FF2B5EF4-FFF2-40B4-BE49-F238E27FC236}">
                <a16:creationId xmlns:a16="http://schemas.microsoft.com/office/drawing/2014/main" id="{650B2B35-1E74-4D8F-8ECF-144BF38EB3C6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竞品覆盖图书、题库与培训，需比较具体商品</a:t>
            </a:r>
          </a:p>
        </p:txBody>
      </p:sp>
      <p:sp>
        <p:nvSpPr>
          <p:cNvPr id="3" name="不同产品形态覆盖从传统权威题集到移动端题库与会员社区。">
            <a:extLst>
              <a:ext uri="{FF2B5EF4-FFF2-40B4-BE49-F238E27FC236}">
                <a16:creationId xmlns:a16="http://schemas.microsoft.com/office/drawing/2014/main" id="{0406A92C-770F-402A-B75D-6E40C7550662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按考生购买的内容与服务比较供给；专业覆盖和功能以商品页及实际体验为准。</a:t>
            </a:r>
          </a:p>
        </p:txBody>
      </p:sp>
      <p:sp>
        <p:nvSpPr>
          <p:cNvPr id="4" name="07">
            <a:extLst>
              <a:ext uri="{FF2B5EF4-FFF2-40B4-BE49-F238E27FC236}">
                <a16:creationId xmlns:a16="http://schemas.microsoft.com/office/drawing/2014/main" id="{FD5C8C1C-316F-4D43-BE4D-EB3942FF0BA4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277D41-4BB5-4482-ACFA-15918AD340A2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F8F1C1-8F83-4154-B9A6-5059D067CCF4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61F0064-945D-410A-A84B-D8868FA542B0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7 / 12">
            <a:extLst>
              <a:ext uri="{FF2B5EF4-FFF2-40B4-BE49-F238E27FC236}">
                <a16:creationId xmlns:a16="http://schemas.microsoft.com/office/drawing/2014/main" id="{ACBC2C74-AE84-43C9-BE5E-091EEE883E6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08 / 15</a:t>
            </a:r>
          </a:p>
        </p:txBody>
      </p:sp>
      <p:graphicFrame>
        <p:nvGraphicFramePr>
          <p:cNvPr id="32" name="表格 31"/>
          <p:cNvGraphicFramePr/>
          <p:nvPr/>
        </p:nvGraphicFramePr>
        <p:xfrm>
          <a:off x="533400" y="1752600"/>
          <a:ext cx="11125200" cy="2876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产品形态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调研对象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主要购买价值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教材与习题集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人卫等正式出版物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系统复习与自测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版本、考纲对应与解析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在线题库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阿虎、考试宝典等相关商品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移动刷题与练习反馈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专业覆盖、解析与有效期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课程及题库套餐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机构肿瘤职称相关套餐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讲解课程与备考服务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课程内容、答疑和套餐权益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会员及社区服务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医考帮等相关商品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内容访问与交流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适用专业、权限及付费周期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五家直接竞品">
            <a:extLst>
              <a:ext uri="{FF2B5EF4-FFF2-40B4-BE49-F238E27FC236}">
                <a16:creationId xmlns:a16="http://schemas.microsoft.com/office/drawing/2014/main" id="{A8F4D703-03C8-482D-964D-3B7EA71FC593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1809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重点调研对象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53A55CB-25CD-466B-A71C-4E43CB4AF5A9}"/>
              </a:ext>
            </a:extLst>
          </p:cNvPr>
          <p:cNvSpPr>
            <a:spLocks noGrp="1"/>
          </p:cNvSpPr>
          <p:nvPr/>
        </p:nvSpPr>
        <p:spPr>
          <a:xfrm>
            <a:off x="24193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阿虎医考">
            <a:extLst>
              <a:ext uri="{FF2B5EF4-FFF2-40B4-BE49-F238E27FC236}">
                <a16:creationId xmlns:a16="http://schemas.microsoft.com/office/drawing/2014/main" id="{2C959D8C-A6E1-4FFB-9E8F-DF7DCD19CF0E}"/>
              </a:ext>
            </a:extLst>
          </p:cNvPr>
          <p:cNvSpPr>
            <a:spLocks noGrp="1"/>
          </p:cNvSpPr>
          <p:nvPr/>
        </p:nvSpPr>
        <p:spPr>
          <a:xfrm>
            <a:off x="24193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阿虎医考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BACF073-F54D-49C4-84C6-35D673AD09C1}"/>
              </a:ext>
            </a:extLst>
          </p:cNvPr>
          <p:cNvSpPr>
            <a:spLocks noGrp="1"/>
          </p:cNvSpPr>
          <p:nvPr/>
        </p:nvSpPr>
        <p:spPr>
          <a:xfrm>
            <a:off x="420052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考试宝典">
            <a:extLst>
              <a:ext uri="{FF2B5EF4-FFF2-40B4-BE49-F238E27FC236}">
                <a16:creationId xmlns:a16="http://schemas.microsoft.com/office/drawing/2014/main" id="{A7CEE3D8-3757-421E-BFDF-F4870B58D32B}"/>
              </a:ext>
            </a:extLst>
          </p:cNvPr>
          <p:cNvSpPr>
            <a:spLocks noGrp="1"/>
          </p:cNvSpPr>
          <p:nvPr/>
        </p:nvSpPr>
        <p:spPr>
          <a:xfrm>
            <a:off x="420052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考试宝典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6A58742C-B265-4D32-ACE8-CA4FCAF6E99B}"/>
              </a:ext>
            </a:extLst>
          </p:cNvPr>
          <p:cNvSpPr>
            <a:spLocks noGrp="1"/>
          </p:cNvSpPr>
          <p:nvPr/>
        </p:nvSpPr>
        <p:spPr>
          <a:xfrm>
            <a:off x="598170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肿瘤学圣题库">
            <a:extLst>
              <a:ext uri="{FF2B5EF4-FFF2-40B4-BE49-F238E27FC236}">
                <a16:creationId xmlns:a16="http://schemas.microsoft.com/office/drawing/2014/main" id="{096858BA-59EC-4064-B52C-0CD29FB0A5CC}"/>
              </a:ext>
            </a:extLst>
          </p:cNvPr>
          <p:cNvSpPr>
            <a:spLocks noGrp="1"/>
          </p:cNvSpPr>
          <p:nvPr/>
        </p:nvSpPr>
        <p:spPr>
          <a:xfrm>
            <a:off x="598170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圣才／圣题库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7F8637EC-5C06-420E-A36D-B20992544F75}"/>
              </a:ext>
            </a:extLst>
          </p:cNvPr>
          <p:cNvSpPr>
            <a:spLocks noGrp="1"/>
          </p:cNvSpPr>
          <p:nvPr/>
        </p:nvSpPr>
        <p:spPr>
          <a:xfrm>
            <a:off x="776287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蓝基因">
            <a:extLst>
              <a:ext uri="{FF2B5EF4-FFF2-40B4-BE49-F238E27FC236}">
                <a16:creationId xmlns:a16="http://schemas.microsoft.com/office/drawing/2014/main" id="{6C87C19D-251F-4AFD-8A14-2F45A8FD5A79}"/>
              </a:ext>
            </a:extLst>
          </p:cNvPr>
          <p:cNvSpPr>
            <a:spLocks noGrp="1"/>
          </p:cNvSpPr>
          <p:nvPr/>
        </p:nvSpPr>
        <p:spPr>
          <a:xfrm>
            <a:off x="776287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蓝基因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489DE2C-0BD2-4482-B961-18EADA9F0F34}"/>
              </a:ext>
            </a:extLst>
          </p:cNvPr>
          <p:cNvSpPr>
            <a:spLocks noGrp="1"/>
          </p:cNvSpPr>
          <p:nvPr/>
        </p:nvSpPr>
        <p:spPr>
          <a:xfrm>
            <a:off x="95440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医考帮">
            <a:extLst>
              <a:ext uri="{FF2B5EF4-FFF2-40B4-BE49-F238E27FC236}">
                <a16:creationId xmlns:a16="http://schemas.microsoft.com/office/drawing/2014/main" id="{DD659093-383D-4D44-AD50-559FD39E791F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医考帮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F58A219-479B-482D-B95F-59032D7DC76F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本章结论">
            <a:extLst>
              <a:ext uri="{FF2B5EF4-FFF2-40B4-BE49-F238E27FC236}">
                <a16:creationId xmlns:a16="http://schemas.microsoft.com/office/drawing/2014/main" id="{6479907B-2FBE-4098-8BA0-00336FFB264D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3" name="五家均为直接竞品，市场已有成熟链路、合并题库、低价单题库和会员制。">
            <a:extLst>
              <a:ext uri="{FF2B5EF4-FFF2-40B4-BE49-F238E27FC236}">
                <a16:creationId xmlns:a16="http://schemas.microsoft.com/office/drawing/2014/main" id="{BAB7DFA5-2B18-42E4-9BA3-D9EDA3504B0F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竞争分析要落到专业覆盖、题目解析、服务和价格，不能仅凭品牌判断。</a:t>
            </a:r>
          </a:p>
        </p:txBody>
      </p:sp>
    </p:spTree>
    <p:extLst>
      <p:ext uri="{BB962C8B-B14F-4D97-AF65-F5344CB8AC3E}">
        <p14:creationId xmlns:p14="http://schemas.microsoft.com/office/powerpoint/2010/main" val="1172209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竞品横向对比">
            <a:extLst>
              <a:ext uri="{FF2B5EF4-FFF2-40B4-BE49-F238E27FC236}">
                <a16:creationId xmlns:a16="http://schemas.microsoft.com/office/drawing/2014/main" id="{F7C0092D-40E8-4F96-B4E4-0A8BC09026C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竞品横向对比</a:t>
            </a:r>
          </a:p>
        </p:txBody>
      </p:sp>
      <p:sp>
        <p:nvSpPr>
          <p:cNvPr id="2" name="竞品价格与产品模式已形成清晰锚点">
            <a:extLst>
              <a:ext uri="{FF2B5EF4-FFF2-40B4-BE49-F238E27FC236}">
                <a16:creationId xmlns:a16="http://schemas.microsoft.com/office/drawing/2014/main" id="{01F89279-665C-4C11-9F24-0DB65CDFA0D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竞品价格须与专业、权益和有效期一起比较</a:t>
            </a:r>
          </a:p>
        </p:txBody>
      </p:sp>
      <p:sp>
        <p:nvSpPr>
          <p:cNvPr id="3" name="公开价格样本用于理解购买门槛，不代表长期售价或完整权益完全可比。">
            <a:extLst>
              <a:ext uri="{FF2B5EF4-FFF2-40B4-BE49-F238E27FC236}">
                <a16:creationId xmlns:a16="http://schemas.microsoft.com/office/drawing/2014/main" id="{AE81A8E3-2999-4074-830B-575F000CCB5E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1275" dirty="0">
                <a:solidFill>
                  <a:srgbClr val="6F84A0"/>
                </a:solidFill>
                <a:latin typeface="Microsoft YaHei"/>
              </a:rPr>
              <a:t>公开价格样本用于理解购买门槛，不代表长期售价或完整权益完全可比。</a:t>
            </a:r>
          </a:p>
        </p:txBody>
      </p:sp>
      <p:sp>
        <p:nvSpPr>
          <p:cNvPr id="4" name="08">
            <a:extLst>
              <a:ext uri="{FF2B5EF4-FFF2-40B4-BE49-F238E27FC236}">
                <a16:creationId xmlns:a16="http://schemas.microsoft.com/office/drawing/2014/main" id="{DBF95B45-38A9-4406-8233-8D364CE6374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2B2FA7-CF81-4A0F-9F6F-FC48F1B1B17C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E2CD4E-96A4-4706-AE8D-3421F82817C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1535925-55CB-4854-B966-6B2902EAC36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8 / 12">
            <a:extLst>
              <a:ext uri="{FF2B5EF4-FFF2-40B4-BE49-F238E27FC236}">
                <a16:creationId xmlns:a16="http://schemas.microsoft.com/office/drawing/2014/main" id="{878C7DDC-9D22-45ED-9771-CAAD96B71B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09 / 15</a:t>
            </a:r>
          </a:p>
        </p:txBody>
      </p:sp>
      <p:graphicFrame>
        <p:nvGraphicFramePr>
          <p:cNvPr id="21" name="表格 20"/>
          <p:cNvGraphicFramePr/>
          <p:nvPr>
            <p:extLst>
              <p:ext uri="{D42A27DB-BD31-4B8C-83A1-F6EECF244321}">
                <p14:modId xmlns:p14="http://schemas.microsoft.com/office/powerpoint/2010/main" val="2271942251"/>
              </p:ext>
            </p:extLst>
          </p:nvPr>
        </p:nvGraphicFramePr>
        <p:xfrm>
          <a:off x="533400" y="1695450"/>
          <a:ext cx="11125200" cy="384810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调研商品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价格依据</a:t>
                      </a:r>
                      <a:endParaRPr sz="12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b="1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核心优势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对良医汇的启示</a:t>
                      </a:r>
                      <a:endParaRPr sz="12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肿瘤题库与课程</a:t>
                      </a:r>
                      <a:endParaRPr sz="120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肿瘤内科、外科题库均 ¥160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全专业覆盖，学习链路完整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竞争肿瘤专业深度、可信解析与既有用户触达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考试宝典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341／342／343相关商品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341 / 342 / 343 合并题库 ¥168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覆盖广、合并销售、多终端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在解析质量与更新速度上建立差异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圣才／圣题库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341 ¥58；342 ¥68；343 ¥58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低价、单科购买、决策简单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低价下限已形成，溢价要由内容与 AI 证明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蓝基因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肿瘤中级相关商品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肿瘤中级相关题库 ¥58 / 套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低价，基础刷题与错题完整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首期定价和基础体验的重点对标对象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医考帮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题库及会员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统一会员制，非单题库购买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题库广、评论统计与社区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首期不宜强制采用全站会员模式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03D54830-11BE-4CE1-ABF1-CA8A87FD5883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C5D727C6-56C7-4440-8917-4BA2B00C0D19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  <a:endParaRPr sz="15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首期优先单题库或三专业组合包，降低购买门槛，不强制全站会员。">
            <a:extLst>
              <a:ext uri="{FF2B5EF4-FFF2-40B4-BE49-F238E27FC236}">
                <a16:creationId xmlns:a16="http://schemas.microsoft.com/office/drawing/2014/main" id="{4789B8D0-830E-433A-8BA7-B858585EB97D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首期优先单题库或三专业组合包，降低购买门槛，不强制全站会员。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9888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>
            <a:extLst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我们的竞争优势｜CSCO指南</a:t>
            </a:r>
          </a:p>
        </p:txBody>
      </p:sp>
      <p:sp>
        <p:nvSpPr>
          <p:cNvPr id="2" name="差异化应集中在专科内容、可信解析与持续更新">
            <a:extLst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CSCO指南：专业内容与持续解读形成竞争基础</a:t>
            </a:r>
          </a:p>
        </p:txBody>
      </p:sp>
      <p:sp>
        <p:nvSpPr>
          <p:cNvPr id="3" name="复杂功能不能替代肿瘤专业内容质量。">
            <a:extLst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肿瘤医生APP参与指南学习传播，平台持续发布专家解读；可向有备考需求的用户延伸内容价值。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10 / 15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优势维度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可核实的基础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对市场进入的意义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内容可信度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CSCO指南资源及专家解读内容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为专业内容服务提供信任基础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持续内容供给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指南学习班直播与新版解读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支持长期内容运营与用户关注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专业相关性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围绕肿瘤诊疗问题组织内容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与肿瘤职称备考人群的学习主题相邻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差异化机会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已有内容积累可服务备考场景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能否产生付费溢价需用户验证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内容可信">
            <a:extLst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判断边界</a:t>
            </a:r>
          </a:p>
        </p:txBody>
      </p:sp>
      <p:sp>
        <p:nvSpPr>
          <p:cNvPr id="12" name="每道题都要有可核验的考纲与解析依据">
            <a:extLst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noGrp="1"/>
          </p:cNvSpPr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已有资源支持进入机会，不等于竞品均无此资源或付费效果已经成立</a:t>
            </a:r>
            <a:endParaRPr sz="15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本章结论">
            <a:extLst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市场机会：把肿瘤专业内容积累转为备考购买理由，而非仅以低价竞争。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>
            <a:extLst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我们的竞争优势｜大查房</a:t>
            </a:r>
          </a:p>
        </p:txBody>
      </p:sp>
      <p:sp>
        <p:nvSpPr>
          <p:cNvPr id="2" name="差异化应集中在专科内容、可信解析与持续更新">
            <a:extLst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大查房：医院合作与病例内容形成专科特色</a:t>
            </a:r>
          </a:p>
        </p:txBody>
      </p:sp>
      <p:sp>
        <p:nvSpPr>
          <p:cNvPr id="3" name="复杂功能不能替代肿瘤专业内容质量。">
            <a:extLst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平台已积累医院大查房、诊疗讨论及病例解析内容，可承接重视临床理解的备考需求。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11 / 15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优势维度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可核实的基础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对市场进入的意义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医院合作积累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中肿、医肿等公开大查房专栏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提供长期专科内容合作基础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病例内容深度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诊疗经验分享与具体病例解析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具备服务病例理解类需求的内容条件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既有题目资产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本地大查房已有结构化题目样本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内容转化有起点，适配成本仍需评估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差异化机会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诊疗讨论与备考需求存在交集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需验证考生是否愿为这类内容付费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内容可信">
            <a:extLst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判断边界</a:t>
            </a:r>
          </a:p>
        </p:txBody>
      </p:sp>
      <p:sp>
        <p:nvSpPr>
          <p:cNvPr id="12" name="每道题都要有可核验的考纲与解析依据">
            <a:extLst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noGrp="1"/>
          </p:cNvSpPr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已有资源支持进入机会，不等于竞品均无此资源或付费效果已经成立</a:t>
            </a:r>
            <a:endParaRPr sz="15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本章结论">
            <a:extLst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市场机会：以病例内容的深度吸引目标考生，验证其与常规题库的价值差异。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>
            <a:extLst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竞争机会</a:t>
            </a:r>
          </a:p>
        </p:txBody>
      </p:sp>
      <p:sp>
        <p:nvSpPr>
          <p:cNvPr id="2" name="差异化应集中在专科内容、可信解析与持续更新">
            <a:extLst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竞争机会在肿瘤专业内容，付费价值仍需验证</a:t>
            </a:r>
          </a:p>
        </p:txBody>
      </p:sp>
      <p:sp>
        <p:nvSpPr>
          <p:cNvPr id="3" name="复杂功能不能替代肿瘤专业内容质量。">
            <a:extLst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以考生的备考需求为中心，判断我们的内容积累能否形成购买理由。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12 / 15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竞争维度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我们的进入基础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需要验证的商业问题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专业内容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CSCO指南与大查房积累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考生是否重视专科内容与依据解释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用户触达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肿瘤医生APP现有用户渠道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其中有多少当期考生，可触达多少人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收费模式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题库、套餐等市场供给可比较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单科、组合或其他方式的付费意愿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成本与收益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可利用已有内容和业务基础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获客、内容维护与服务成本能否覆盖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内容可信">
            <a:extLst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研究重点</a:t>
            </a:r>
          </a:p>
        </p:txBody>
      </p:sp>
      <p:sp>
        <p:nvSpPr>
          <p:cNvPr id="12" name="每道题都要有可核验的考纲与解析依据">
            <a:extLst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noGrp="1"/>
          </p:cNvSpPr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考生愿意为什么内容付费，以及现有产品哪里不能满足需求</a:t>
            </a:r>
            <a:endParaRPr sz="15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本章结论">
            <a:extLst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验证内容优势能否形成购买理由，再决定价格与投入规模。</a:t>
            </a:r>
          </a:p>
        </p:txBody>
      </p:sp>
    </p:spTree>
    <p:extLst>
      <p:ext uri="{BB962C8B-B14F-4D97-AF65-F5344CB8AC3E}">
        <p14:creationId xmlns:p14="http://schemas.microsoft.com/office/powerpoint/2010/main" val="465197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市场规模">
            <a:extLst>
              <a:ext uri="{FF2B5EF4-FFF2-40B4-BE49-F238E27FC236}">
                <a16:creationId xmlns:a16="http://schemas.microsoft.com/office/drawing/2014/main" id="{E7C70AD0-BBB4-43CB-81E8-BF7EDFEF9422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市场规模</a:t>
            </a:r>
          </a:p>
        </p:txBody>
      </p:sp>
      <p:sp>
        <p:nvSpPr>
          <p:cNvPr id="2" name="市场规模需要区分官方数据、同口径推算与内部情景">
            <a:extLst>
              <a:ext uri="{FF2B5EF4-FFF2-40B4-BE49-F238E27FC236}">
                <a16:creationId xmlns:a16="http://schemas.microsoft.com/office/drawing/2014/main" id="{E94545EB-8EAA-4FA1-BA5A-FC7E7AB06E24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原方案估算：医师存量约6.6–7.1万人</a:t>
            </a:r>
          </a:p>
        </p:txBody>
      </p:sp>
      <p:sp>
        <p:nvSpPr>
          <p:cNvPr id="3" name="不同证据承担不同用途，内部情景不能表述为官方报名率。">
            <a:extLst>
              <a:ext uri="{FF2B5EF4-FFF2-40B4-BE49-F238E27FC236}">
                <a16:creationId xmlns:a16="http://schemas.microsoft.com/office/drawing/2014/main" id="{1AF6AE0C-5B7E-4F1F-938A-1B612DA5E828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保留原稿数字作内部情景；下表原始输入、扣减方式与1.5%占比未经充分核实，不作为官方统计。</a:t>
            </a:r>
          </a:p>
        </p:txBody>
      </p:sp>
      <p:sp>
        <p:nvSpPr>
          <p:cNvPr id="4" name="10">
            <a:extLst>
              <a:ext uri="{FF2B5EF4-FFF2-40B4-BE49-F238E27FC236}">
                <a16:creationId xmlns:a16="http://schemas.microsoft.com/office/drawing/2014/main" id="{CFF82211-2469-4CE2-B0E4-C06CB9BED7EF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943C90-6FB4-403C-9CDC-791DE2E46F24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40F00C-783D-4222-913C-135669D4B69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49D48DF-2040-4A1C-B7B5-30D9FFF10659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0 / 12">
            <a:extLst>
              <a:ext uri="{FF2B5EF4-FFF2-40B4-BE49-F238E27FC236}">
                <a16:creationId xmlns:a16="http://schemas.microsoft.com/office/drawing/2014/main" id="{EB94C54E-58ED-49D2-9E7E-FEFB5004F96B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13 / 15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8CF82C2-46AA-4AA7-BD16-BF9DAE5D42A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A｜官方数据">
            <a:extLst>
              <a:ext uri="{FF2B5EF4-FFF2-40B4-BE49-F238E27FC236}">
                <a16:creationId xmlns:a16="http://schemas.microsoft.com/office/drawing/2014/main" id="{72635B7C-F7FD-4391-A445-CE753BD9FC94}"/>
              </a:ext>
            </a:extLst>
          </p:cNvPr>
          <p:cNvSpPr>
            <a:spLocks noGrp="1"/>
          </p:cNvSpPr>
          <p:nvPr/>
        </p:nvSpPr>
        <p:spPr>
          <a:xfrm>
            <a:off x="70485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A｜原始输入</a:t>
            </a:r>
          </a:p>
        </p:txBody>
      </p:sp>
      <p:sp>
        <p:nvSpPr>
          <p:cNvPr id="11" name="医师总量、分科占比、村卫生室人数">
            <a:extLst>
              <a:ext uri="{FF2B5EF4-FFF2-40B4-BE49-F238E27FC236}">
                <a16:creationId xmlns:a16="http://schemas.microsoft.com/office/drawing/2014/main" id="{8381095A-72C6-445B-AD4A-E29FD43FFFF8}"/>
              </a:ext>
            </a:extLst>
          </p:cNvPr>
          <p:cNvSpPr>
            <a:spLocks noGrp="1"/>
          </p:cNvSpPr>
          <p:nvPr/>
        </p:nvSpPr>
        <p:spPr>
          <a:xfrm>
            <a:off x="70485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原稿人数，来源及口径未核实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F132C8F5-A09A-4B8A-AE8C-7AA48D3F576F}"/>
              </a:ext>
            </a:extLst>
          </p:cNvPr>
          <p:cNvSpPr>
            <a:spLocks noGrp="1"/>
          </p:cNvSpPr>
          <p:nvPr/>
        </p:nvSpPr>
        <p:spPr>
          <a:xfrm>
            <a:off x="4276725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B｜同口径推算">
            <a:extLst>
              <a:ext uri="{FF2B5EF4-FFF2-40B4-BE49-F238E27FC236}">
                <a16:creationId xmlns:a16="http://schemas.microsoft.com/office/drawing/2014/main" id="{FE267912-9826-48CF-B035-68845150AE5A}"/>
              </a:ext>
            </a:extLst>
          </p:cNvPr>
          <p:cNvSpPr>
            <a:spLocks noGrp="1"/>
          </p:cNvSpPr>
          <p:nvPr/>
        </p:nvSpPr>
        <p:spPr>
          <a:xfrm>
            <a:off x="4448175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B｜原估算方法</a:t>
            </a:r>
          </a:p>
        </p:txBody>
      </p:sp>
      <p:sp>
        <p:nvSpPr>
          <p:cNvPr id="14" name="扣除村卫生室医师，再乘肿瘤科占比">
            <a:extLst>
              <a:ext uri="{FF2B5EF4-FFF2-40B4-BE49-F238E27FC236}">
                <a16:creationId xmlns:a16="http://schemas.microsoft.com/office/drawing/2014/main" id="{9A3A41E4-7BDB-46A3-9C76-B5ECE070AA39}"/>
              </a:ext>
            </a:extLst>
          </p:cNvPr>
          <p:cNvSpPr>
            <a:spLocks noGrp="1"/>
          </p:cNvSpPr>
          <p:nvPr/>
        </p:nvSpPr>
        <p:spPr>
          <a:xfrm>
            <a:off x="4448175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原扣减方法和专业占比未验证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E3DFDC3-9B27-4064-B604-945034BAAE83}"/>
              </a:ext>
            </a:extLst>
          </p:cNvPr>
          <p:cNvSpPr>
            <a:spLocks noGrp="1"/>
          </p:cNvSpPr>
          <p:nvPr/>
        </p:nvSpPr>
        <p:spPr>
          <a:xfrm>
            <a:off x="802005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C｜内部情景">
            <a:extLst>
              <a:ext uri="{FF2B5EF4-FFF2-40B4-BE49-F238E27FC236}">
                <a16:creationId xmlns:a16="http://schemas.microsoft.com/office/drawing/2014/main" id="{5F6EB28D-CE83-4D6B-AE20-051E0D779E7A}"/>
              </a:ext>
            </a:extLst>
          </p:cNvPr>
          <p:cNvSpPr>
            <a:spLocks noGrp="1"/>
          </p:cNvSpPr>
          <p:nvPr/>
        </p:nvSpPr>
        <p:spPr>
          <a:xfrm>
            <a:off x="819150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C｜内部情景</a:t>
            </a:r>
          </a:p>
        </p:txBody>
      </p:sp>
      <p:sp>
        <p:nvSpPr>
          <p:cNvPr id="17" name="年度报考窗口占存量医师 5%–10%">
            <a:extLst>
              <a:ext uri="{FF2B5EF4-FFF2-40B4-BE49-F238E27FC236}">
                <a16:creationId xmlns:a16="http://schemas.microsoft.com/office/drawing/2014/main" id="{5C64DFD8-80E2-4766-962F-26320C1C3755}"/>
              </a:ext>
            </a:extLst>
          </p:cNvPr>
          <p:cNvSpPr>
            <a:spLocks noGrp="1"/>
          </p:cNvSpPr>
          <p:nvPr/>
        </p:nvSpPr>
        <p:spPr>
          <a:xfrm>
            <a:off x="819150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5%–10%报考比例为内部假设</a:t>
            </a:r>
          </a:p>
        </p:txBody>
      </p:sp>
      <p:graphicFrame>
        <p:nvGraphicFramePr>
          <p:cNvPr id="48" name="表格 47"/>
          <p:cNvGraphicFramePr/>
          <p:nvPr/>
        </p:nvGraphicFramePr>
        <p:xfrm>
          <a:off x="533400" y="2857500"/>
          <a:ext cx="11125200" cy="142875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医师总量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村卫生室医师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同口径分母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肿瘤科占比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中心值推算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4,782,086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508,452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4,273,634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1.5%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64,105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5,081,532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521,665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4,559,867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1.5%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68,398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圆角矩形 18">
            <a:extLst>
              <a:ext uri="{FF2B5EF4-FFF2-40B4-BE49-F238E27FC236}">
                <a16:creationId xmlns:a16="http://schemas.microsoft.com/office/drawing/2014/main" id="{72D49A1B-3E81-4CC7-B1C1-C2BA6D2E8881}"/>
              </a:ext>
            </a:extLst>
          </p:cNvPr>
          <p:cNvSpPr>
            <a:spLocks noGrp="1"/>
          </p:cNvSpPr>
          <p:nvPr/>
        </p:nvSpPr>
        <p:spPr>
          <a:xfrm>
            <a:off x="533400" y="4552950"/>
            <a:ext cx="3381375" cy="952500"/>
          </a:xfrm>
          <a:prstGeom prst="roundRect">
            <a:avLst>
              <a:gd name="adj" fmla="val 20000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68,398 人">
            <a:extLst>
              <a:ext uri="{FF2B5EF4-FFF2-40B4-BE49-F238E27FC236}">
                <a16:creationId xmlns:a16="http://schemas.microsoft.com/office/drawing/2014/main" id="{65A9F115-A940-416A-BCD4-4A5E7F474C2E}"/>
              </a:ext>
            </a:extLst>
          </p:cNvPr>
          <p:cNvSpPr>
            <a:spLocks noGrp="1"/>
          </p:cNvSpPr>
          <p:nvPr/>
        </p:nvSpPr>
        <p:spPr>
          <a:xfrm>
            <a:off x="742950" y="468630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68,398 人</a:t>
            </a:r>
          </a:p>
        </p:txBody>
      </p:sp>
      <p:sp>
        <p:nvSpPr>
          <p:cNvPr id="21" name="2024 年中心值推算">
            <a:extLst>
              <a:ext uri="{FF2B5EF4-FFF2-40B4-BE49-F238E27FC236}">
                <a16:creationId xmlns:a16="http://schemas.microsoft.com/office/drawing/2014/main" id="{8D2F79F9-5A4B-49C1-8B50-ACC20E283FA2}"/>
              </a:ext>
            </a:extLst>
          </p:cNvPr>
          <p:cNvSpPr>
            <a:spLocks noGrp="1"/>
          </p:cNvSpPr>
          <p:nvPr/>
        </p:nvSpPr>
        <p:spPr>
          <a:xfrm>
            <a:off x="742950" y="5172075"/>
            <a:ext cx="2762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原2024年存量推算（非考生数）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BFE17780-7650-452C-9266-B07AD9E7F09E}"/>
              </a:ext>
            </a:extLst>
          </p:cNvPr>
          <p:cNvSpPr>
            <a:spLocks noGrp="1"/>
          </p:cNvSpPr>
          <p:nvPr/>
        </p:nvSpPr>
        <p:spPr>
          <a:xfrm>
            <a:off x="4105275" y="4552950"/>
            <a:ext cx="342900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6.61–7.07 万人">
            <a:extLst>
              <a:ext uri="{FF2B5EF4-FFF2-40B4-BE49-F238E27FC236}">
                <a16:creationId xmlns:a16="http://schemas.microsoft.com/office/drawing/2014/main" id="{FB1FCCCB-B1C3-45BB-8E95-4964434C099A}"/>
              </a:ext>
            </a:extLst>
          </p:cNvPr>
          <p:cNvSpPr>
            <a:spLocks noGrp="1"/>
          </p:cNvSpPr>
          <p:nvPr/>
        </p:nvSpPr>
        <p:spPr>
          <a:xfrm>
            <a:off x="4314825" y="4686300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6.61–7.07 万人</a:t>
            </a:r>
          </a:p>
        </p:txBody>
      </p:sp>
      <p:sp>
        <p:nvSpPr>
          <p:cNvPr id="24" name="按 1.45%–1.55% 取整误差">
            <a:extLst>
              <a:ext uri="{FF2B5EF4-FFF2-40B4-BE49-F238E27FC236}">
                <a16:creationId xmlns:a16="http://schemas.microsoft.com/office/drawing/2014/main" id="{D4A79A7B-4161-400E-A403-174EEE9F50F6}"/>
              </a:ext>
            </a:extLst>
          </p:cNvPr>
          <p:cNvSpPr>
            <a:spLocks noGrp="1"/>
          </p:cNvSpPr>
          <p:nvPr/>
        </p:nvSpPr>
        <p:spPr>
          <a:xfrm>
            <a:off x="4314825" y="5172075"/>
            <a:ext cx="2905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原比例情景范围，非置信区间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2EF2E22E-C4C6-4874-8E0B-F8B4D10D8ED5}"/>
              </a:ext>
            </a:extLst>
          </p:cNvPr>
          <p:cNvSpPr>
            <a:spLocks noGrp="1"/>
          </p:cNvSpPr>
          <p:nvPr/>
        </p:nvSpPr>
        <p:spPr>
          <a:xfrm>
            <a:off x="7724775" y="4552950"/>
            <a:ext cx="3933825" cy="952500"/>
          </a:xfrm>
          <a:prstGeom prst="roundRect">
            <a:avLst>
              <a:gd name="adj" fmla="val 20000"/>
            </a:avLst>
          </a:prstGeom>
          <a:solidFill>
            <a:srgbClr val="F5EBDD"/>
          </a:solidFill>
          <a:ln w="9525">
            <a:solidFill>
              <a:srgbClr val="E8D4B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口径更正">
            <a:extLst>
              <a:ext uri="{FF2B5EF4-FFF2-40B4-BE49-F238E27FC236}">
                <a16:creationId xmlns:a16="http://schemas.microsoft.com/office/drawing/2014/main" id="{EBE52730-ECC1-4A4F-B5CB-AC1C81436512}"/>
              </a:ext>
            </a:extLst>
          </p:cNvPr>
          <p:cNvSpPr>
            <a:spLocks noGrp="1"/>
          </p:cNvSpPr>
          <p:nvPr/>
        </p:nvSpPr>
        <p:spPr>
          <a:xfrm>
            <a:off x="7934325" y="4695825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27" name="10–12.5 万人不能直接作考试市场分母">
            <a:extLst>
              <a:ext uri="{FF2B5EF4-FFF2-40B4-BE49-F238E27FC236}">
                <a16:creationId xmlns:a16="http://schemas.microsoft.com/office/drawing/2014/main" id="{2D7CD48C-E673-4CD8-8378-8FB1A847DC70}"/>
              </a:ext>
            </a:extLst>
          </p:cNvPr>
          <p:cNvSpPr>
            <a:spLocks noGrp="1"/>
          </p:cNvSpPr>
          <p:nvPr/>
        </p:nvSpPr>
        <p:spPr>
          <a:xfrm>
            <a:off x="7934325" y="5057775"/>
            <a:ext cx="3429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医师存量不等于年度考生人数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BBF5E0A1-D1BE-42F4-B846-1CCEDAA11B1A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本章结论">
            <a:extLst>
              <a:ext uri="{FF2B5EF4-FFF2-40B4-BE49-F238E27FC236}">
                <a16:creationId xmlns:a16="http://schemas.microsoft.com/office/drawing/2014/main" id="{F48CE99C-2D99-4FB4-9A2A-22766C7874E4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0" name="全国狭义肿瘤科医师约 6.6–7.1 万人，广义口径不能直接作为考试分母">
            <a:extLst>
              <a:ext uri="{FF2B5EF4-FFF2-40B4-BE49-F238E27FC236}">
                <a16:creationId xmlns:a16="http://schemas.microsoft.com/office/drawing/2014/main" id="{D16464C1-6C04-4151-956A-C3EF52785C17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这组数值仅保留原方案量级假设，不能据此宣称全国实际考生规模。</a:t>
            </a:r>
          </a:p>
        </p:txBody>
      </p:sp>
    </p:spTree>
    <p:extLst>
      <p:ext uri="{BB962C8B-B14F-4D97-AF65-F5344CB8AC3E}">
        <p14:creationId xmlns:p14="http://schemas.microsoft.com/office/powerpoint/2010/main" val="146297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年度考生规模">
            <a:extLst>
              <a:ext uri="{FF2B5EF4-FFF2-40B4-BE49-F238E27FC236}">
                <a16:creationId xmlns:a16="http://schemas.microsoft.com/office/drawing/2014/main" id="{E6E38A0E-CAB2-4014-8B57-BD8C1F071426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年度考生规模</a:t>
            </a:r>
          </a:p>
        </p:txBody>
      </p:sp>
      <p:sp>
        <p:nvSpPr>
          <p:cNvPr id="2" name="潜在年度考生约 0.33–0.71 万人，中性规划值约 0.51 万人">
            <a:extLst>
              <a:ext uri="{FF2B5EF4-FFF2-40B4-BE49-F238E27FC236}">
                <a16:creationId xmlns:a16="http://schemas.microsoft.com/office/drawing/2014/main" id="{1DCB4A24-7F27-44CD-871F-14C1829C880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原年度考生估算约0.33–0.71万人</a:t>
            </a:r>
            <a:endParaRPr sz="2850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情景测算用于规划，分专业拆分用于内容投入，两者都需要真实报名数据校准。">
            <a:extLst>
              <a:ext uri="{FF2B5EF4-FFF2-40B4-BE49-F238E27FC236}">
                <a16:creationId xmlns:a16="http://schemas.microsoft.com/office/drawing/2014/main" id="{FFFB5443-A291-4F2D-9A7E-5F5D5731577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保留原稿图表与分专业拆分，用作内部情景；报考比例及专业分配均未得到真实报名数据验证。</a:t>
            </a:r>
          </a:p>
        </p:txBody>
      </p:sp>
      <p:sp>
        <p:nvSpPr>
          <p:cNvPr id="4" name="11">
            <a:extLst>
              <a:ext uri="{FF2B5EF4-FFF2-40B4-BE49-F238E27FC236}">
                <a16:creationId xmlns:a16="http://schemas.microsoft.com/office/drawing/2014/main" id="{289D1014-F833-4808-BB8B-71583C8CF87B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E64CF8-9E11-4BC8-8225-A9BB9AB0FC8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FDAF31-80EE-47B3-BD08-A340F85DD35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B05C885-4C2C-4E32-9517-AA06FE34AD26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1 / 12">
            <a:extLst>
              <a:ext uri="{FF2B5EF4-FFF2-40B4-BE49-F238E27FC236}">
                <a16:creationId xmlns:a16="http://schemas.microsoft.com/office/drawing/2014/main" id="{A7057A54-8F07-4C7B-9E2A-847314DC64D6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14 / 15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4BD7961-C0F1-402F-8435-2A1B40EAE56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6667500" cy="3048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7" name="Chart"/>
          <p:cNvGraphicFramePr/>
          <p:nvPr/>
        </p:nvGraphicFramePr>
        <p:xfrm>
          <a:off x="723900" y="1962150"/>
          <a:ext cx="6191250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8" name="表格 27"/>
          <p:cNvGraphicFramePr/>
          <p:nvPr/>
        </p:nvGraphicFramePr>
        <p:xfrm>
          <a:off x="7524750" y="1752600"/>
          <a:ext cx="4133850" cy="304800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年度推算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 肿瘤内科学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1,700–3,400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342 肿瘤外科学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700–1,400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343 肿瘤放射治疗学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1,000–2,000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3,400–6,800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圆角矩形 11">
            <a:extLst>
              <a:ext uri="{FF2B5EF4-FFF2-40B4-BE49-F238E27FC236}">
                <a16:creationId xmlns:a16="http://schemas.microsoft.com/office/drawing/2014/main" id="{6858F274-5F58-48ED-AA72-4A3ACC86C5A4}"/>
              </a:ext>
            </a:extLst>
          </p:cNvPr>
          <p:cNvSpPr>
            <a:spLocks noGrp="1"/>
          </p:cNvSpPr>
          <p:nvPr/>
        </p:nvSpPr>
        <p:spPr>
          <a:xfrm>
            <a:off x="533400" y="5029200"/>
            <a:ext cx="11125200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口径提示">
            <a:extLst>
              <a:ext uri="{FF2B5EF4-FFF2-40B4-BE49-F238E27FC236}">
                <a16:creationId xmlns:a16="http://schemas.microsoft.com/office/drawing/2014/main" id="{0CF2A386-3015-4BFF-8FB3-FA29666E8F70}"/>
              </a:ext>
            </a:extLst>
          </p:cNvPr>
          <p:cNvSpPr>
            <a:spLocks noGrp="1"/>
          </p:cNvSpPr>
          <p:nvPr/>
        </p:nvSpPr>
        <p:spPr>
          <a:xfrm>
            <a:off x="723900" y="5153025"/>
            <a:ext cx="1190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口径提示</a:t>
            </a:r>
          </a:p>
        </p:txBody>
      </p:sp>
      <p:sp>
        <p:nvSpPr>
          <p:cNvPr id="14" name="考虑肿瘤科占比取整误差，情景范围约 3,306–7,068 人；测算人数">
            <a:extLst>
              <a:ext uri="{FF2B5EF4-FFF2-40B4-BE49-F238E27FC236}">
                <a16:creationId xmlns:a16="http://schemas.microsoft.com/office/drawing/2014/main" id="{B595953E-D32C-456F-858E-0CD3B1DAFD87}"/>
              </a:ext>
            </a:extLst>
          </p:cNvPr>
          <p:cNvSpPr>
            <a:spLocks noGrp="1"/>
          </p:cNvSpPr>
          <p:nvPr/>
        </p:nvSpPr>
        <p:spPr>
          <a:xfrm>
            <a:off x="2038350" y="5133975"/>
            <a:ext cx="9239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原情景范围约3,306–7,068人；不是统计置信区间，考生人数也不等于付费用户。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76D3394-96C4-4F0A-8B55-B29037459AC7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本章结论">
            <a:extLst>
              <a:ext uri="{FF2B5EF4-FFF2-40B4-BE49-F238E27FC236}">
                <a16:creationId xmlns:a16="http://schemas.microsoft.com/office/drawing/2014/main" id="{D6462E35-2F94-4CFC-A006-D07598FF48E6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7" name="潜在年度考生约 0.3–0.7 万人，中性约 0.5 万人，只支持低成本">
            <a:extLst>
              <a:ext uri="{FF2B5EF4-FFF2-40B4-BE49-F238E27FC236}">
                <a16:creationId xmlns:a16="http://schemas.microsoft.com/office/drawing/2014/main" id="{E0A251F4-348A-4066-86CF-BCC0E2BA8254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原中性情景约5,000人／年；市场收入还取决于付费比例、客单价与成本。</a:t>
            </a:r>
          </a:p>
        </p:txBody>
      </p:sp>
    </p:spTree>
    <p:extLst>
      <p:ext uri="{BB962C8B-B14F-4D97-AF65-F5344CB8AC3E}">
        <p14:creationId xmlns:p14="http://schemas.microsoft.com/office/powerpoint/2010/main" val="619859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结论与行动">
            <a:extLst>
              <a:ext uri="{FF2B5EF4-FFF2-40B4-BE49-F238E27FC236}">
                <a16:creationId xmlns:a16="http://schemas.microsoft.com/office/drawing/2014/main" id="{87C92FE7-A8BC-43BF-A97C-D88CA4D6BD3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结论与行动</a:t>
            </a:r>
          </a:p>
        </p:txBody>
      </p:sp>
      <p:sp>
        <p:nvSpPr>
          <p:cNvPr id="2" name="轻量化题库先上线，用真实使用率和付费决定追加投入">
            <a:extLst>
              <a:ext uri="{FF2B5EF4-FFF2-40B4-BE49-F238E27FC236}">
                <a16:creationId xmlns:a16="http://schemas.microsoft.com/office/drawing/2014/main" id="{EC017959-A219-496A-AEF8-4B762C969745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以三个中级专业为范围，验证细分市场的付费机会</a:t>
            </a:r>
          </a:p>
        </p:txBody>
      </p:sp>
      <p:sp>
        <p:nvSpPr>
          <p:cNvPr id="3" name="产品定位：面向肿瘤医生的职称备考题库，复用职考 Go 现有 AI 能力。">
            <a:extLst>
              <a:ext uri="{FF2B5EF4-FFF2-40B4-BE49-F238E27FC236}">
                <a16:creationId xmlns:a16="http://schemas.microsoft.com/office/drawing/2014/main" id="{8BCC8C79-94DD-4DA0-901D-72C2C358DE0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市场判断：已有用户与专科内容提供进入基础，需求规模和盈利能力仍需实际数据支持。</a:t>
            </a:r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A598D58A-DA2A-4524-AE8C-E6842B35A701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A736EF-B5E7-4DB0-98B3-F558E116FC6A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D708E5-A728-48B5-9709-A00025895E95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0E04006-EA1A-497D-91FC-9FF63ECA057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2 / 12">
            <a:extLst>
              <a:ext uri="{FF2B5EF4-FFF2-40B4-BE49-F238E27FC236}">
                <a16:creationId xmlns:a16="http://schemas.microsoft.com/office/drawing/2014/main" id="{EE7851BB-D692-4193-B8C7-AEFF2360B400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15 / 15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F4F1D04-6749-451E-81D2-6B13A5D59B11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FA7CF3EE-B993-405E-BFBB-9B2233890BED}"/>
              </a:ext>
            </a:extLst>
          </p:cNvPr>
          <p:cNvSpPr>
            <a:spLocks noGrp="1"/>
          </p:cNvSpPr>
          <p:nvPr/>
        </p:nvSpPr>
        <p:spPr>
          <a:xfrm>
            <a:off x="723900" y="18764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建设">
            <a:extLst>
              <a:ext uri="{FF2B5EF4-FFF2-40B4-BE49-F238E27FC236}">
                <a16:creationId xmlns:a16="http://schemas.microsoft.com/office/drawing/2014/main" id="{DA340057-2DF6-4041-B49C-0C0D113DB691}"/>
              </a:ext>
            </a:extLst>
          </p:cNvPr>
          <p:cNvSpPr>
            <a:spLocks noGrp="1"/>
          </p:cNvSpPr>
          <p:nvPr/>
        </p:nvSpPr>
        <p:spPr>
          <a:xfrm>
            <a:off x="1504950" y="18859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</a:t>
            </a:r>
          </a:p>
        </p:txBody>
      </p:sp>
      <p:sp>
        <p:nvSpPr>
          <p:cNvPr id="12" name="同步建设 341、342、343；按各自考纲组织题目与解析。">
            <a:extLst>
              <a:ext uri="{FF2B5EF4-FFF2-40B4-BE49-F238E27FC236}">
                <a16:creationId xmlns:a16="http://schemas.microsoft.com/office/drawing/2014/main" id="{C8A50A57-0360-48B2-BC01-00D616EBBB4D}"/>
              </a:ext>
            </a:extLst>
          </p:cNvPr>
          <p:cNvSpPr>
            <a:spLocks noGrp="1"/>
          </p:cNvSpPr>
          <p:nvPr/>
        </p:nvSpPr>
        <p:spPr>
          <a:xfrm>
            <a:off x="4953000" y="18859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盘点三个专业的当期考生、首次报考与补考需求。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575A807-467E-4B44-987A-77F28D8B1FAB}"/>
              </a:ext>
            </a:extLst>
          </p:cNvPr>
          <p:cNvSpPr>
            <a:spLocks noGrp="1"/>
          </p:cNvSpPr>
          <p:nvPr/>
        </p:nvSpPr>
        <p:spPr>
          <a:xfrm>
            <a:off x="533400" y="26289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02">
            <a:extLst>
              <a:ext uri="{FF2B5EF4-FFF2-40B4-BE49-F238E27FC236}">
                <a16:creationId xmlns:a16="http://schemas.microsoft.com/office/drawing/2014/main" id="{E37A98A1-95F9-4007-86D4-808DBBF42D65}"/>
              </a:ext>
            </a:extLst>
          </p:cNvPr>
          <p:cNvSpPr>
            <a:spLocks noGrp="1"/>
          </p:cNvSpPr>
          <p:nvPr/>
        </p:nvSpPr>
        <p:spPr>
          <a:xfrm>
            <a:off x="723900" y="27527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接入">
            <a:extLst>
              <a:ext uri="{FF2B5EF4-FFF2-40B4-BE49-F238E27FC236}">
                <a16:creationId xmlns:a16="http://schemas.microsoft.com/office/drawing/2014/main" id="{63960A65-FCEA-414E-8C10-A47F131FE74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</a:t>
            </a:r>
          </a:p>
        </p:txBody>
      </p:sp>
      <p:sp>
        <p:nvSpPr>
          <p:cNvPr id="16" name="直接接入现有小程序，复用答题、诊断、错题与 AI 辅助。">
            <a:extLst>
              <a:ext uri="{FF2B5EF4-FFF2-40B4-BE49-F238E27FC236}">
                <a16:creationId xmlns:a16="http://schemas.microsoft.com/office/drawing/2014/main" id="{8A502E91-DAF2-4B22-BB70-60B04BC332F9}"/>
              </a:ext>
            </a:extLst>
          </p:cNvPr>
          <p:cNvSpPr>
            <a:spLocks noGrp="1"/>
          </p:cNvSpPr>
          <p:nvPr/>
        </p:nvSpPr>
        <p:spPr>
          <a:xfrm>
            <a:off x="4953000" y="27622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核对竞品实际商品、价格与服务，识别考生尚未满足的需求。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94CA383-AB63-492A-BBAB-1DFA3F60BC40}"/>
              </a:ext>
            </a:extLst>
          </p:cNvPr>
          <p:cNvSpPr>
            <a:spLocks noGrp="1"/>
          </p:cNvSpPr>
          <p:nvPr/>
        </p:nvSpPr>
        <p:spPr>
          <a:xfrm>
            <a:off x="533400" y="35052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03">
            <a:extLst>
              <a:ext uri="{FF2B5EF4-FFF2-40B4-BE49-F238E27FC236}">
                <a16:creationId xmlns:a16="http://schemas.microsoft.com/office/drawing/2014/main" id="{EE709DFF-174C-4861-95BF-5A40DA899255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售卖">
            <a:extLst>
              <a:ext uri="{FF2B5EF4-FFF2-40B4-BE49-F238E27FC236}">
                <a16:creationId xmlns:a16="http://schemas.microsoft.com/office/drawing/2014/main" id="{7CC82F79-3266-4DB0-A69A-0C2793F20753}"/>
              </a:ext>
            </a:extLst>
          </p:cNvPr>
          <p:cNvSpPr>
            <a:spLocks noGrp="1"/>
          </p:cNvSpPr>
          <p:nvPr/>
        </p:nvSpPr>
        <p:spPr>
          <a:xfrm>
            <a:off x="1504950" y="36385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20" name="优先单题库或三专业组合包，避免强制采用全站会员制。">
            <a:extLst>
              <a:ext uri="{FF2B5EF4-FFF2-40B4-BE49-F238E27FC236}">
                <a16:creationId xmlns:a16="http://schemas.microsoft.com/office/drawing/2014/main" id="{B5594200-4A1E-41E3-BA1B-C23536D582B6}"/>
              </a:ext>
            </a:extLst>
          </p:cNvPr>
          <p:cNvSpPr>
            <a:spLocks noGrp="1"/>
          </p:cNvSpPr>
          <p:nvPr/>
        </p:nvSpPr>
        <p:spPr>
          <a:xfrm>
            <a:off x="4953000" y="36385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重点验证CSCO指南与大查房积累是否构成付费理由。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52D763B-8DF4-4995-B3FB-4FE6D550729C}"/>
              </a:ext>
            </a:extLst>
          </p:cNvPr>
          <p:cNvSpPr>
            <a:spLocks noGrp="1"/>
          </p:cNvSpPr>
          <p:nvPr/>
        </p:nvSpPr>
        <p:spPr>
          <a:xfrm>
            <a:off x="533400" y="43815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4">
            <a:extLst>
              <a:ext uri="{FF2B5EF4-FFF2-40B4-BE49-F238E27FC236}">
                <a16:creationId xmlns:a16="http://schemas.microsoft.com/office/drawing/2014/main" id="{5946E440-989A-4CD8-859C-D3B1CB021A2D}"/>
              </a:ext>
            </a:extLst>
          </p:cNvPr>
          <p:cNvSpPr>
            <a:spLocks noGrp="1"/>
          </p:cNvSpPr>
          <p:nvPr/>
        </p:nvSpPr>
        <p:spPr>
          <a:xfrm>
            <a:off x="723900" y="45053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验证">
            <a:extLst>
              <a:ext uri="{FF2B5EF4-FFF2-40B4-BE49-F238E27FC236}">
                <a16:creationId xmlns:a16="http://schemas.microsoft.com/office/drawing/2014/main" id="{E7444CDF-220D-4837-B62F-9D64576E5A9C}"/>
              </a:ext>
            </a:extLst>
          </p:cNvPr>
          <p:cNvSpPr>
            <a:spLocks noGrp="1"/>
          </p:cNvSpPr>
          <p:nvPr/>
        </p:nvSpPr>
        <p:spPr>
          <a:xfrm>
            <a:off x="1504950" y="45148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</p:txBody>
      </p:sp>
      <p:sp>
        <p:nvSpPr>
          <p:cNvPr id="24" name="跟踪真实使用率、付费转化和内容维护成本，再决定追加投入。">
            <a:extLst>
              <a:ext uri="{FF2B5EF4-FFF2-40B4-BE49-F238E27FC236}">
                <a16:creationId xmlns:a16="http://schemas.microsoft.com/office/drawing/2014/main" id="{341F2A23-D5BE-4AA7-823C-8A7F89D98D6D}"/>
              </a:ext>
            </a:extLst>
          </p:cNvPr>
          <p:cNvSpPr>
            <a:spLocks noGrp="1"/>
          </p:cNvSpPr>
          <p:nvPr/>
        </p:nvSpPr>
        <p:spPr>
          <a:xfrm>
            <a:off x="4953000" y="45148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结合触达、付费意愿和服务成本评估投入；收费方式待定。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DB893DD-2B33-4F29-AB5E-07BD3A84D72E}"/>
              </a:ext>
            </a:extLst>
          </p:cNvPr>
          <p:cNvSpPr>
            <a:spLocks noGrp="1"/>
          </p:cNvSpPr>
          <p:nvPr/>
        </p:nvSpPr>
        <p:spPr>
          <a:xfrm>
            <a:off x="533400" y="5438775"/>
            <a:ext cx="11125200" cy="723900"/>
          </a:xfrm>
          <a:prstGeom prst="roundRect">
            <a:avLst>
              <a:gd name="adj" fmla="val 26316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核心结论">
            <a:extLst>
              <a:ext uri="{FF2B5EF4-FFF2-40B4-BE49-F238E27FC236}">
                <a16:creationId xmlns:a16="http://schemas.microsoft.com/office/drawing/2014/main" id="{91114CE1-AE27-45EC-AD39-B6111591EEB5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7" name="同步上线三专业并接入现有小程序，用使用率、付费转化和维护成本决定追加投入">
            <a:extLst>
              <a:ext uri="{FF2B5EF4-FFF2-40B4-BE49-F238E27FC236}">
                <a16:creationId xmlns:a16="http://schemas.microsoft.com/office/drawing/2014/main" id="{547294E3-478B-4B3E-B974-59D622492B44}"/>
              </a:ext>
            </a:extLst>
          </p:cNvPr>
          <p:cNvSpPr>
            <a:spLocks noGrp="1"/>
          </p:cNvSpPr>
          <p:nvPr/>
        </p:nvSpPr>
        <p:spPr>
          <a:xfrm>
            <a:off x="2209800" y="5591175"/>
            <a:ext cx="895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以真实需求、竞争差异与投入产出决定推进规模，三个专业同步纳入首期范围。</a:t>
            </a:r>
          </a:p>
        </p:txBody>
      </p:sp>
    </p:spTree>
    <p:extLst>
      <p:ext uri="{BB962C8B-B14F-4D97-AF65-F5344CB8AC3E}">
        <p14:creationId xmlns:p14="http://schemas.microsoft.com/office/powerpoint/2010/main" val="18243160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1700</Words>
  <Application>Microsoft Office PowerPoint</Application>
  <DocSecurity>0</DocSecurity>
  <PresentationFormat>宽屏</PresentationFormat>
  <Paragraphs>404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Microsoft YaHei</vt:lpstr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TT Gao</cp:lastModifiedBy>
  <cp:revision>3</cp:revision>
  <dcterms:created xsi:type="dcterms:W3CDTF">2026-09-17T03:47:42Z</dcterms:created>
  <dcterms:modified xsi:type="dcterms:W3CDTF">2026-09-18T05:09:51Z</dcterms:modified>
</cp:coreProperties>
</file>