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6" r:id="rId4"/>
    <p:sldId id="258" r:id="rId5"/>
    <p:sldId id="261" r:id="rId6"/>
    <p:sldId id="271" r:id="rId7"/>
    <p:sldId id="272" r:id="rId8"/>
    <p:sldId id="274" r:id="rId9"/>
    <p:sldId id="275" r:id="rId10"/>
    <p:sldId id="276" r:id="rId11"/>
    <p:sldId id="270" r:id="rId12"/>
    <p:sldId id="281" r:id="rId13"/>
    <p:sldId id="263" r:id="rId14"/>
    <p:sldId id="267" r:id="rId15"/>
    <p:sldId id="28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11"/>
    <p:restoredTop sz="94629"/>
  </p:normalViewPr>
  <p:slideViewPr>
    <p:cSldViewPr snapToGrid="0">
      <p:cViewPr varScale="1">
        <p:scale>
          <a:sx n="66" d="100"/>
          <a:sy n="66" d="100"/>
        </p:scale>
        <p:origin x="2652" y="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价格全部整理自用户提供核实报告第五节。考试宝典151元现价与168元原价分开列明，453元对应151×3。医考帮约300元指主治科目课程，不是341/342/343各专业题库价格。课程价格与题库价格不同类，不能仅凭高价课程推出本题库溢价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本页保留所提供报告的来源记录，不代表本次重新独立查验。</a:t>
            </a:r>
          </a:p>
          <a:p>
            <a:r>
              <a:t>https://www.21wecan.com/wsrcw/c100193/202208/1d3cddb94d034000a0e8a4178b8f92a6.shtml</a:t>
            </a:r>
          </a:p>
          <a:p>
            <a:r>
              <a:t>https://hrss.qingdao.gov.cn/ztzl_47/rsks_47/tzgg_47/202512/t20251204_10392691.shtml</a:t>
            </a:r>
          </a:p>
          <a:p>
            <a:r>
              <a:t>https://www.yixiaokao.com/article_baokaozhinan_874/462.html</a:t>
            </a:r>
          </a:p>
          <a:p>
            <a:r>
              <a:t>https://exam.ipmph.com/examzcms/c/2024-04-08/558600.shtml</a:t>
            </a:r>
          </a:p>
          <a:p>
            <a:r>
              <a:t>https://exam.ipmph.com/examzcms/c/2025-07-18/559204.shtml</a:t>
            </a:r>
          </a:p>
          <a:p>
            <a:r>
              <a:t>https://www.news.cn/politics/20260828/40abac9837234a7bbde32724372c67c9/c.html</a:t>
            </a:r>
          </a:p>
          <a:p>
            <a:r>
              <a:t>https://www.nhc.gov.cn/mohwsbwstjxxzx/tjtjnj/202601/4c453cf4278941ab8465846d1dc90e08/files/终-2024中国卫生健康统计年鉴.pdf</a:t>
            </a:r>
          </a:p>
          <a:p>
            <a:r>
              <a:t>https://www.yixiaokao.com/article_baokaozhinan_874/463.html</a:t>
            </a:r>
          </a:p>
          <a:p>
            <a:r>
              <a:t>https://wx.100xuexi.com/product/9-4125.html</a:t>
            </a:r>
          </a:p>
          <a:p>
            <a:r>
              <a:t>https://wx.100xuexi.com/list/8689326.html</a:t>
            </a:r>
          </a:p>
          <a:p>
            <a:r>
              <a:t>https://wx.100xuexi.com/list/8689327.html</a:t>
            </a:r>
          </a:p>
          <a:p>
            <a:r>
              <a:t>https://waph.ahuyk.com/ahuyikao/Course/getDetails.html?courseId=2486)</a:t>
            </a:r>
          </a:p>
          <a:p>
            <a:r>
              <a:t>https://wx.100xuexi.com/product/9-4125.html)</a:t>
            </a:r>
          </a:p>
          <a:p>
            <a:r>
              <a:t>http://www.acccas.com/kecheng/zhongji/zhuzhi/252.html)</a:t>
            </a:r>
          </a:p>
          <a:p>
            <a:r>
              <a:t>https://apps.apple.com/cn/app/id1312142829)</a:t>
            </a:r>
          </a:p>
          <a:p>
            <a:r>
              <a:t>补充：报告声称68170与68400为四舍五入关系，该表述不成立；二者并非通常四舍五入关系。原情景表仍按68400计算，分专业图合计按68000计算。未在本次版式任务中更改数值；需统一测算基数后再作为精确测算引用。肿瘤科存量与341/342/343报考范围亦不是直接等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</a:t>
            </a:r>
            <a:r>
              <a:rPr lang="zh-CN" altLang="en-US" sz="4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职称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EXECUTIVE SUMMARY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850" b="1" dirty="0">
                <a:solidFill>
                  <a:srgbClr val="102744"/>
                </a:solidFill>
                <a:latin typeface="Microsoft YaHei"/>
                <a:ea typeface="Microsoft YaHei"/>
              </a:rPr>
              <a:t>先看结论：有差异化基础，但市场规模要从“真实考生”算起</a:t>
            </a:r>
            <a:endParaRPr lang="en-US" altLang="zh-CN" sz="2850" b="1" dirty="0">
              <a:solidFill>
                <a:srgbClr val="102744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2025年末全国执业（助理）医师 530.6 万人只能作为宏观背景，不适合作为用户基数；真正目标用户是 341 / 342 / 343 的当年报考者。</a:t>
            </a:r>
          </a:p>
          <a:p>
            <a:pPr algn="l">
              <a:lnSpc>
                <a:spcPct val="108000"/>
              </a:lnSpc>
              <a:spcAft>
                <a:spcPts val="300"/>
              </a:spcAft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02 / 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4D9A3-381C-E334-E4AD-E4C1AB658A3D}"/>
              </a:ext>
            </a:extLst>
          </p:cNvPr>
          <p:cNvSpPr/>
          <p:nvPr/>
        </p:nvSpPr>
        <p:spPr>
          <a:xfrm>
            <a:off x="53340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8E6C0-0A72-64E3-E8B4-9AD405899D54}"/>
              </a:ext>
            </a:extLst>
          </p:cNvPr>
          <p:cNvSpPr/>
          <p:nvPr/>
        </p:nvSpPr>
        <p:spPr>
          <a:xfrm>
            <a:off x="533400" y="1871760"/>
            <a:ext cx="68400" cy="2340000"/>
          </a:xfrm>
          <a:prstGeom prst="rect">
            <a:avLst/>
          </a:prstGeom>
          <a:solidFill>
            <a:srgbClr val="F29B38"/>
          </a:solidFill>
          <a:ln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A2A2FFFB-BBEE-D1A5-417C-E10B36F7132B}"/>
              </a:ext>
            </a:extLst>
          </p:cNvPr>
          <p:cNvSpPr/>
          <p:nvPr/>
        </p:nvSpPr>
        <p:spPr>
          <a:xfrm>
            <a:off x="78936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E7B10C81-D34D-9527-36E4-EE3C36435A46}"/>
              </a:ext>
            </a:extLst>
          </p:cNvPr>
          <p:cNvSpPr/>
          <p:nvPr/>
        </p:nvSpPr>
        <p:spPr>
          <a:xfrm>
            <a:off x="126492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目标用户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B93DCDB7-734A-B26F-3D2C-4A16CC078109}"/>
              </a:ext>
            </a:extLst>
          </p:cNvPr>
          <p:cNvSpPr/>
          <p:nvPr/>
        </p:nvSpPr>
        <p:spPr>
          <a:xfrm>
            <a:off x="78936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solidFill>
              <a:srgbClr val="F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1D8886C-F28D-B88A-5DEB-4784A137B209}"/>
              </a:ext>
            </a:extLst>
          </p:cNvPr>
          <p:cNvSpPr/>
          <p:nvPr/>
        </p:nvSpPr>
        <p:spPr>
          <a:xfrm>
            <a:off x="85344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市场口径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64E3DBB6-9993-22AA-259B-FC3F427F37E5}"/>
              </a:ext>
            </a:extLst>
          </p:cNvPr>
          <p:cNvSpPr/>
          <p:nvPr/>
        </p:nvSpPr>
        <p:spPr>
          <a:xfrm>
            <a:off x="78936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341 / 342 / 343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当年报考者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04BC5AF5-5CAC-03FA-57CF-A7A032084165}"/>
              </a:ext>
            </a:extLst>
          </p:cNvPr>
          <p:cNvSpPr/>
          <p:nvPr/>
        </p:nvSpPr>
        <p:spPr>
          <a:xfrm>
            <a:off x="78936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首次报考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补考；</a:t>
            </a:r>
            <a:endParaRPr lang="en-US" altLang="zh-CN" sz="1400" b="0" u="none" strike="noStrike" dirty="0">
              <a:solidFill>
                <a:srgbClr val="6F87A2"/>
              </a:solidFill>
              <a:effectLst/>
              <a:uFillTx/>
              <a:latin typeface="Microsoft YaHei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全国报名规模目前缺少公开权威统计。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ounded Rectangle 13">
            <a:extLst>
              <a:ext uri="{FF2B5EF4-FFF2-40B4-BE49-F238E27FC236}">
                <a16:creationId xmlns:a16="http://schemas.microsoft.com/office/drawing/2014/main" id="{2FE12C83-502C-77C1-9323-C539B5FC7474}"/>
              </a:ext>
            </a:extLst>
          </p:cNvPr>
          <p:cNvSpPr/>
          <p:nvPr/>
        </p:nvSpPr>
        <p:spPr>
          <a:xfrm>
            <a:off x="422772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7D3666F0-AD1F-01E3-BDF1-C56142E93AE4}"/>
              </a:ext>
            </a:extLst>
          </p:cNvPr>
          <p:cNvSpPr/>
          <p:nvPr/>
        </p:nvSpPr>
        <p:spPr>
          <a:xfrm>
            <a:off x="4227720" y="1871760"/>
            <a:ext cx="68400" cy="2340000"/>
          </a:xfrm>
          <a:prstGeom prst="rect">
            <a:avLst/>
          </a:prstGeom>
          <a:solidFill>
            <a:srgbClr val="6C63E7"/>
          </a:solidFill>
          <a:ln>
            <a:solidFill>
              <a:srgbClr val="6C6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E542F5A7-983D-6AF1-96B1-E1AABB0DAAC8}"/>
              </a:ext>
            </a:extLst>
          </p:cNvPr>
          <p:cNvSpPr/>
          <p:nvPr/>
        </p:nvSpPr>
        <p:spPr>
          <a:xfrm>
            <a:off x="448368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18FC4816-1964-575B-D748-F54C7D9ED0FE}"/>
              </a:ext>
            </a:extLst>
          </p:cNvPr>
          <p:cNvSpPr/>
          <p:nvPr/>
        </p:nvSpPr>
        <p:spPr>
          <a:xfrm>
            <a:off x="495924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差异化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ounded Rectangle 17">
            <a:extLst>
              <a:ext uri="{FF2B5EF4-FFF2-40B4-BE49-F238E27FC236}">
                <a16:creationId xmlns:a16="http://schemas.microsoft.com/office/drawing/2014/main" id="{9B3FC985-8B23-F1E4-F865-25952FF0CAD8}"/>
              </a:ext>
            </a:extLst>
          </p:cNvPr>
          <p:cNvSpPr/>
          <p:nvPr/>
        </p:nvSpPr>
        <p:spPr>
          <a:xfrm>
            <a:off x="448368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1EFFF"/>
          </a:solidFill>
          <a:ln>
            <a:solidFill>
              <a:srgbClr val="F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FCAE44E6-9957-70BE-FB91-91B426CB49A3}"/>
              </a:ext>
            </a:extLst>
          </p:cNvPr>
          <p:cNvSpPr/>
          <p:nvPr/>
        </p:nvSpPr>
        <p:spPr>
          <a:xfrm>
            <a:off x="454776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产品抓手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F14AD7D9-50CC-F0F6-B6F5-3B9A6CB8809D}"/>
              </a:ext>
            </a:extLst>
          </p:cNvPr>
          <p:cNvSpPr/>
          <p:nvPr/>
        </p:nvSpPr>
        <p:spPr>
          <a:xfrm>
            <a:off x="448368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TNM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病例实战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A144EEA2-4933-478F-DCD1-76E76B4CC32D}"/>
              </a:ext>
            </a:extLst>
          </p:cNvPr>
          <p:cNvSpPr/>
          <p:nvPr/>
        </p:nvSpPr>
        <p:spPr>
          <a:xfrm>
            <a:off x="448368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不只提供刷题，而是帮助考生理解依据、分期和病例判断。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61491DC0-7053-8AB9-EF91-0BAC99E8B891}"/>
              </a:ext>
            </a:extLst>
          </p:cNvPr>
          <p:cNvSpPr/>
          <p:nvPr/>
        </p:nvSpPr>
        <p:spPr>
          <a:xfrm>
            <a:off x="7921680" y="1871760"/>
            <a:ext cx="379440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5A1794B2-4918-B24B-6221-6D3FB25C2669}"/>
              </a:ext>
            </a:extLst>
          </p:cNvPr>
          <p:cNvSpPr/>
          <p:nvPr/>
        </p:nvSpPr>
        <p:spPr>
          <a:xfrm>
            <a:off x="7921680" y="1871760"/>
            <a:ext cx="68400" cy="2340000"/>
          </a:xfrm>
          <a:prstGeom prst="rect">
            <a:avLst/>
          </a:prstGeom>
          <a:solidFill>
            <a:srgbClr val="2AA198"/>
          </a:solidFill>
          <a:ln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83B94D68-4734-FB8B-CD89-9A424B626E41}"/>
              </a:ext>
            </a:extLst>
          </p:cNvPr>
          <p:cNvSpPr/>
          <p:nvPr/>
        </p:nvSpPr>
        <p:spPr>
          <a:xfrm>
            <a:off x="817764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B9FDE3E5-FF9E-F32D-C4A9-57EE02E2E8B4}"/>
              </a:ext>
            </a:extLst>
          </p:cNvPr>
          <p:cNvSpPr/>
          <p:nvPr/>
        </p:nvSpPr>
        <p:spPr>
          <a:xfrm>
            <a:off x="8653200" y="20362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验证路径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ounded Rectangle 25">
            <a:extLst>
              <a:ext uri="{FF2B5EF4-FFF2-40B4-BE49-F238E27FC236}">
                <a16:creationId xmlns:a16="http://schemas.microsoft.com/office/drawing/2014/main" id="{615BCBCA-A7DB-777B-9A86-9BA34A196262}"/>
              </a:ext>
            </a:extLst>
          </p:cNvPr>
          <p:cNvSpPr/>
          <p:nvPr/>
        </p:nvSpPr>
        <p:spPr>
          <a:xfrm>
            <a:off x="817764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E9F7F5"/>
          </a:solidFill>
          <a:ln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77BE72E9-4054-E1D0-9C82-D6242371FDA9}"/>
              </a:ext>
            </a:extLst>
          </p:cNvPr>
          <p:cNvSpPr/>
          <p:nvPr/>
        </p:nvSpPr>
        <p:spPr>
          <a:xfrm>
            <a:off x="824172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MVP </a:t>
            </a:r>
            <a:r>
              <a:rPr lang="zh-CN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3A11A8DB-E228-F6FC-2C15-3D6904FEA22D}"/>
              </a:ext>
            </a:extLst>
          </p:cNvPr>
          <p:cNvSpPr/>
          <p:nvPr/>
        </p:nvSpPr>
        <p:spPr>
          <a:xfrm>
            <a:off x="8177640" y="2869302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现有用户 → 意向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→ </a:t>
            </a:r>
            <a:r>
              <a:rPr lang="en-US" sz="1720" b="1" u="none" strike="noStrike" dirty="0" err="1">
                <a:solidFill>
                  <a:srgbClr val="102E54"/>
                </a:solidFill>
                <a:effectLst/>
                <a:uFillTx/>
                <a:latin typeface="Microsoft YaHei"/>
              </a:rPr>
              <a:t>付费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6243ACA8-145B-C025-5C1A-5E6D94846A41}"/>
              </a:ext>
            </a:extLst>
          </p:cNvPr>
          <p:cNvSpPr/>
          <p:nvPr/>
        </p:nvSpPr>
        <p:spPr>
          <a:xfrm>
            <a:off x="8177640" y="3474140"/>
            <a:ext cx="3099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先盘点平台内真实报考者，再用预售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/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首发产品验证付费。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ounded Rectangle 29">
            <a:extLst>
              <a:ext uri="{FF2B5EF4-FFF2-40B4-BE49-F238E27FC236}">
                <a16:creationId xmlns:a16="http://schemas.microsoft.com/office/drawing/2014/main" id="{9842292D-CB54-D7F1-3DC4-21C40F407CBA}"/>
              </a:ext>
            </a:extLst>
          </p:cNvPr>
          <p:cNvSpPr/>
          <p:nvPr/>
        </p:nvSpPr>
        <p:spPr>
          <a:xfrm>
            <a:off x="533400" y="4422719"/>
            <a:ext cx="11182680" cy="180662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5" name="TextBox 30">
            <a:extLst>
              <a:ext uri="{FF2B5EF4-FFF2-40B4-BE49-F238E27FC236}">
                <a16:creationId xmlns:a16="http://schemas.microsoft.com/office/drawing/2014/main" id="{782C6CC5-33B5-74B9-E99C-2D1DD4391AC3}"/>
              </a:ext>
            </a:extLst>
          </p:cNvPr>
          <p:cNvSpPr/>
          <p:nvPr/>
        </p:nvSpPr>
        <p:spPr>
          <a:xfrm>
            <a:off x="780360" y="45872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02E54"/>
                </a:solidFill>
                <a:effectLst/>
                <a:uFillTx/>
                <a:latin typeface="Microsoft YaHei"/>
              </a:rPr>
              <a:t>为什么适合“小步试点”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ounded Rectangle 31">
            <a:extLst>
              <a:ext uri="{FF2B5EF4-FFF2-40B4-BE49-F238E27FC236}">
                <a16:creationId xmlns:a16="http://schemas.microsoft.com/office/drawing/2014/main" id="{FE5D7AB6-60EC-AEC2-6CE6-CE1E0CCBEF45}"/>
              </a:ext>
            </a:extLst>
          </p:cNvPr>
          <p:cNvSpPr/>
          <p:nvPr/>
        </p:nvSpPr>
        <p:spPr>
          <a:xfrm>
            <a:off x="798720" y="4971360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7" name="Oval 32">
            <a:extLst>
              <a:ext uri="{FF2B5EF4-FFF2-40B4-BE49-F238E27FC236}">
                <a16:creationId xmlns:a16="http://schemas.microsoft.com/office/drawing/2014/main" id="{2832D0E3-D546-010F-E2F5-DC26BD813EA5}"/>
              </a:ext>
            </a:extLst>
          </p:cNvPr>
          <p:cNvSpPr/>
          <p:nvPr/>
        </p:nvSpPr>
        <p:spPr>
          <a:xfrm>
            <a:off x="996070" y="5111101"/>
            <a:ext cx="182520" cy="18252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98FD070-E4CD-A4B9-32DB-A67C250975A1}"/>
              </a:ext>
            </a:extLst>
          </p:cNvPr>
          <p:cNvSpPr/>
          <p:nvPr/>
        </p:nvSpPr>
        <p:spPr>
          <a:xfrm>
            <a:off x="1261030" y="5101921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用户渠道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2665DD23-3507-F6B7-9813-C25BC1A6978C}"/>
              </a:ext>
            </a:extLst>
          </p:cNvPr>
          <p:cNvSpPr/>
          <p:nvPr/>
        </p:nvSpPr>
        <p:spPr>
          <a:xfrm>
            <a:off x="1239670" y="5425835"/>
            <a:ext cx="19378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肿瘤医生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APP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可触达潜在备考人群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35">
            <a:extLst>
              <a:ext uri="{FF2B5EF4-FFF2-40B4-BE49-F238E27FC236}">
                <a16:creationId xmlns:a16="http://schemas.microsoft.com/office/drawing/2014/main" id="{79974F0C-48DC-42A1-1D53-028845BEC576}"/>
              </a:ext>
            </a:extLst>
          </p:cNvPr>
          <p:cNvSpPr/>
          <p:nvPr/>
        </p:nvSpPr>
        <p:spPr>
          <a:xfrm>
            <a:off x="4421915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1" name="Oval 36">
            <a:extLst>
              <a:ext uri="{FF2B5EF4-FFF2-40B4-BE49-F238E27FC236}">
                <a16:creationId xmlns:a16="http://schemas.microsoft.com/office/drawing/2014/main" id="{E9E3F2E0-B9A7-5EFE-8EE2-2FB495A74E4D}"/>
              </a:ext>
            </a:extLst>
          </p:cNvPr>
          <p:cNvSpPr/>
          <p:nvPr/>
        </p:nvSpPr>
        <p:spPr>
          <a:xfrm>
            <a:off x="4573471" y="5140407"/>
            <a:ext cx="182520" cy="182520"/>
          </a:xfrm>
          <a:prstGeom prst="ellipse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2" name="TextBox 37">
            <a:extLst>
              <a:ext uri="{FF2B5EF4-FFF2-40B4-BE49-F238E27FC236}">
                <a16:creationId xmlns:a16="http://schemas.microsoft.com/office/drawing/2014/main" id="{FEA1F648-F388-5866-D216-6D4B1D018F95}"/>
              </a:ext>
            </a:extLst>
          </p:cNvPr>
          <p:cNvSpPr/>
          <p:nvPr/>
        </p:nvSpPr>
        <p:spPr>
          <a:xfrm>
            <a:off x="4838791" y="5131227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专科内容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9CB0A568-A199-CEE8-44D4-175D98E8D58A}"/>
              </a:ext>
            </a:extLst>
          </p:cNvPr>
          <p:cNvSpPr/>
          <p:nvPr/>
        </p:nvSpPr>
        <p:spPr>
          <a:xfrm>
            <a:off x="4780398" y="5459885"/>
            <a:ext cx="190224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CSCO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TNM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可支撑依据解释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39">
            <a:extLst>
              <a:ext uri="{FF2B5EF4-FFF2-40B4-BE49-F238E27FC236}">
                <a16:creationId xmlns:a16="http://schemas.microsoft.com/office/drawing/2014/main" id="{7D7E064C-C06A-B271-459B-124CB4B77E1B}"/>
              </a:ext>
            </a:extLst>
          </p:cNvPr>
          <p:cNvSpPr/>
          <p:nvPr/>
        </p:nvSpPr>
        <p:spPr>
          <a:xfrm>
            <a:off x="8059047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5" name="Oval 40">
            <a:extLst>
              <a:ext uri="{FF2B5EF4-FFF2-40B4-BE49-F238E27FC236}">
                <a16:creationId xmlns:a16="http://schemas.microsoft.com/office/drawing/2014/main" id="{D55CA084-6F26-49B1-47D1-F8C67A9B5FD3}"/>
              </a:ext>
            </a:extLst>
          </p:cNvPr>
          <p:cNvSpPr/>
          <p:nvPr/>
        </p:nvSpPr>
        <p:spPr>
          <a:xfrm>
            <a:off x="8175105" y="5169964"/>
            <a:ext cx="182520" cy="182520"/>
          </a:xfrm>
          <a:prstGeom prst="ellipse">
            <a:avLst/>
          </a:prstGeom>
          <a:solidFill>
            <a:srgbClr val="6C6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2FCEABA9-1382-C716-03BA-57C42FB38A6D}"/>
              </a:ext>
            </a:extLst>
          </p:cNvPr>
          <p:cNvSpPr/>
          <p:nvPr/>
        </p:nvSpPr>
        <p:spPr>
          <a:xfrm>
            <a:off x="8448001" y="5160784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病例资产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FDCE8605-272F-5A38-0CE7-66B5C1249F86}"/>
              </a:ext>
            </a:extLst>
          </p:cNvPr>
          <p:cNvSpPr/>
          <p:nvPr/>
        </p:nvSpPr>
        <p:spPr>
          <a:xfrm>
            <a:off x="8448001" y="5484698"/>
            <a:ext cx="1877197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大查房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影像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可支撑场景判断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MARKET SIZE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t>年度考生估算约0.34–0.68万人</a:t>
            </a: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底数：全国肿瘤科执业医师约6.8万人（2023年）；报考比例5%–10%为假设值，收入还取决于付费率与客单价。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15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AE95CF-D98E-B4C9-8781-AF2AF68C7512}"/>
              </a:ext>
            </a:extLst>
          </p:cNvPr>
          <p:cNvSpPr/>
          <p:nvPr/>
        </p:nvSpPr>
        <p:spPr>
          <a:xfrm>
            <a:off x="570120" y="2228851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按专业拆分的年度推算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5551331-3B5D-ABDC-6B44-C3CD986BF1B5}"/>
              </a:ext>
            </a:extLst>
          </p:cNvPr>
          <p:cNvSpPr/>
          <p:nvPr/>
        </p:nvSpPr>
        <p:spPr>
          <a:xfrm>
            <a:off x="716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EBC0304-33B3-76B9-A1A8-A489A21F2941}"/>
              </a:ext>
            </a:extLst>
          </p:cNvPr>
          <p:cNvSpPr/>
          <p:nvPr/>
        </p:nvSpPr>
        <p:spPr>
          <a:xfrm>
            <a:off x="53340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CEDE8427-B65C-DD7F-8CF8-FE5E433436E9}"/>
              </a:ext>
            </a:extLst>
          </p:cNvPr>
          <p:cNvSpPr/>
          <p:nvPr/>
        </p:nvSpPr>
        <p:spPr>
          <a:xfrm>
            <a:off x="233916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E957C09-F390-E9CE-4EA4-783CA0F9B6EC}"/>
              </a:ext>
            </a:extLst>
          </p:cNvPr>
          <p:cNvSpPr/>
          <p:nvPr/>
        </p:nvSpPr>
        <p:spPr>
          <a:xfrm>
            <a:off x="2156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1000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8884C8B5-B8A0-2945-12EC-40DB67E593EC}"/>
              </a:ext>
            </a:extLst>
          </p:cNvPr>
          <p:cNvSpPr/>
          <p:nvPr/>
        </p:nvSpPr>
        <p:spPr>
          <a:xfrm>
            <a:off x="396240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8BAC8EA-9FD2-8737-1AC5-2286EAC55019}"/>
              </a:ext>
            </a:extLst>
          </p:cNvPr>
          <p:cNvSpPr/>
          <p:nvPr/>
        </p:nvSpPr>
        <p:spPr>
          <a:xfrm>
            <a:off x="377952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B6B3BE19-4383-90FE-3B6B-1766B5B1BCFA}"/>
              </a:ext>
            </a:extLst>
          </p:cNvPr>
          <p:cNvSpPr/>
          <p:nvPr/>
        </p:nvSpPr>
        <p:spPr>
          <a:xfrm>
            <a:off x="5585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4F22AF5-F432-68FF-DCB4-1D89D40D04A7}"/>
              </a:ext>
            </a:extLst>
          </p:cNvPr>
          <p:cNvSpPr/>
          <p:nvPr/>
        </p:nvSpPr>
        <p:spPr>
          <a:xfrm>
            <a:off x="540276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317077CD-EE84-6384-4329-3AE506BE93B6}"/>
              </a:ext>
            </a:extLst>
          </p:cNvPr>
          <p:cNvSpPr/>
          <p:nvPr/>
        </p:nvSpPr>
        <p:spPr>
          <a:xfrm>
            <a:off x="720852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1D4B1F32-4921-DECE-E70C-47EE3A32DB8D}"/>
              </a:ext>
            </a:extLst>
          </p:cNvPr>
          <p:cNvSpPr/>
          <p:nvPr/>
        </p:nvSpPr>
        <p:spPr>
          <a:xfrm>
            <a:off x="7025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4000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D88AD1D-C799-7A67-97B5-BED5B12218CB}"/>
              </a:ext>
            </a:extLst>
          </p:cNvPr>
          <p:cNvSpPr/>
          <p:nvPr/>
        </p:nvSpPr>
        <p:spPr>
          <a:xfrm>
            <a:off x="716280" y="286893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341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肿瘤内科学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CE9E9B68-7DD9-12D1-2D59-3177D927DC6F}"/>
              </a:ext>
            </a:extLst>
          </p:cNvPr>
          <p:cNvSpPr/>
          <p:nvPr/>
        </p:nvSpPr>
        <p:spPr>
          <a:xfrm>
            <a:off x="4553641" y="2890136"/>
            <a:ext cx="1950480" cy="319680"/>
          </a:xfrm>
          <a:prstGeom prst="roundRect">
            <a:avLst>
              <a:gd name="adj" fmla="val 2285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1CFD594A-F18E-BC4B-A4E1-08C9FF95BD11}"/>
              </a:ext>
            </a:extLst>
          </p:cNvPr>
          <p:cNvSpPr/>
          <p:nvPr/>
        </p:nvSpPr>
        <p:spPr>
          <a:xfrm>
            <a:off x="6620640" y="289629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1,700–3,400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C877BB31-7A99-63E0-2694-92C4F97D3151}"/>
              </a:ext>
            </a:extLst>
          </p:cNvPr>
          <p:cNvSpPr/>
          <p:nvPr/>
        </p:nvSpPr>
        <p:spPr>
          <a:xfrm>
            <a:off x="716280" y="362781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342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肿瘤外科学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F57C32CA-2E32-4E2A-B6AF-18333208A790}"/>
              </a:ext>
            </a:extLst>
          </p:cNvPr>
          <p:cNvSpPr/>
          <p:nvPr/>
        </p:nvSpPr>
        <p:spPr>
          <a:xfrm>
            <a:off x="3412320" y="3646171"/>
            <a:ext cx="802800" cy="319680"/>
          </a:xfrm>
          <a:prstGeom prst="roundRect">
            <a:avLst>
              <a:gd name="adj" fmla="val 22857"/>
            </a:avLst>
          </a:prstGeom>
          <a:solidFill>
            <a:srgbClr val="2B9B8F"/>
          </a:solidFill>
          <a:ln w="12700">
            <a:solidFill>
              <a:srgbClr val="2B9B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8920058C-0279-E668-65E6-6415C3AD34BB}"/>
              </a:ext>
            </a:extLst>
          </p:cNvPr>
          <p:cNvSpPr/>
          <p:nvPr/>
        </p:nvSpPr>
        <p:spPr>
          <a:xfrm>
            <a:off x="4325640" y="365517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700–1,400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D9C9A91A-DEE1-EBCC-50A6-D5443C656717}"/>
              </a:ext>
            </a:extLst>
          </p:cNvPr>
          <p:cNvSpPr/>
          <p:nvPr/>
        </p:nvSpPr>
        <p:spPr>
          <a:xfrm>
            <a:off x="716280" y="438669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343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肿瘤放射治疗学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A1B5F6E5-F68F-E96F-C217-6E70E552A268}"/>
              </a:ext>
            </a:extLst>
          </p:cNvPr>
          <p:cNvSpPr/>
          <p:nvPr/>
        </p:nvSpPr>
        <p:spPr>
          <a:xfrm>
            <a:off x="3756840" y="4405051"/>
            <a:ext cx="1147320" cy="319680"/>
          </a:xfrm>
          <a:prstGeom prst="roundRect">
            <a:avLst>
              <a:gd name="adj" fmla="val 22857"/>
            </a:avLst>
          </a:prstGeom>
          <a:solidFill>
            <a:srgbClr val="6C63D9"/>
          </a:solidFill>
          <a:ln w="12700">
            <a:solidFill>
              <a:srgbClr val="6C63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8C30DBE2-D8A8-D4A6-F25E-E25490AC4535}"/>
              </a:ext>
            </a:extLst>
          </p:cNvPr>
          <p:cNvSpPr/>
          <p:nvPr/>
        </p:nvSpPr>
        <p:spPr>
          <a:xfrm>
            <a:off x="5013960" y="441441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1,000–2,000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0F1C6685-DA1A-BB93-D1F0-5981D6F4708A}"/>
              </a:ext>
            </a:extLst>
          </p:cNvPr>
          <p:cNvSpPr/>
          <p:nvPr/>
        </p:nvSpPr>
        <p:spPr>
          <a:xfrm>
            <a:off x="6358200" y="2201491"/>
            <a:ext cx="868320" cy="273960"/>
          </a:xfrm>
          <a:prstGeom prst="roundRect">
            <a:avLst>
              <a:gd name="adj" fmla="val 50000"/>
            </a:avLst>
          </a:prstGeom>
          <a:solidFill>
            <a:srgbClr val="F1F5FA"/>
          </a:solidFill>
          <a:ln w="12700">
            <a:solidFill>
              <a:srgbClr val="F1F5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EB683540-697C-C62E-3240-1505E3BC60A8}"/>
              </a:ext>
            </a:extLst>
          </p:cNvPr>
          <p:cNvSpPr/>
          <p:nvPr/>
        </p:nvSpPr>
        <p:spPr>
          <a:xfrm>
            <a:off x="6510480" y="2249827"/>
            <a:ext cx="1005480" cy="154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单位：人</a:t>
            </a:r>
            <a:r>
              <a:rPr lang="en-US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DAEEEA73-DF36-D034-3917-85CE452CB829}"/>
              </a:ext>
            </a:extLst>
          </p:cNvPr>
          <p:cNvSpPr/>
          <p:nvPr/>
        </p:nvSpPr>
        <p:spPr>
          <a:xfrm>
            <a:off x="7638360" y="1981200"/>
            <a:ext cx="4068720" cy="3857626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0309757B-9445-1C3C-8DA1-6B3C667F0CC7}"/>
              </a:ext>
            </a:extLst>
          </p:cNvPr>
          <p:cNvSpPr/>
          <p:nvPr/>
        </p:nvSpPr>
        <p:spPr>
          <a:xfrm>
            <a:off x="7912680" y="2174131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三种报考比例情景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8C41D3E8-8606-EBEB-1DC1-545F9FA6536E}"/>
              </a:ext>
            </a:extLst>
          </p:cNvPr>
          <p:cNvSpPr/>
          <p:nvPr/>
        </p:nvSpPr>
        <p:spPr>
          <a:xfrm>
            <a:off x="7940040" y="294201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保守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5.0%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D975FD51-4EE8-2475-0FB8-DBBEE32DA06D}"/>
              </a:ext>
            </a:extLst>
          </p:cNvPr>
          <p:cNvSpPr/>
          <p:nvPr/>
        </p:nvSpPr>
        <p:spPr>
          <a:xfrm>
            <a:off x="9558600" y="289629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3,420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5C0D654E-F0E9-4B0B-DD3C-1A01E2B2B8F7}"/>
              </a:ext>
            </a:extLst>
          </p:cNvPr>
          <p:cNvSpPr/>
          <p:nvPr/>
        </p:nvSpPr>
        <p:spPr>
          <a:xfrm>
            <a:off x="10591800" y="296937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20548724-5F0E-AB8E-33E6-19A128635B09}"/>
              </a:ext>
            </a:extLst>
          </p:cNvPr>
          <p:cNvSpPr/>
          <p:nvPr/>
        </p:nvSpPr>
        <p:spPr>
          <a:xfrm>
            <a:off x="7940040" y="367353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中性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7.5%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764BA103-11F4-C57F-79F4-DFCB2F0AD133}"/>
              </a:ext>
            </a:extLst>
          </p:cNvPr>
          <p:cNvSpPr/>
          <p:nvPr/>
        </p:nvSpPr>
        <p:spPr>
          <a:xfrm>
            <a:off x="9558600" y="362781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5,130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9998EC75-691B-45CC-D35B-E43D94253466}"/>
              </a:ext>
            </a:extLst>
          </p:cNvPr>
          <p:cNvSpPr/>
          <p:nvPr/>
        </p:nvSpPr>
        <p:spPr>
          <a:xfrm>
            <a:off x="10591800" y="370089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21EE6E6F-162D-0B06-9C94-9CC631DB23FC}"/>
              </a:ext>
            </a:extLst>
          </p:cNvPr>
          <p:cNvSpPr/>
          <p:nvPr/>
        </p:nvSpPr>
        <p:spPr>
          <a:xfrm>
            <a:off x="7940040" y="440505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积极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10.0%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9A961151-D8F6-0417-0D95-4AD978E40914}"/>
              </a:ext>
            </a:extLst>
          </p:cNvPr>
          <p:cNvSpPr/>
          <p:nvPr/>
        </p:nvSpPr>
        <p:spPr>
          <a:xfrm>
            <a:off x="9558600" y="435933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6,840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B9C87284-0F8D-EB07-FA5D-B9A12DA42969}"/>
              </a:ext>
            </a:extLst>
          </p:cNvPr>
          <p:cNvSpPr/>
          <p:nvPr/>
        </p:nvSpPr>
        <p:spPr>
          <a:xfrm>
            <a:off x="10591800" y="443241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FD27F586-FB43-B72B-C18A-346AF3894712}"/>
              </a:ext>
            </a:extLst>
          </p:cNvPr>
          <p:cNvSpPr/>
          <p:nvPr/>
        </p:nvSpPr>
        <p:spPr>
          <a:xfrm>
            <a:off x="7905750" y="5172075"/>
            <a:ext cx="3495675" cy="571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底数约6.8万：2023年肿瘤科执业医师
年鉴表2-3-3、2-3-6；详见来源页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619125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TARGET SEGMENTS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10287000" cy="552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102744"/>
                </a:solidFill>
                <a:latin typeface="Microsoft YaHei"/>
              </a:rPr>
              <a:t>依托肿瘤医生现有积累，拓展三个中级专业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6205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把专科内容与病例学习经验，延伸到肿瘤职称备考。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现有用户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通过肿瘤医生APP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触达潜在备考人群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875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专科内容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3875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CSCO指南与TNM内容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支撑考点理解与依据查找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435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病例积累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435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大查房、影像与病例题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支撑具体场景中的判断练习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1908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419475"/>
            <a:ext cx="104775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本次市场分析范围：中级职称，三个专业同步推进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90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 dirty="0">
                <a:solidFill>
                  <a:srgbClr val="2F66E8"/>
                </a:solidFill>
                <a:latin typeface="Microsoft YaHei"/>
              </a:rPr>
              <a:t>341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070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肿瘤内科学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3875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4375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1175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肿瘤外科学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435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485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165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肿瘤放射治疗学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219700"/>
            <a:ext cx="1112520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 dirty="0" err="1">
                <a:solidFill>
                  <a:srgbClr val="6F84A0"/>
                </a:solidFill>
                <a:latin typeface="Microsoft YaHei"/>
              </a:rPr>
              <a:t>高级职称暂不纳入本次分析</a:t>
            </a:r>
            <a:endParaRPr sz="135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3400" y="5724525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3425" y="5895975"/>
            <a:ext cx="1076325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项目基础：已有用户渠道、指南与分期内容，以及可用于场景学习的大查房积累。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02 / 12">
            <a:extLst>
              <a:ext uri="{FF2B5EF4-FFF2-40B4-BE49-F238E27FC236}">
                <a16:creationId xmlns:a16="http://schemas.microsoft.com/office/drawing/2014/main" id="{08E88A64-D63E-FF61-F380-8379B83865FC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EXAM STRUCTURE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四科分别备考；题型作为参考，适用年度与专业范围待核实。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05 / 15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1308930408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100道  单选题（A1/A2）、共用题干单选题（A3/A4）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；题量不固定；多选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800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57863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CASE-BASED EXAM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案例分析题型参考（人卫智网考试规则说明）；当年对应专业的具体规则另行核对。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2227" y="3270486"/>
            <a:ext cx="5286373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 dirty="0" err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</a:t>
            </a:r>
            <a:r>
              <a:rPr sz="1725" b="1" dirty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24" name="06">
            <a:extLst>
              <a:ext uri="{FF2B5EF4-FFF2-40B4-BE49-F238E27FC236}">
                <a16:creationId xmlns:a16="http://schemas.microsoft.com/office/drawing/2014/main" id="{3177B73E-55CD-4250-6A1F-FA7651EA8C3C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06</a:t>
            </a:r>
          </a:p>
        </p:txBody>
      </p:sp>
      <p:sp>
        <p:nvSpPr>
          <p:cNvPr id="25" name="02 / 12">
            <a:extLst>
              <a:ext uri="{FF2B5EF4-FFF2-40B4-BE49-F238E27FC236}">
                <a16:creationId xmlns:a16="http://schemas.microsoft.com/office/drawing/2014/main" id="{11370EC9-7681-F089-03CC-5B74E57BD17E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06 / 15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99859525-D51C-0C3D-CFC8-529247E99FCE}"/>
              </a:ext>
            </a:extLst>
          </p:cNvPr>
          <p:cNvSpPr/>
          <p:nvPr/>
        </p:nvSpPr>
        <p:spPr>
          <a:xfrm>
            <a:off x="504827" y="3276600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7599" y="3505200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 dirty="0" err="1">
                <a:solidFill>
                  <a:srgbClr val="102744"/>
                </a:solidFill>
                <a:latin typeface="Microsoft YaHei"/>
              </a:rPr>
              <a:t>怎样计分：先区分选项性质</a:t>
            </a:r>
            <a:endParaRPr sz="19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7599" y="3962400"/>
            <a:ext cx="5524500" cy="1457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普通正确选项：选中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+1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关键选项：选中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+2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错误选项：选中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−1；无关选项：0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802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用户证据①｜第四科：多选策略高度不确定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500"/>
              </a:spcAft>
            </a:pPr>
            <a:endParaRPr sz="240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07 / 15</a:t>
            </a:r>
          </a:p>
        </p:txBody>
      </p:sp>
      <p:pic>
        <p:nvPicPr>
          <p:cNvPr id="8" name="原图2裁剪_40_15_1405_1010" descr="img_v3_0215l_db74811d-78b0-4cc4-b41f-a9f0e3b9e7dg.jpg"/>
          <p:cNvPicPr>
            <a:picLocks noChangeAspect="1"/>
          </p:cNvPicPr>
          <p:nvPr/>
        </p:nvPicPr>
        <p:blipFill>
          <a:blip r:embed="rId3"/>
          <a:srcRect l="2778" t="1468" r="2431" b="1174"/>
          <a:stretch>
            <a:fillRect/>
          </a:stretch>
        </p:blipFill>
        <p:spPr>
          <a:xfrm>
            <a:off x="533400" y="1403890"/>
            <a:ext cx="4669923" cy="3404083"/>
          </a:xfrm>
          <a:prstGeom prst="round2DiagRect">
            <a:avLst/>
          </a:prstGeom>
        </p:spPr>
      </p:pic>
      <p:pic>
        <p:nvPicPr>
          <p:cNvPr id="9" name="原图6裁剪_40_15_1405_680" descr="img_v3_0215l_eb3c8fe2-3ad2-4c10-93cc-75c8dcf6f97g.jpg"/>
          <p:cNvPicPr>
            <a:picLocks noChangeAspect="1"/>
          </p:cNvPicPr>
          <p:nvPr/>
        </p:nvPicPr>
        <p:blipFill>
          <a:blip r:embed="rId4"/>
          <a:srcRect l="2778" t="2177" r="2431" b="1306"/>
          <a:stretch>
            <a:fillRect/>
          </a:stretch>
        </p:blipFill>
        <p:spPr>
          <a:xfrm>
            <a:off x="6299340" y="1333424"/>
            <a:ext cx="4904212" cy="2389231"/>
          </a:xfrm>
          <a:prstGeom prst="round2DiagRect">
            <a:avLst/>
          </a:prstGeom>
        </p:spPr>
      </p:pic>
      <p:pic>
        <p:nvPicPr>
          <p:cNvPr id="11" name="原图7裁剪_40_20_1405_705" descr="img_v3_0215l_5e99037b-e0be-451a-93c5-013e508009bg.jpg">
            <a:extLst>
              <a:ext uri="{FF2B5EF4-FFF2-40B4-BE49-F238E27FC236}">
                <a16:creationId xmlns:a16="http://schemas.microsoft.com/office/drawing/2014/main" id="{AD25E8C6-DC85-F6A8-9A5D-A7209A78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8" t="1366" r="2431" b="51844"/>
          <a:stretch>
            <a:fillRect/>
          </a:stretch>
        </p:blipFill>
        <p:spPr>
          <a:xfrm>
            <a:off x="6362700" y="3906316"/>
            <a:ext cx="4904212" cy="2461088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4D124C1A-AAE9-A8E8-D3A3-4870CD67CBB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07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30AC2F4-0B5F-8B47-4554-A6EB9908ECD6}"/>
              </a:ext>
            </a:extLst>
          </p:cNvPr>
          <p:cNvSpPr/>
          <p:nvPr/>
        </p:nvSpPr>
        <p:spPr>
          <a:xfrm>
            <a:off x="3863040" y="1510019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D03897B-9B21-276F-9810-A8EFE2E80779}"/>
              </a:ext>
            </a:extLst>
          </p:cNvPr>
          <p:cNvSpPr/>
          <p:nvPr/>
        </p:nvSpPr>
        <p:spPr>
          <a:xfrm>
            <a:off x="3936120" y="1613883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多选数量不确定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6AC3245-235F-77D7-F7E1-2390E20935C7}"/>
              </a:ext>
            </a:extLst>
          </p:cNvPr>
          <p:cNvSpPr/>
          <p:nvPr/>
        </p:nvSpPr>
        <p:spPr>
          <a:xfrm>
            <a:off x="9863668" y="1457090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8D1C966-0313-C6BE-ACD7-2634E7F6CA33}"/>
              </a:ext>
            </a:extLst>
          </p:cNvPr>
          <p:cNvSpPr/>
          <p:nvPr/>
        </p:nvSpPr>
        <p:spPr>
          <a:xfrm>
            <a:off x="9936748" y="1559003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最后一科压力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用户证据②｜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TNM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：最容易卡在“怎么分期、怎么应用”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3裁剪_10_0_538_522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r="1825" b="45511"/>
          <a:stretch>
            <a:fillRect/>
          </a:stretch>
        </p:blipFill>
        <p:spPr>
          <a:xfrm>
            <a:off x="609600" y="1333500"/>
            <a:ext cx="5029200" cy="4972050"/>
          </a:xfrm>
          <a:prstGeom prst="round2DiagRect">
            <a:avLst/>
          </a:prstGeom>
        </p:spPr>
      </p:pic>
      <p:pic>
        <p:nvPicPr>
          <p:cNvPr id="9" name="原图3裁剪_10_527_538_958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t="55010" r="1825"/>
          <a:stretch>
            <a:fillRect/>
          </a:stretch>
        </p:blipFill>
        <p:spPr>
          <a:xfrm>
            <a:off x="6362700" y="1333500"/>
            <a:ext cx="5029200" cy="4105275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88592C1D-B7EE-CE73-363D-ED814C096715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08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9C95A9DF-7349-1BA1-4DC2-0EA1FADD01D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08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649C2F-996C-F9BD-1587-66A8E421D48E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D41BF1C-4E57-4FF7-E98B-FB788D89BE2F}"/>
              </a:ext>
            </a:extLst>
          </p:cNvPr>
          <p:cNvSpPr/>
          <p:nvPr/>
        </p:nvSpPr>
        <p:spPr>
          <a:xfrm>
            <a:off x="3936120" y="1471008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CE74659-E8AA-F7F4-7D35-21E5DE344D59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TNM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分期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综合判断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用户证据③｜指南：考生会主动寻找 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CSCO 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作为判断依据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1裁剪_40_20_1405_1270" descr="img_v3_0215l_c2398879-19b9-41b8-b1fe-c4ca63e164ag.jpg"/>
          <p:cNvPicPr>
            <a:picLocks noChangeAspect="1"/>
          </p:cNvPicPr>
          <p:nvPr/>
        </p:nvPicPr>
        <p:blipFill>
          <a:blip r:embed="rId3"/>
          <a:srcRect l="2778" t="1562" r="2431" b="781"/>
          <a:stretch>
            <a:fillRect/>
          </a:stretch>
        </p:blipFill>
        <p:spPr>
          <a:xfrm>
            <a:off x="533400" y="1333500"/>
            <a:ext cx="5330666" cy="4881562"/>
          </a:xfrm>
          <a:prstGeom prst="round2DiagRect">
            <a:avLst/>
          </a:prstGeom>
        </p:spPr>
      </p:pic>
      <p:pic>
        <p:nvPicPr>
          <p:cNvPr id="9" name="原图4裁剪_40_20_1405_1210" descr="img_v3_0215l_d479295a-ae7e-4307-a9c0-8bb3af31e48g.jpg"/>
          <p:cNvPicPr>
            <a:picLocks noChangeAspect="1"/>
          </p:cNvPicPr>
          <p:nvPr/>
        </p:nvPicPr>
        <p:blipFill>
          <a:blip r:embed="rId4"/>
          <a:srcRect l="2778" t="1633" r="2431" b="1224"/>
          <a:stretch>
            <a:fillRect/>
          </a:stretch>
        </p:blipFill>
        <p:spPr>
          <a:xfrm>
            <a:off x="6286500" y="1333500"/>
            <a:ext cx="5330666" cy="4647247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0FA46A9-93AB-3B6D-7D7D-1F69085D86D9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09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E0A2D1DD-FD3B-9607-1EB2-04FB4EDD8CA2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09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144A44-6B78-915F-8728-215A84081DCF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0E6FAF2-3A7A-5E38-6C3E-034F34EDE104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找资料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找依据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B97F3BF-53E2-9473-5DD7-AF1DA24AC21F}"/>
              </a:ext>
            </a:extLst>
          </p:cNvPr>
          <p:cNvSpPr/>
          <p:nvPr/>
        </p:nvSpPr>
        <p:spPr>
          <a:xfrm>
            <a:off x="9476023" y="141922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881676F-393B-6386-592F-2A036B7DB2FD}"/>
              </a:ext>
            </a:extLst>
          </p:cNvPr>
          <p:cNvSpPr/>
          <p:nvPr/>
        </p:nvSpPr>
        <p:spPr>
          <a:xfrm>
            <a:off x="9591455" y="152308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背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CSCO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指南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用户证据④｜题库：用户关心的不是“有没有题”，而是“题是否有效”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5裁剪_40_20_1405_103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804" r="2431" b="58585"/>
          <a:stretch>
            <a:fillRect/>
          </a:stretch>
        </p:blipFill>
        <p:spPr>
          <a:xfrm>
            <a:off x="533400" y="1333500"/>
            <a:ext cx="4477759" cy="3313213"/>
          </a:xfrm>
          <a:prstGeom prst="round2DiagRect">
            <a:avLst/>
          </a:prstGeom>
        </p:spPr>
      </p:pic>
      <p:pic>
        <p:nvPicPr>
          <p:cNvPr id="9" name="原图5裁剪_40_1040_1405_14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41817" r="2431" b="41697"/>
          <a:stretch>
            <a:fillRect/>
          </a:stretch>
        </p:blipFill>
        <p:spPr>
          <a:xfrm>
            <a:off x="6286500" y="1333500"/>
            <a:ext cx="4477759" cy="1344967"/>
          </a:xfrm>
          <a:prstGeom prst="round2DiagRect">
            <a:avLst/>
          </a:prstGeom>
        </p:spPr>
      </p:pic>
      <p:pic>
        <p:nvPicPr>
          <p:cNvPr id="10" name="原图5裁剪_40_1510_1405_23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60716" r="2431" b="5509"/>
          <a:stretch>
            <a:fillRect/>
          </a:stretch>
        </p:blipFill>
        <p:spPr>
          <a:xfrm>
            <a:off x="6286500" y="2765679"/>
            <a:ext cx="4477759" cy="2755544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5F6E75F-14E3-7C76-3F68-B4CFDCA1DE0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10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0B75F0C7-7BA5-975A-89F7-261A1F9B234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10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8601AC-F58C-41DF-54E6-757C8E594CF5}"/>
              </a:ext>
            </a:extLst>
          </p:cNvPr>
          <p:cNvSpPr/>
          <p:nvPr/>
        </p:nvSpPr>
        <p:spPr>
          <a:xfrm>
            <a:off x="3437899" y="1469535"/>
            <a:ext cx="1486525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63075E7-F1C4-C790-57B2-5E8E80ECF32D}"/>
              </a:ext>
            </a:extLst>
          </p:cNvPr>
          <p:cNvSpPr/>
          <p:nvPr/>
        </p:nvSpPr>
        <p:spPr>
          <a:xfrm>
            <a:off x="3437898" y="1536836"/>
            <a:ext cx="1486525" cy="2940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题库选择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339EB2F3-DFFB-8E43-DA08-F36E38CB51E0}"/>
              </a:ext>
            </a:extLst>
          </p:cNvPr>
          <p:cNvSpPr/>
          <p:nvPr/>
        </p:nvSpPr>
        <p:spPr>
          <a:xfrm>
            <a:off x="533400" y="5743575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4588B192-AC88-2F4F-122B-C4D00722FC46}"/>
              </a:ext>
            </a:extLst>
          </p:cNvPr>
          <p:cNvSpPr txBox="1"/>
          <p:nvPr/>
        </p:nvSpPr>
        <p:spPr>
          <a:xfrm>
            <a:off x="733425" y="5895975"/>
            <a:ext cx="1066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1725" b="1" dirty="0">
                <a:solidFill>
                  <a:srgbClr val="FFFFFF"/>
                </a:solidFill>
                <a:latin typeface="Microsoft YaHei"/>
              </a:rPr>
              <a:t>需求线索：考生需要有效练习与清晰依据，能否形成付费意愿值得验证。</a:t>
            </a:r>
            <a:endParaRPr lang="en-US" altLang="zh-C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8572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NEED SYNTHESIS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6750"/>
            <a:ext cx="10287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病例分析侧重临床判断，备考需要理解与应用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620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5734050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5895975"/>
            <a:ext cx="10744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备考需求：从记住知识点，进一步到看懂病例、比较方案、解释选择依据。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C11369EB-0131-92DC-8CB5-04860E63ED0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11 / 15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D07F641-E55D-19A3-1DB4-D070C03DB325}"/>
              </a:ext>
            </a:extLst>
          </p:cNvPr>
          <p:cNvSpPr/>
          <p:nvPr/>
        </p:nvSpPr>
        <p:spPr>
          <a:xfrm>
            <a:off x="79872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判断任务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48C74AF-547D-793C-FE2B-4FEDD14C9892}"/>
              </a:ext>
            </a:extLst>
          </p:cNvPr>
          <p:cNvSpPr/>
          <p:nvPr/>
        </p:nvSpPr>
        <p:spPr>
          <a:xfrm>
            <a:off x="381624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病例中的信息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1861B80-6595-A968-5A02-B7411EE5C709}"/>
              </a:ext>
            </a:extLst>
          </p:cNvPr>
          <p:cNvSpPr/>
          <p:nvPr/>
        </p:nvSpPr>
        <p:spPr>
          <a:xfrm>
            <a:off x="7638360" y="160680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用户需要的学习支持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99085564-8D9D-9CED-7D2D-25514D7DE73C}"/>
              </a:ext>
            </a:extLst>
          </p:cNvPr>
          <p:cNvSpPr/>
          <p:nvPr/>
        </p:nvSpPr>
        <p:spPr>
          <a:xfrm>
            <a:off x="533400" y="18717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E9EF30E-3DFF-6A7D-4AF5-9EC2CB009324}"/>
              </a:ext>
            </a:extLst>
          </p:cNvPr>
          <p:cNvSpPr/>
          <p:nvPr/>
        </p:nvSpPr>
        <p:spPr>
          <a:xfrm>
            <a:off x="743640" y="21003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0530ABA-5681-2C41-C2B4-979592464925}"/>
              </a:ext>
            </a:extLst>
          </p:cNvPr>
          <p:cNvSpPr/>
          <p:nvPr/>
        </p:nvSpPr>
        <p:spPr>
          <a:xfrm>
            <a:off x="816720" y="21370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9CDFD12-2CB9-95CA-49A9-A90BF10928CD}"/>
              </a:ext>
            </a:extLst>
          </p:cNvPr>
          <p:cNvSpPr/>
          <p:nvPr/>
        </p:nvSpPr>
        <p:spPr>
          <a:xfrm>
            <a:off x="1402080" y="20901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综合分析病例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3802DB0-8856-2EE6-8A49-650477711060}"/>
              </a:ext>
            </a:extLst>
          </p:cNvPr>
          <p:cNvSpPr/>
          <p:nvPr/>
        </p:nvSpPr>
        <p:spPr>
          <a:xfrm>
            <a:off x="3825240" y="20810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病史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影像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病理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1E9CE31B-4933-94AE-AC66-8DA73450A8B7}"/>
              </a:ext>
            </a:extLst>
          </p:cNvPr>
          <p:cNvSpPr/>
          <p:nvPr/>
        </p:nvSpPr>
        <p:spPr>
          <a:xfrm>
            <a:off x="6842760" y="21277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A968A2E-BC30-A62D-6C86-E840DFF6164A}"/>
              </a:ext>
            </a:extLst>
          </p:cNvPr>
          <p:cNvSpPr/>
          <p:nvPr/>
        </p:nvSpPr>
        <p:spPr>
          <a:xfrm>
            <a:off x="7620000" y="19815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提取关键线索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串联检查结果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1BB1BCD-15D7-1EE2-FB19-A521DC9E5177}"/>
              </a:ext>
            </a:extLst>
          </p:cNvPr>
          <p:cNvSpPr/>
          <p:nvPr/>
        </p:nvSpPr>
        <p:spPr>
          <a:xfrm>
            <a:off x="533400" y="27771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0294CC3C-1DB8-8A54-6A0C-48FBB7026DB4}"/>
              </a:ext>
            </a:extLst>
          </p:cNvPr>
          <p:cNvSpPr/>
          <p:nvPr/>
        </p:nvSpPr>
        <p:spPr>
          <a:xfrm>
            <a:off x="743640" y="30057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B03F59B-779B-73AF-AF00-1D5F0E58DC58}"/>
              </a:ext>
            </a:extLst>
          </p:cNvPr>
          <p:cNvSpPr/>
          <p:nvPr/>
        </p:nvSpPr>
        <p:spPr>
          <a:xfrm>
            <a:off x="816720" y="3042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450B22D-190D-D557-A9DE-240CB49A79B2}"/>
              </a:ext>
            </a:extLst>
          </p:cNvPr>
          <p:cNvSpPr/>
          <p:nvPr/>
        </p:nvSpPr>
        <p:spPr>
          <a:xfrm>
            <a:off x="1402080" y="29955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辨别治疗方案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6F4B034A-96CB-07D1-8742-64C6D21E4E69}"/>
              </a:ext>
            </a:extLst>
          </p:cNvPr>
          <p:cNvSpPr/>
          <p:nvPr/>
        </p:nvSpPr>
        <p:spPr>
          <a:xfrm>
            <a:off x="3825240" y="29864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分期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分型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既往治疗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8960083E-D615-DB6F-0115-EFE208B5BCC7}"/>
              </a:ext>
            </a:extLst>
          </p:cNvPr>
          <p:cNvSpPr/>
          <p:nvPr/>
        </p:nvSpPr>
        <p:spPr>
          <a:xfrm>
            <a:off x="6842760" y="30331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5E2C6D21-E19E-60A4-DF72-E8B1EF1AA484}"/>
              </a:ext>
            </a:extLst>
          </p:cNvPr>
          <p:cNvSpPr/>
          <p:nvPr/>
        </p:nvSpPr>
        <p:spPr>
          <a:xfrm>
            <a:off x="7620000" y="28869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理解治疗顺序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比较适用条件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41254AB8-B745-F951-332E-4405D463FE3D}"/>
              </a:ext>
            </a:extLst>
          </p:cNvPr>
          <p:cNvSpPr/>
          <p:nvPr/>
        </p:nvSpPr>
        <p:spPr>
          <a:xfrm>
            <a:off x="533400" y="36822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F6D1BBE3-C1CE-6E1A-F691-78CE3376D74B}"/>
              </a:ext>
            </a:extLst>
          </p:cNvPr>
          <p:cNvSpPr/>
          <p:nvPr/>
        </p:nvSpPr>
        <p:spPr>
          <a:xfrm>
            <a:off x="743640" y="39108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FFF3E5"/>
          </a:solidFill>
          <a:ln w="12700">
            <a:solidFill>
              <a:srgbClr val="FFF3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E9E34217-AF07-CFF9-BDCF-0E877B9178E2}"/>
              </a:ext>
            </a:extLst>
          </p:cNvPr>
          <p:cNvSpPr/>
          <p:nvPr/>
        </p:nvSpPr>
        <p:spPr>
          <a:xfrm>
            <a:off x="816720" y="39475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33387694-6456-7CA0-A38C-BF9144136603}"/>
              </a:ext>
            </a:extLst>
          </p:cNvPr>
          <p:cNvSpPr/>
          <p:nvPr/>
        </p:nvSpPr>
        <p:spPr>
          <a:xfrm>
            <a:off x="1402080" y="39006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识别并发症 </a:t>
            </a:r>
            <a:r>
              <a:rPr lang="en-US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不良反应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B38D4A1C-2865-10EC-D6BC-A34205BAFFD1}"/>
              </a:ext>
            </a:extLst>
          </p:cNvPr>
          <p:cNvSpPr/>
          <p:nvPr/>
        </p:nvSpPr>
        <p:spPr>
          <a:xfrm>
            <a:off x="3825240" y="38914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症状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检查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用药史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C43C9111-5E4D-9085-6F80-51664C94BACA}"/>
              </a:ext>
            </a:extLst>
          </p:cNvPr>
          <p:cNvSpPr/>
          <p:nvPr/>
        </p:nvSpPr>
        <p:spPr>
          <a:xfrm>
            <a:off x="6842760" y="39385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38699ED1-5FC0-BB1C-CA2E-D7D8478731A4}"/>
              </a:ext>
            </a:extLst>
          </p:cNvPr>
          <p:cNvSpPr/>
          <p:nvPr/>
        </p:nvSpPr>
        <p:spPr>
          <a:xfrm>
            <a:off x="7620000" y="37920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掌握鉴别依据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 </a:t>
            </a: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梳理易错点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55B0A63A-706D-F86C-CACF-C1C26AF721A3}"/>
              </a:ext>
            </a:extLst>
          </p:cNvPr>
          <p:cNvSpPr/>
          <p:nvPr/>
        </p:nvSpPr>
        <p:spPr>
          <a:xfrm>
            <a:off x="533400" y="45876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F6E8EEEA-4DBB-0013-7E23-32332EAD8894}"/>
              </a:ext>
            </a:extLst>
          </p:cNvPr>
          <p:cNvSpPr/>
          <p:nvPr/>
        </p:nvSpPr>
        <p:spPr>
          <a:xfrm>
            <a:off x="743640" y="48162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FEEFF"/>
          </a:solidFill>
          <a:ln w="12700">
            <a:solidFill>
              <a:srgbClr val="EFE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65203E95-533D-9703-AC3D-1268F596DB06}"/>
              </a:ext>
            </a:extLst>
          </p:cNvPr>
          <p:cNvSpPr/>
          <p:nvPr/>
        </p:nvSpPr>
        <p:spPr>
          <a:xfrm>
            <a:off x="816720" y="48529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0DCE259F-468C-96D8-ECE7-86E6CA21FD5A}"/>
              </a:ext>
            </a:extLst>
          </p:cNvPr>
          <p:cNvSpPr/>
          <p:nvPr/>
        </p:nvSpPr>
        <p:spPr>
          <a:xfrm>
            <a:off x="1402080" y="48060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排除相似选项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58B7E4C-A1E2-42BE-4215-9F4C28E36897}"/>
              </a:ext>
            </a:extLst>
          </p:cNvPr>
          <p:cNvSpPr/>
          <p:nvPr/>
        </p:nvSpPr>
        <p:spPr>
          <a:xfrm>
            <a:off x="3825240" y="47968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多个选项看似合理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9604094C-076B-4F66-80D0-3B959D073A3D}"/>
              </a:ext>
            </a:extLst>
          </p:cNvPr>
          <p:cNvSpPr/>
          <p:nvPr/>
        </p:nvSpPr>
        <p:spPr>
          <a:xfrm>
            <a:off x="6842760" y="484356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DE9F4790-E03F-919E-D1F3-7A65E1F2176C}"/>
              </a:ext>
            </a:extLst>
          </p:cNvPr>
          <p:cNvSpPr/>
          <p:nvPr/>
        </p:nvSpPr>
        <p:spPr>
          <a:xfrm>
            <a:off x="7620000" y="46974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解释为何选 </a:t>
            </a:r>
            <a:r>
              <a:rPr lang="en-US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不选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把知识用于判断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>
                <a:solidFill>
                  <a:srgbClr val="102744"/>
                </a:solidFill>
                <a:latin typeface="Microsoft YaHei"/>
              </a:rPr>
              <a:t>题库与课程之外，以专科内容形成差异化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12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1790700"/>
          <a:ext cx="11125200" cy="3733800"/>
        </p:xfrm>
        <a:graphic>
          <a:graphicData uri="http://schemas.openxmlformats.org/drawingml/2006/table">
            <a:tbl>
              <a:tblPr first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分组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对比内容</a:t>
                      </a:r>
                      <a:endParaRPr sz="1450" b="1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阿虎医考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考试宝典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蓝基因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圣才电子书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医考帮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医考GO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基础内容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题库练习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AI解析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100" b="0" dirty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相关备考课程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 dirty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 dirty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专科内容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CSCO指南及解读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TNM分期专项内容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病例实战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大查房病例解析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 dirty="0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3400" y="6200775"/>
            <a:ext cx="11125200" cy="3048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229350"/>
            <a:ext cx="10801350" cy="257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02744"/>
                </a:solidFill>
                <a:latin typeface="Microsoft YaHei"/>
              </a:rPr>
              <a:t>内容优势：把指南依据、分期条件与病例实战连起来，帮助考生理解判断过程。</a:t>
            </a:r>
          </a:p>
        </p:txBody>
      </p:sp>
    </p:spTree>
    <p:extLst>
      <p:ext uri="{BB962C8B-B14F-4D97-AF65-F5344CB8AC3E}">
        <p14:creationId xmlns:p14="http://schemas.microsoft.com/office/powerpoint/2010/main" val="694165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392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 dirty="0" err="1">
                <a:solidFill>
                  <a:srgbClr val="102744"/>
                </a:solidFill>
                <a:latin typeface="Microsoft YaHei"/>
              </a:rPr>
              <a:t>题库</a:t>
            </a:r>
            <a:r>
              <a:rPr lang="zh-CN" altLang="en-US" sz="2550" b="1" dirty="0">
                <a:solidFill>
                  <a:srgbClr val="102744"/>
                </a:solidFill>
                <a:latin typeface="Microsoft YaHei"/>
              </a:rPr>
              <a:t>价格</a:t>
            </a:r>
            <a:endParaRPr sz="25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13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696626"/>
              </p:ext>
            </p:extLst>
          </p:nvPr>
        </p:nvGraphicFramePr>
        <p:xfrm>
          <a:off x="533400" y="1790700"/>
          <a:ext cx="9742410" cy="4029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竞品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商品与适用范围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报告记录价格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考试宝典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精品题库班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168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阿虎医考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精选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VIP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题库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128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医考帮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无精选题库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0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蓝基因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西医主治全题目通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58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圣才电子书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题库单买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58/68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342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）</a:t>
                      </a: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/58  VIP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半年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128 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年度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198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61067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33400" y="5981700"/>
            <a:ext cx="11125200" cy="43815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900" y="6076950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75" b="1">
                <a:solidFill>
                  <a:srgbClr val="102744"/>
                </a:solidFill>
                <a:latin typeface="Microsoft YaHei"/>
              </a:rPr>
              <a:t>定价启示：先明确专业、内容与服务权益，再验证指南和病例学习能否带来购买意愿。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CONCLUSION &amp; ACTION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以指南、TNM与病例实战</a:t>
            </a:r>
            <a:r>
              <a:rPr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</a:t>
            </a: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切入肿瘤职称备考市场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用户评论提供了明确线索：资料需要整合，分期需要理解，病例题需要有依据地判断。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14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聚焦341、342、343中需要补强分期与病例判断的考生。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</a:rPr>
              <a:t>本次调研未见竞品提供341/342/343专科指南、TNM专项与病例场景内容。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以指南和TNM解释判断依据，以大查房提供真实病例学习场景。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主要通过小程序承接购买，验证付费意愿；价格与权益待定。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不与竞品单纯拼题库，而是用指南、</a:t>
            </a:r>
            <a:r>
              <a:rPr lang="en-US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TNM </a:t>
            </a: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和病例实战建立差异化，先从现有用户中验证需求和付费意愿。</a:t>
            </a:r>
            <a:endParaRPr sz="18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>
                <a:solidFill>
                  <a:srgbClr val="102744"/>
                </a:solidFill>
                <a:latin typeface="Microsoft YaHei"/>
              </a:rPr>
              <a:t>数据来源与口径说明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81100"/>
            <a:ext cx="11125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来源整理自本次提供的核实报告；考试规则、统计数据与竞品快照分开列示。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15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1790700"/>
          <a:ext cx="111252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数据／说法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来源与适用口径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专业代码与共用试卷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国家卫生健康委人才交流服务中心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《卫生专业技术资格考试主亚专业设置目录（西医类）》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每科90分钟；同专业两年滚动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青岛市人社局2026年度卫生专业技术资格考试通知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发布日期：2025-12-04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案例分析题规则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人卫智网主治医师考试评分规则说明（2025-07-18）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适用专业及年度按对应考试说明核对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2025年末执业（助理）医师530.6万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《2025年我国卫生健康事业发展统计公报》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报告记录发布日期：2026-08-28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肿瘤科执业医师约6.8万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《中国卫生健康统计年鉴》2023年数据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报告测算：401.0万 × 1.7%（表2-3-3、2-3-6）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竞品内容与价格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各竞品官网、应用介绍及销售页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报告记录日期：2026-09-20；核查链接见本页备注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5895975"/>
            <a:ext cx="11125200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516780"/>
                </a:solidFill>
                <a:latin typeface="Microsoft YaHei"/>
              </a:rPr>
              <a:t>市场口径：医师存量不等于当年报考人数；5%–10%为情景假设。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16780"/>
                </a:solidFill>
                <a:latin typeface="Microsoft YaHei"/>
              </a:rPr>
              <a:t>全国年度报名规模缺少公开权威统计；分专业拆分仍属估算。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1631</Words>
  <Application>Microsoft Office PowerPoint</Application>
  <DocSecurity>0</DocSecurity>
  <PresentationFormat>宽屏</PresentationFormat>
  <Paragraphs>336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CJK SC</vt:lpstr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41</cp:revision>
  <dcterms:created xsi:type="dcterms:W3CDTF">2026-09-17T03:47:42Z</dcterms:created>
  <dcterms:modified xsi:type="dcterms:W3CDTF">2026-09-20T10:29:32Z</dcterms:modified>
</cp:coreProperties>
</file>