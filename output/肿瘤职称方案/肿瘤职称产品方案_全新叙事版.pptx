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341 肿瘤内科学  ·  342 肿瘤外科学  ·  343 肿瘤放射治疗学。职考 Go · 中级职称拓展。把肿瘤职称备考做成能理解的学习过程。三个专业同步接入，先验证学习价值。产品方案  /  2026.09。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专业同步上线，先验证学习价值。已确认：三专业同步上线、接入现有小程序；收费方式未定。341。肿瘤内科学。342。肿瘤外科学。343。肿瘤放射治疗学。为何值得验证。复用现有学习流程和触达渠道，评估能否帮助目标考生更好理解与复习。先回答。有多少真实备考用户？是否愿意持续使用？新增投入是否值得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考试结构决定内容组织方式。官方口径以适用年度文件为准；下方制度信息采用2026年依据，来源见第16页。三个专业的内容组织。共用试卷。基础知识相关专业知识。按专业核对考纲。专业知识专业实践能力。4 科机考。每科90分钟。各科60分。合格标准。2 年滚动。同专业成绩管理。官方来源：2026年考生须知 https://www.21wecan.com/wsrcw/c100193/202511/1002760.shtml 。共用试卷专业目录 https://www.21wecan.com/wsrcw/c100193/202208/1d3cddb94d034000a0e8a4178b8f92a6.shtml 。官方考务通知 https://www.huaihua.gov.cn/wsjkw/c100587/202512/73a23312619d4460a3685c7cd0e0645c.shtml 。试题著作权声明 https://www.21wecan.com/wsrcw/c100193/202604/1002959.shtml 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调研线索变成可验证的需求。来源：用户提供的机构销售沟通截图，主要讨论肿瘤内科；尚未完成考生访谈验证。截图能提示问题，但不能证明发生频率或考试占比。01。知识分散。跨学科知识如何串起来？。02。分期易混。条件变化后为什么选不同方案？。03。病例判断。哪些证据真正影响选项？。04。药物记忆。相似知识如何辨别并长期记住？。这些是待验证的备考任务，不是三个专业已证实的共同痛点。这些是从机构沟通中整理的需求线索及产品设计建议，尚未通过考生访谈和使用验证，也不代表三个专业均有同样问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做对一道题，到解释为什么。产品建议：先验证这条学习路径，再决定增强功能的投入。做一道题。暴露疑问定位相关考点。解释依据。理解正确选项理解排除理由。对照易混点。比较条件差异形成知识关联。换题复测。检查理解迁移安排后续复习。要验证的结果：换了病例条件，仍能解释自己的判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期与方案：训练辨别条件的能力。产品建议与教学结构示意；具体癌种、分期版本和治疗内容须按考纲及教研审核确定。分期辨析。先看清条件，再比较结论。条件提取。病理、分期、关键限制条件。并列对照。相似条件下的区别与适用边界。变式练习。改变一个条件，再判断一次。验证：能否说清差异，而非只记住原题答案。这些是从机构沟通中整理的需求线索及产品设计建议，尚未通过考生访谈和使用验证，也不代表三个专业均有同样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病例题：把判断依据讲清楚。产品建议：案例练习与正式考试模拟分开；题量、计分及回退规则尚待官方材料确认。病例资料。病史与检查影像与病理信息影响判断的条件。按具体题目提供所需资料。题目解析应回答三个问题。抓住什么？。指出本题关键条件及相关考点。为什么选？。解释正确项与其他选项的差异。换条件呢？。用经审核的新题检查理解。这些是从机构沟通中整理的需求线索及产品设计建议，尚未通过考生访谈和使用验证，也不代表三个专业均有同样问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药物知识：组织成可复习的关系。产品建议：药物知识按适用考纲和参考版本建设，不把临床新指南自动等同考试要求。把分散的知识，整理成可对照、可追问、可复习的内容。适用条件。在什么情境下讨论这一知识？。作用与特点。哪些特征影响题目判断？。不良反应。哪些表现和处理原则需区分？。易混点。与相似药物或方案如何辨别？。学习验证：隔一段时间换题复测，观察是否仍能正确辨别。这些是从机构沟通中整理的需求线索及产品设计建议，尚未通过考生访谈和使用验证，也不代表三个专业均有同样问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内容可信，学习功能才有价值。内容治理建议；题目、解析、素材均需确认来源和使用范围。上线前。上线后。来源与授权。能追溯题目及解析来源确认可使用的范围。版本与审核。对应专业、科目、考纲答案与解析经专业审核。反馈与修订。记录争议及修改原因同步更新关联题目。AI 的角色。基于已审核内容解释与追问；依据不足时明确提示。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首屏加三个选项，后续按专业适配。依据最新流程截图重绘；示意图非最终UI。已确定首屏扩展，其余专业适配项需评审。选择你正在备考的科目。临床执业医师资格考试。341  肿瘤内科学。342  肿瘤外科学。343  肿瘤放射治疗学。沿用现有步骤，内容随专业切换。01。备考信息。时间、备考状态及待考科目。02。初测与计划。配置专业题目，给出学习建议。03。学习首页。专业题目、解析、进度与续学。收费节点与权益另行确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首期先交付完整的基础学习流程。已定范围来自用户要求；基础学习流程与增强功能的具体交付仍需业务、教研和研发评审。已确定。三专业同步接入，首屏直接增加三个选项。基础交付建议。选专业 → 做题 → 看解析保存进度 → 继续学习。先确保三个专业都能完成基本学习任务。增强功能待评审。案例训练与专业题型AI追问、易混对照与复测学习计划的进一步适配。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竞品比较，围绕学习任务展开。候选调研对象：阿虎医考、考试宝典、圣才／圣题库、蓝基因、医考帮；覆盖与价格待留证。我们的机会假设：降低理解与复习的成本。与用户正在使用的方式比较。教材／课程：系统学习现有题库：练习与原题解析拟建产品：解释、对照与复测。用同一任务做比较。专业内容是否覆盖？解析依据是否清楚？相似选项是否更易区分？是否增加查证与操作负担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验证可触达需求，再讨论市场规模。现有材料不足以确认三专业年度考生总数；本页为试点验证思路，不是市场规模测算。真实备考用户。按专业与年度识别。完成首次学习。观察练习与解析任务。愿意再次使用。看复访及持续学习。真实付费行为。收费方案确定后验证。收入和投入，使用同一观察周期。实收 − 退款 − 可变服务成本 = 贡献金额。再与新增研发、教研和运营固定投入比较；未收费时只报告使用与成本。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专业同批上线，各自达到验收条件。建议验收方向；负责人、内容覆盖要求、预算和时间需在立项时共同确定。教研准备。三专业内容清单考纲映射与覆盖缺口来源授权及解析审核。功能准备。专业选择与题目匹配答题、解析与进度保存退出后的继续学习。试点准备。真实目标考生招募任务观察与反馈渠道问题修复及复测安排。任一专业有关键缺项，先补齐或调整共同排期，保持三专业同步原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轮要确定的是首期交付范围。三专业同步接入的方向已确定；收费方式、价格与权益另行决策。01。内容能否支撑。确定三专业可上线内容与审核责任。02。首期交付什么。确认基础学习范围及增强功能取舍。03。怎样验证价值。确定试点用户、观察任务与投入边界。先让用户完成一次有帮助的学习，再判断是否值得扩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据、线索与建议，分别使用。完整来源链接保留在本页备注；本版为材料重组，未新增考试、价格或市场规模结论。官方考试依据。2026考生须知：四科机考、每科90分钟、成绩管理。官方共用试卷目录：341／342／343前两科共用试卷。官方考务通知与试题著作权声明：合格标准、内容使用边界。用户材料。最新小程序截图：现有流程；机构聊天：备考难点线索。机构说法主要针对肿瘤内科，不直接推广为三专业共同事实。仍待确认。适用年度官方大纲、详细题型题量、计分及回退规则；各专业真实报考人数、竞品有效价格、用户需求与付费表现。官方来源：2026年考生须知 https://www.21wecan.com/wsrcw/c100193/202511/1002760.shtml 。共用试卷专业目录 https://www.21wecan.com/wsrcw/c100193/202208/1d3cddb94d034000a0e8a4178b8f92a6.shtml 。官方考务通知 https://www.huaihua.gov.cn/wsjkw/c100587/202512/73a23312619d4460a3685c7cd0e0645c.shtml 。试题著作权声明 https://www.21wecan.com/wsrcw/c100193/202604/1002959.shtml 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cology-sto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cology-sto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1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肿瘤职称 / 项目提案</a:t>
              </a:r>
            </a:p>
          </p:txBody>
        </p:sp>
      </p:grpSp>
      <p:grpSp>
        <p:nvGrpSpPr>
          <p:cNvPr id="5" name="p01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01 / 16</a:t>
              </a:r>
            </a:p>
          </p:txBody>
        </p:sp>
      </p:grpSp>
      <p:grpSp>
        <p:nvGrpSpPr>
          <p:cNvPr id="7" name="p01-g4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6" name="Line 6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416258"/>
              </a:solidFill>
            </a:ln>
          </p:spPr>
        </p:sp>
      </p:grpSp>
      <p:grpSp>
        <p:nvGrpSpPr>
          <p:cNvPr id="9" name="p01-g5"/>
          <p:cNvGrpSpPr/>
          <p:nvPr/>
        </p:nvGrpSpPr>
        <p:grpSpPr>
          <a:xfrm>
            <a:off x="603504" y="6480810"/>
            <a:ext cx="4075024" cy="234696"/>
            <a:chOff x="603504" y="6480810"/>
            <a:chExt cx="4075024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6480810"/>
              <a:ext cx="407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341 肿瘤内科学 · 342 肿瘤外科学 · 343 肿瘤放射治疗学</a:t>
              </a:r>
            </a:p>
          </p:txBody>
        </p:sp>
      </p:grpSp>
      <p:grpSp>
        <p:nvGrpSpPr>
          <p:cNvPr id="11" name="p01-g6"/>
          <p:cNvGrpSpPr/>
          <p:nvPr/>
        </p:nvGrpSpPr>
        <p:grpSpPr>
          <a:xfrm>
            <a:off x="601980" y="1333500"/>
            <a:ext cx="2186649" cy="293370"/>
            <a:chOff x="601980" y="1333500"/>
            <a:chExt cx="2186649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601980" y="1333500"/>
              <a:ext cx="2186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职考 Go · 中级职称拓展</a:t>
              </a:r>
            </a:p>
          </p:txBody>
        </p:sp>
      </p:grpSp>
      <p:grpSp>
        <p:nvGrpSpPr>
          <p:cNvPr id="14" name="p01-g7"/>
          <p:cNvGrpSpPr/>
          <p:nvPr/>
        </p:nvGrpSpPr>
        <p:grpSpPr>
          <a:xfrm>
            <a:off x="590550" y="1986915"/>
            <a:ext cx="6499860" cy="1809750"/>
            <a:chOff x="590550" y="1986915"/>
            <a:chExt cx="6499860" cy="1809750"/>
          </a:xfrm>
        </p:grpSpPr>
        <p:sp>
          <p:nvSpPr>
            <p:cNvPr id="12" name="TextBox 12"/>
            <p:cNvSpPr txBox="1"/>
            <p:nvPr/>
          </p:nvSpPr>
          <p:spPr>
            <a:xfrm>
              <a:off x="590550" y="1986915"/>
              <a:ext cx="456133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把肿瘤职称备考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0550" y="2863215"/>
              <a:ext cx="6499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做成能理解的学习过程</a:t>
              </a:r>
            </a:p>
          </p:txBody>
        </p:sp>
      </p:grpSp>
      <p:grpSp>
        <p:nvGrpSpPr>
          <p:cNvPr id="16" name="p01-g8"/>
          <p:cNvGrpSpPr/>
          <p:nvPr/>
        </p:nvGrpSpPr>
        <p:grpSpPr>
          <a:xfrm>
            <a:off x="598932" y="4107180"/>
            <a:ext cx="4544568" cy="410718"/>
            <a:chOff x="598932" y="4107180"/>
            <a:chExt cx="4544568" cy="410718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410718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三个专业同步接入，先验证学习价值</a:t>
              </a:r>
            </a:p>
          </p:txBody>
        </p:sp>
      </p:grpSp>
      <p:grpSp>
        <p:nvGrpSpPr>
          <p:cNvPr id="18" name="p01-g9"/>
          <p:cNvGrpSpPr/>
          <p:nvPr/>
        </p:nvGrpSpPr>
        <p:grpSpPr>
          <a:xfrm>
            <a:off x="609600" y="4857750"/>
            <a:ext cx="4152900" cy="9525"/>
            <a:chOff x="609600" y="4857750"/>
            <a:chExt cx="4152900" cy="9525"/>
          </a:xfrm>
        </p:grpSpPr>
        <p:sp>
          <p:nvSpPr>
            <p:cNvPr id="17" name="Line 17"/>
            <p:cNvSpPr/>
            <p:nvPr/>
          </p:nvSpPr>
          <p:spPr>
            <a:xfrm>
              <a:off x="609600" y="4857750"/>
              <a:ext cx="4152900" cy="9525"/>
            </a:xfrm>
            <a:custGeom>
              <a:avLst/>
              <a:gdLst/>
              <a:ahLst/>
              <a:cxnLst/>
              <a:rect l="l" t="t" r="r" b="b"/>
              <a:pathLst>
                <a:path w="4152900" h="9525">
                  <a:moveTo>
                    <a:pt x="0" y="0"/>
                  </a:moveTo>
                  <a:lnTo>
                    <a:pt x="4152900" y="0"/>
                  </a:lnTo>
                </a:path>
              </a:pathLst>
            </a:custGeom>
            <a:noFill/>
            <a:ln w="28575">
              <a:solidFill>
                <a:srgbClr val="62887A"/>
              </a:solidFill>
            </a:ln>
          </p:spPr>
        </p:sp>
      </p:grpSp>
      <p:grpSp>
        <p:nvGrpSpPr>
          <p:cNvPr id="20" name="p01-g10"/>
          <p:cNvGrpSpPr/>
          <p:nvPr/>
        </p:nvGrpSpPr>
        <p:grpSpPr>
          <a:xfrm>
            <a:off x="600456" y="5215890"/>
            <a:ext cx="2199132" cy="352044"/>
            <a:chOff x="600456" y="5215890"/>
            <a:chExt cx="2199132" cy="352044"/>
          </a:xfrm>
        </p:grpSpPr>
        <p:sp>
          <p:nvSpPr>
            <p:cNvPr id="19" name="TextBox 19"/>
            <p:cNvSpPr txBox="1"/>
            <p:nvPr/>
          </p:nvSpPr>
          <p:spPr>
            <a:xfrm>
              <a:off x="600456" y="52158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产品方案 / 2026.09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2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项目选择</a:t>
              </a:r>
            </a:p>
          </p:txBody>
        </p:sp>
      </p:grpSp>
      <p:grpSp>
        <p:nvGrpSpPr>
          <p:cNvPr id="5" name="p02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16</a:t>
              </a:r>
            </a:p>
          </p:txBody>
        </p:sp>
      </p:grpSp>
      <p:grpSp>
        <p:nvGrpSpPr>
          <p:cNvPr id="7" name="p02-g4"/>
          <p:cNvGrpSpPr/>
          <p:nvPr/>
        </p:nvGrpSpPr>
        <p:grpSpPr>
          <a:xfrm>
            <a:off x="594360" y="809625"/>
            <a:ext cx="6088380" cy="586740"/>
            <a:chOff x="594360" y="809625"/>
            <a:chExt cx="608838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三专业同步上线，先验证学习价值</a:t>
              </a:r>
            </a:p>
          </p:txBody>
        </p:sp>
      </p:grpSp>
      <p:grpSp>
        <p:nvGrpSpPr>
          <p:cNvPr id="9" name="p02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02-g6"/>
          <p:cNvGrpSpPr/>
          <p:nvPr/>
        </p:nvGrpSpPr>
        <p:grpSpPr>
          <a:xfrm>
            <a:off x="603504" y="6480810"/>
            <a:ext cx="4373880" cy="234696"/>
            <a:chOff x="603504" y="6480810"/>
            <a:chExt cx="4373880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已确认：三专业同步上线、接入现有小程序；收费方式未定。</a:t>
              </a:r>
            </a:p>
          </p:txBody>
        </p:sp>
      </p:grpSp>
      <p:grpSp>
        <p:nvGrpSpPr>
          <p:cNvPr id="13" name="p02-g7"/>
          <p:cNvGrpSpPr/>
          <p:nvPr/>
        </p:nvGrpSpPr>
        <p:grpSpPr>
          <a:xfrm>
            <a:off x="590550" y="1815465"/>
            <a:ext cx="1157600" cy="933450"/>
            <a:chOff x="590550" y="1815465"/>
            <a:chExt cx="1157600" cy="933450"/>
          </a:xfrm>
        </p:grpSpPr>
        <p:sp>
          <p:nvSpPr>
            <p:cNvPr id="12" name="TextBox 12"/>
            <p:cNvSpPr txBox="1"/>
            <p:nvPr/>
          </p:nvSpPr>
          <p:spPr>
            <a:xfrm>
              <a:off x="590550" y="1815465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341</a:t>
              </a:r>
            </a:p>
          </p:txBody>
        </p:sp>
      </p:grpSp>
      <p:grpSp>
        <p:nvGrpSpPr>
          <p:cNvPr id="15" name="p02-g8"/>
          <p:cNvGrpSpPr/>
          <p:nvPr/>
        </p:nvGrpSpPr>
        <p:grpSpPr>
          <a:xfrm>
            <a:off x="598932" y="2611755"/>
            <a:ext cx="1434846" cy="410718"/>
            <a:chOff x="598932" y="2611755"/>
            <a:chExt cx="1434846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598932" y="26117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肿瘤内科学</a:t>
              </a:r>
            </a:p>
          </p:txBody>
        </p:sp>
      </p:grpSp>
      <p:grpSp>
        <p:nvGrpSpPr>
          <p:cNvPr id="17" name="p02-g9"/>
          <p:cNvGrpSpPr/>
          <p:nvPr/>
        </p:nvGrpSpPr>
        <p:grpSpPr>
          <a:xfrm>
            <a:off x="609600" y="3181350"/>
            <a:ext cx="3352800" cy="9525"/>
            <a:chOff x="609600" y="3181350"/>
            <a:chExt cx="3352800" cy="9525"/>
          </a:xfrm>
        </p:grpSpPr>
        <p:sp>
          <p:nvSpPr>
            <p:cNvPr id="16" name="Line 16"/>
            <p:cNvSpPr/>
            <p:nvPr/>
          </p:nvSpPr>
          <p:spPr>
            <a:xfrm>
              <a:off x="609600" y="31813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19" name="p02-g10"/>
          <p:cNvGrpSpPr/>
          <p:nvPr/>
        </p:nvGrpSpPr>
        <p:grpSpPr>
          <a:xfrm>
            <a:off x="4400550" y="1815465"/>
            <a:ext cx="1157600" cy="933450"/>
            <a:chOff x="4400550" y="1815465"/>
            <a:chExt cx="1157600" cy="933450"/>
          </a:xfrm>
        </p:grpSpPr>
        <p:sp>
          <p:nvSpPr>
            <p:cNvPr id="18" name="TextBox 18"/>
            <p:cNvSpPr txBox="1"/>
            <p:nvPr/>
          </p:nvSpPr>
          <p:spPr>
            <a:xfrm>
              <a:off x="4400550" y="1815465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342</a:t>
              </a:r>
            </a:p>
          </p:txBody>
        </p:sp>
      </p:grpSp>
      <p:grpSp>
        <p:nvGrpSpPr>
          <p:cNvPr id="21" name="p02-g11"/>
          <p:cNvGrpSpPr/>
          <p:nvPr/>
        </p:nvGrpSpPr>
        <p:grpSpPr>
          <a:xfrm>
            <a:off x="4408932" y="2611755"/>
            <a:ext cx="1434846" cy="410718"/>
            <a:chOff x="4408932" y="2611755"/>
            <a:chExt cx="1434846" cy="410718"/>
          </a:xfrm>
        </p:grpSpPr>
        <p:sp>
          <p:nvSpPr>
            <p:cNvPr id="20" name="TextBox 20"/>
            <p:cNvSpPr txBox="1"/>
            <p:nvPr/>
          </p:nvSpPr>
          <p:spPr>
            <a:xfrm>
              <a:off x="4408932" y="26117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肿瘤外科学</a:t>
              </a:r>
            </a:p>
          </p:txBody>
        </p:sp>
      </p:grpSp>
      <p:grpSp>
        <p:nvGrpSpPr>
          <p:cNvPr id="23" name="p02-g12"/>
          <p:cNvGrpSpPr/>
          <p:nvPr/>
        </p:nvGrpSpPr>
        <p:grpSpPr>
          <a:xfrm>
            <a:off x="4419600" y="3181350"/>
            <a:ext cx="3352800" cy="9525"/>
            <a:chOff x="4419600" y="3181350"/>
            <a:chExt cx="3352800" cy="9525"/>
          </a:xfrm>
        </p:grpSpPr>
        <p:sp>
          <p:nvSpPr>
            <p:cNvPr id="22" name="Line 22"/>
            <p:cNvSpPr/>
            <p:nvPr/>
          </p:nvSpPr>
          <p:spPr>
            <a:xfrm>
              <a:off x="4419600" y="31813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25" name="p02-g13"/>
          <p:cNvGrpSpPr/>
          <p:nvPr/>
        </p:nvGrpSpPr>
        <p:grpSpPr>
          <a:xfrm>
            <a:off x="8210550" y="1815465"/>
            <a:ext cx="1157600" cy="933450"/>
            <a:chOff x="8210550" y="1815465"/>
            <a:chExt cx="1157600" cy="933450"/>
          </a:xfrm>
        </p:grpSpPr>
        <p:sp>
          <p:nvSpPr>
            <p:cNvPr id="24" name="TextBox 24"/>
            <p:cNvSpPr txBox="1"/>
            <p:nvPr/>
          </p:nvSpPr>
          <p:spPr>
            <a:xfrm>
              <a:off x="8210550" y="1815465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343</a:t>
              </a:r>
            </a:p>
          </p:txBody>
        </p:sp>
      </p:grpSp>
      <p:grpSp>
        <p:nvGrpSpPr>
          <p:cNvPr id="27" name="p02-g14"/>
          <p:cNvGrpSpPr/>
          <p:nvPr/>
        </p:nvGrpSpPr>
        <p:grpSpPr>
          <a:xfrm>
            <a:off x="8218932" y="2611755"/>
            <a:ext cx="2000250" cy="410718"/>
            <a:chOff x="8218932" y="2611755"/>
            <a:chExt cx="2000250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8218932" y="26117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肿瘤放射治疗学</a:t>
              </a:r>
            </a:p>
          </p:txBody>
        </p:sp>
      </p:grpSp>
      <p:grpSp>
        <p:nvGrpSpPr>
          <p:cNvPr id="29" name="p02-g15"/>
          <p:cNvGrpSpPr/>
          <p:nvPr/>
        </p:nvGrpSpPr>
        <p:grpSpPr>
          <a:xfrm>
            <a:off x="8229600" y="3181350"/>
            <a:ext cx="3352800" cy="9525"/>
            <a:chOff x="8229600" y="3181350"/>
            <a:chExt cx="3352800" cy="9525"/>
          </a:xfrm>
        </p:grpSpPr>
        <p:sp>
          <p:nvSpPr>
            <p:cNvPr id="28" name="Line 28"/>
            <p:cNvSpPr/>
            <p:nvPr/>
          </p:nvSpPr>
          <p:spPr>
            <a:xfrm>
              <a:off x="8229600" y="31813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31" name="p02-g16"/>
          <p:cNvGrpSpPr/>
          <p:nvPr/>
        </p:nvGrpSpPr>
        <p:grpSpPr>
          <a:xfrm>
            <a:off x="601980" y="3714750"/>
            <a:ext cx="1226820" cy="293370"/>
            <a:chOff x="601980" y="3714750"/>
            <a:chExt cx="1226820" cy="293370"/>
          </a:xfrm>
        </p:grpSpPr>
        <p:sp>
          <p:nvSpPr>
            <p:cNvPr id="30" name="TextBox 30"/>
            <p:cNvSpPr txBox="1"/>
            <p:nvPr/>
          </p:nvSpPr>
          <p:spPr>
            <a:xfrm>
              <a:off x="601980" y="37147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为何值得验证</a:t>
              </a:r>
            </a:p>
          </p:txBody>
        </p:sp>
      </p:grpSp>
      <p:grpSp>
        <p:nvGrpSpPr>
          <p:cNvPr id="34" name="p02-g17"/>
          <p:cNvGrpSpPr/>
          <p:nvPr/>
        </p:nvGrpSpPr>
        <p:grpSpPr>
          <a:xfrm>
            <a:off x="598932" y="4097655"/>
            <a:ext cx="5109972" cy="810768"/>
            <a:chOff x="598932" y="4097655"/>
            <a:chExt cx="5109972" cy="810768"/>
          </a:xfrm>
        </p:grpSpPr>
        <p:sp>
          <p:nvSpPr>
            <p:cNvPr id="32" name="TextBox 32"/>
            <p:cNvSpPr txBox="1"/>
            <p:nvPr/>
          </p:nvSpPr>
          <p:spPr>
            <a:xfrm>
              <a:off x="598932" y="409765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复用现有学习流程和触达渠道，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8932" y="4497705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评估能否帮助目标考生更好理解与复习。</a:t>
              </a:r>
            </a:p>
          </p:txBody>
        </p:sp>
      </p:grpSp>
      <p:grpSp>
        <p:nvGrpSpPr>
          <p:cNvPr id="40" name="p02-g18"/>
          <p:cNvGrpSpPr/>
          <p:nvPr/>
        </p:nvGrpSpPr>
        <p:grpSpPr>
          <a:xfrm>
            <a:off x="7886700" y="3648075"/>
            <a:ext cx="3695700" cy="2133600"/>
            <a:chOff x="7886700" y="3648075"/>
            <a:chExt cx="3695700" cy="2133600"/>
          </a:xfrm>
        </p:grpSpPr>
        <p:sp>
          <p:nvSpPr>
            <p:cNvPr id="35" name="Rectangle 35"/>
            <p:cNvSpPr/>
            <p:nvPr/>
          </p:nvSpPr>
          <p:spPr>
            <a:xfrm>
              <a:off x="7886700" y="3648075"/>
              <a:ext cx="3695700" cy="21336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7680" y="38766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先回答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6156" y="43110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有多少真实备考用户？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6156" y="471106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是否愿意持续使用？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06156" y="51111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新增投入是否值得？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3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考试依据</a:t>
              </a:r>
            </a:p>
          </p:txBody>
        </p:sp>
      </p:grpSp>
      <p:grpSp>
        <p:nvGrpSpPr>
          <p:cNvPr id="5" name="p03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16</a:t>
              </a:r>
            </a:p>
          </p:txBody>
        </p:sp>
      </p:grpSp>
      <p:grpSp>
        <p:nvGrpSpPr>
          <p:cNvPr id="7" name="p03-g4"/>
          <p:cNvGrpSpPr/>
          <p:nvPr/>
        </p:nvGrpSpPr>
        <p:grpSpPr>
          <a:xfrm>
            <a:off x="594360" y="809625"/>
            <a:ext cx="4876800" cy="586740"/>
            <a:chOff x="594360" y="809625"/>
            <a:chExt cx="487680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考试结构决定内容组织方式</a:t>
              </a:r>
            </a:p>
          </p:txBody>
        </p:sp>
      </p:grpSp>
      <p:grpSp>
        <p:nvGrpSpPr>
          <p:cNvPr id="9" name="p03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03-g6"/>
          <p:cNvGrpSpPr/>
          <p:nvPr/>
        </p:nvGrpSpPr>
        <p:grpSpPr>
          <a:xfrm>
            <a:off x="603504" y="6480810"/>
            <a:ext cx="5714695" cy="234696"/>
            <a:chOff x="603504" y="6480810"/>
            <a:chExt cx="5714695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5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官方口径以适用年度文件为准；下方制度信息采用2026年依据，来源见第16页。</a:t>
              </a:r>
            </a:p>
          </p:txBody>
        </p:sp>
      </p:grpSp>
      <p:grpSp>
        <p:nvGrpSpPr>
          <p:cNvPr id="13" name="p03-g7"/>
          <p:cNvGrpSpPr/>
          <p:nvPr/>
        </p:nvGrpSpPr>
        <p:grpSpPr>
          <a:xfrm>
            <a:off x="601980" y="1609725"/>
            <a:ext cx="1832610" cy="293370"/>
            <a:chOff x="601980" y="1609725"/>
            <a:chExt cx="1832610" cy="293370"/>
          </a:xfrm>
        </p:grpSpPr>
        <p:sp>
          <p:nvSpPr>
            <p:cNvPr id="12" name="TextBox 12"/>
            <p:cNvSpPr txBox="1"/>
            <p:nvPr/>
          </p:nvSpPr>
          <p:spPr>
            <a:xfrm>
              <a:off x="601980" y="1609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三个专业的内容组织</a:t>
              </a:r>
            </a:p>
          </p:txBody>
        </p:sp>
      </p:grpSp>
      <p:grpSp>
        <p:nvGrpSpPr>
          <p:cNvPr id="18" name="p03-g8"/>
          <p:cNvGrpSpPr/>
          <p:nvPr/>
        </p:nvGrpSpPr>
        <p:grpSpPr>
          <a:xfrm>
            <a:off x="609600" y="2095500"/>
            <a:ext cx="5219700" cy="2333625"/>
            <a:chOff x="609600" y="2095500"/>
            <a:chExt cx="5219700" cy="2333625"/>
          </a:xfrm>
        </p:grpSpPr>
        <p:sp>
          <p:nvSpPr>
            <p:cNvPr id="14" name="Rectangle 14"/>
            <p:cNvSpPr/>
            <p:nvPr/>
          </p:nvSpPr>
          <p:spPr>
            <a:xfrm>
              <a:off x="609600" y="2095500"/>
              <a:ext cx="5219700" cy="2333625"/>
            </a:xfrm>
            <a:prstGeom prst="roundRect">
              <a:avLst>
                <a:gd name="adj" fmla="val 65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8680" y="2362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共用试卷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4108" y="28365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基础知识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4108" y="34366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相关专业知识</a:t>
              </a:r>
            </a:p>
          </p:txBody>
        </p:sp>
      </p:grpSp>
      <p:grpSp>
        <p:nvGrpSpPr>
          <p:cNvPr id="23" name="p03-g11"/>
          <p:cNvGrpSpPr/>
          <p:nvPr/>
        </p:nvGrpSpPr>
        <p:grpSpPr>
          <a:xfrm>
            <a:off x="6134100" y="2095500"/>
            <a:ext cx="5448300" cy="2333625"/>
            <a:chOff x="6134100" y="2095500"/>
            <a:chExt cx="5448300" cy="2333625"/>
          </a:xfrm>
        </p:grpSpPr>
        <p:sp>
          <p:nvSpPr>
            <p:cNvPr id="19" name="Rectangle 19"/>
            <p:cNvSpPr/>
            <p:nvPr/>
          </p:nvSpPr>
          <p:spPr>
            <a:xfrm>
              <a:off x="6134100" y="2095500"/>
              <a:ext cx="5448300" cy="2333625"/>
            </a:xfrm>
            <a:prstGeom prst="roundRect">
              <a:avLst>
                <a:gd name="adj" fmla="val 6531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3180" y="23622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按专业核对考纲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88608" y="28365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专业知识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88608" y="34366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专业实践能力</a:t>
              </a:r>
            </a:p>
          </p:txBody>
        </p:sp>
      </p:grpSp>
      <p:grpSp>
        <p:nvGrpSpPr>
          <p:cNvPr id="25" name="p03-g14"/>
          <p:cNvGrpSpPr/>
          <p:nvPr/>
        </p:nvGrpSpPr>
        <p:grpSpPr>
          <a:xfrm>
            <a:off x="609600" y="4857750"/>
            <a:ext cx="10972800" cy="9525"/>
            <a:chOff x="609600" y="4857750"/>
            <a:chExt cx="10972800" cy="9525"/>
          </a:xfrm>
        </p:grpSpPr>
        <p:sp>
          <p:nvSpPr>
            <p:cNvPr id="24" name="Line 24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7" name="p03-g15"/>
          <p:cNvGrpSpPr/>
          <p:nvPr/>
        </p:nvGrpSpPr>
        <p:grpSpPr>
          <a:xfrm>
            <a:off x="598932" y="5097780"/>
            <a:ext cx="1121754" cy="410718"/>
            <a:chOff x="598932" y="5097780"/>
            <a:chExt cx="1121754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598932" y="5097780"/>
              <a:ext cx="11217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科机考</a:t>
              </a:r>
            </a:p>
          </p:txBody>
        </p:sp>
      </p:grpSp>
      <p:grpSp>
        <p:nvGrpSpPr>
          <p:cNvPr id="29" name="p03-g16"/>
          <p:cNvGrpSpPr/>
          <p:nvPr/>
        </p:nvGrpSpPr>
        <p:grpSpPr>
          <a:xfrm>
            <a:off x="600456" y="5568315"/>
            <a:ext cx="1254100" cy="352044"/>
            <a:chOff x="600456" y="5568315"/>
            <a:chExt cx="1254100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600456" y="5568315"/>
              <a:ext cx="1254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每科90分钟</a:t>
              </a:r>
            </a:p>
          </p:txBody>
        </p:sp>
      </p:grpSp>
      <p:grpSp>
        <p:nvGrpSpPr>
          <p:cNvPr id="31" name="p03-g17"/>
          <p:cNvGrpSpPr/>
          <p:nvPr/>
        </p:nvGrpSpPr>
        <p:grpSpPr>
          <a:xfrm>
            <a:off x="4370832" y="5097780"/>
            <a:ext cx="1195963" cy="410718"/>
            <a:chOff x="4370832" y="5097780"/>
            <a:chExt cx="1195963" cy="410718"/>
          </a:xfrm>
        </p:grpSpPr>
        <p:sp>
          <p:nvSpPr>
            <p:cNvPr id="30" name="TextBox 30"/>
            <p:cNvSpPr txBox="1"/>
            <p:nvPr/>
          </p:nvSpPr>
          <p:spPr>
            <a:xfrm>
              <a:off x="4370832" y="5097780"/>
              <a:ext cx="11959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各科60分</a:t>
              </a:r>
            </a:p>
          </p:txBody>
        </p:sp>
      </p:grpSp>
      <p:grpSp>
        <p:nvGrpSpPr>
          <p:cNvPr id="33" name="p03-g18"/>
          <p:cNvGrpSpPr/>
          <p:nvPr/>
        </p:nvGrpSpPr>
        <p:grpSpPr>
          <a:xfrm>
            <a:off x="4372356" y="5568315"/>
            <a:ext cx="987552" cy="352044"/>
            <a:chOff x="4372356" y="5568315"/>
            <a:chExt cx="987552" cy="352044"/>
          </a:xfrm>
        </p:grpSpPr>
        <p:sp>
          <p:nvSpPr>
            <p:cNvPr id="32" name="TextBox 32"/>
            <p:cNvSpPr txBox="1"/>
            <p:nvPr/>
          </p:nvSpPr>
          <p:spPr>
            <a:xfrm>
              <a:off x="4372356" y="5568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合格标准</a:t>
              </a:r>
            </a:p>
          </p:txBody>
        </p:sp>
      </p:grpSp>
      <p:grpSp>
        <p:nvGrpSpPr>
          <p:cNvPr id="35" name="p03-g19"/>
          <p:cNvGrpSpPr/>
          <p:nvPr/>
        </p:nvGrpSpPr>
        <p:grpSpPr>
          <a:xfrm>
            <a:off x="8161782" y="5097780"/>
            <a:ext cx="1121754" cy="410718"/>
            <a:chOff x="8161782" y="5097780"/>
            <a:chExt cx="1121754" cy="410718"/>
          </a:xfrm>
        </p:grpSpPr>
        <p:sp>
          <p:nvSpPr>
            <p:cNvPr id="34" name="TextBox 34"/>
            <p:cNvSpPr txBox="1"/>
            <p:nvPr/>
          </p:nvSpPr>
          <p:spPr>
            <a:xfrm>
              <a:off x="8161782" y="5097780"/>
              <a:ext cx="11217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年滚动</a:t>
              </a:r>
            </a:p>
          </p:txBody>
        </p:sp>
      </p:grpSp>
      <p:grpSp>
        <p:nvGrpSpPr>
          <p:cNvPr id="37" name="p03-g20"/>
          <p:cNvGrpSpPr/>
          <p:nvPr/>
        </p:nvGrpSpPr>
        <p:grpSpPr>
          <a:xfrm>
            <a:off x="8163306" y="5568315"/>
            <a:ext cx="1714500" cy="352044"/>
            <a:chOff x="8163306" y="5568315"/>
            <a:chExt cx="1714500" cy="352044"/>
          </a:xfrm>
        </p:grpSpPr>
        <p:sp>
          <p:nvSpPr>
            <p:cNvPr id="36" name="TextBox 36"/>
            <p:cNvSpPr txBox="1"/>
            <p:nvPr/>
          </p:nvSpPr>
          <p:spPr>
            <a:xfrm>
              <a:off x="8163306" y="55683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同专业成绩管理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4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需求线索</a:t>
              </a:r>
            </a:p>
          </p:txBody>
        </p:sp>
      </p:grpSp>
      <p:grpSp>
        <p:nvGrpSpPr>
          <p:cNvPr id="5" name="p04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16</a:t>
              </a:r>
            </a:p>
          </p:txBody>
        </p:sp>
      </p:grpSp>
      <p:grpSp>
        <p:nvGrpSpPr>
          <p:cNvPr id="7" name="p04-g4"/>
          <p:cNvGrpSpPr/>
          <p:nvPr/>
        </p:nvGrpSpPr>
        <p:grpSpPr>
          <a:xfrm>
            <a:off x="594360" y="809625"/>
            <a:ext cx="5684520" cy="586740"/>
            <a:chOff x="594360" y="809625"/>
            <a:chExt cx="568452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先把调研线索变成可验证的需求</a:t>
              </a:r>
            </a:p>
          </p:txBody>
        </p:sp>
      </p:grpSp>
      <p:grpSp>
        <p:nvGrpSpPr>
          <p:cNvPr id="9" name="p04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04-g6"/>
          <p:cNvGrpSpPr/>
          <p:nvPr/>
        </p:nvGrpSpPr>
        <p:grpSpPr>
          <a:xfrm>
            <a:off x="603504" y="6480810"/>
            <a:ext cx="5989320" cy="234696"/>
            <a:chOff x="603504" y="6480810"/>
            <a:chExt cx="5989320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来源：用户提供的机构销售沟通截图，主要讨论肿瘤内科；尚未完成考生访谈验证。</a:t>
              </a:r>
            </a:p>
          </p:txBody>
        </p:sp>
      </p:grpSp>
      <p:grpSp>
        <p:nvGrpSpPr>
          <p:cNvPr id="13" name="p04-g7"/>
          <p:cNvGrpSpPr/>
          <p:nvPr/>
        </p:nvGrpSpPr>
        <p:grpSpPr>
          <a:xfrm>
            <a:off x="600456" y="1463040"/>
            <a:ext cx="5591556" cy="352044"/>
            <a:chOff x="600456" y="1463040"/>
            <a:chExt cx="5591556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600456" y="14630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截图能提示问题，但不能证明发生频率或考试占比。</a:t>
              </a:r>
            </a:p>
          </p:txBody>
        </p:sp>
      </p:grpSp>
      <p:grpSp>
        <p:nvGrpSpPr>
          <p:cNvPr id="15" name="p04-g8"/>
          <p:cNvGrpSpPr/>
          <p:nvPr/>
        </p:nvGrpSpPr>
        <p:grpSpPr>
          <a:xfrm>
            <a:off x="598932" y="2078355"/>
            <a:ext cx="347857" cy="410718"/>
            <a:chOff x="598932" y="2078355"/>
            <a:chExt cx="347857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598932" y="20783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7" name="p04-g9"/>
          <p:cNvGrpSpPr/>
          <p:nvPr/>
        </p:nvGrpSpPr>
        <p:grpSpPr>
          <a:xfrm>
            <a:off x="1322832" y="2078355"/>
            <a:ext cx="1152144" cy="410718"/>
            <a:chOff x="1322832" y="2078355"/>
            <a:chExt cx="1152144" cy="410718"/>
          </a:xfrm>
        </p:grpSpPr>
        <p:sp>
          <p:nvSpPr>
            <p:cNvPr id="16" name="TextBox 16"/>
            <p:cNvSpPr txBox="1"/>
            <p:nvPr/>
          </p:nvSpPr>
          <p:spPr>
            <a:xfrm>
              <a:off x="1322832" y="20783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知识分散</a:t>
              </a:r>
            </a:p>
          </p:txBody>
        </p:sp>
      </p:grpSp>
      <p:grpSp>
        <p:nvGrpSpPr>
          <p:cNvPr id="19" name="p04-g10"/>
          <p:cNvGrpSpPr/>
          <p:nvPr/>
        </p:nvGrpSpPr>
        <p:grpSpPr>
          <a:xfrm>
            <a:off x="4104132" y="2078355"/>
            <a:ext cx="3131058" cy="410718"/>
            <a:chOff x="4104132" y="2078355"/>
            <a:chExt cx="3131058" cy="410718"/>
          </a:xfrm>
        </p:grpSpPr>
        <p:sp>
          <p:nvSpPr>
            <p:cNvPr id="18" name="TextBox 18"/>
            <p:cNvSpPr txBox="1"/>
            <p:nvPr/>
          </p:nvSpPr>
          <p:spPr>
            <a:xfrm>
              <a:off x="4104132" y="207835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跨学科知识如何串起来？</a:t>
              </a:r>
            </a:p>
          </p:txBody>
        </p:sp>
      </p:grpSp>
      <p:grpSp>
        <p:nvGrpSpPr>
          <p:cNvPr id="21" name="p04-g11"/>
          <p:cNvGrpSpPr/>
          <p:nvPr/>
        </p:nvGrpSpPr>
        <p:grpSpPr>
          <a:xfrm>
            <a:off x="1333500" y="2571750"/>
            <a:ext cx="10248900" cy="9525"/>
            <a:chOff x="1333500" y="2571750"/>
            <a:chExt cx="10248900" cy="9525"/>
          </a:xfrm>
        </p:grpSpPr>
        <p:sp>
          <p:nvSpPr>
            <p:cNvPr id="20" name="Line 20"/>
            <p:cNvSpPr/>
            <p:nvPr/>
          </p:nvSpPr>
          <p:spPr>
            <a:xfrm>
              <a:off x="1333500" y="257175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p04-g12"/>
          <p:cNvGrpSpPr/>
          <p:nvPr/>
        </p:nvGrpSpPr>
        <p:grpSpPr>
          <a:xfrm>
            <a:off x="598932" y="2964180"/>
            <a:ext cx="347857" cy="410718"/>
            <a:chOff x="598932" y="2964180"/>
            <a:chExt cx="347857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598932" y="296418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5" name="p04-g13"/>
          <p:cNvGrpSpPr/>
          <p:nvPr/>
        </p:nvGrpSpPr>
        <p:grpSpPr>
          <a:xfrm>
            <a:off x="1322832" y="2964180"/>
            <a:ext cx="1152144" cy="410718"/>
            <a:chOff x="1322832" y="2964180"/>
            <a:chExt cx="1152144" cy="410718"/>
          </a:xfrm>
        </p:grpSpPr>
        <p:sp>
          <p:nvSpPr>
            <p:cNvPr id="24" name="TextBox 24"/>
            <p:cNvSpPr txBox="1"/>
            <p:nvPr/>
          </p:nvSpPr>
          <p:spPr>
            <a:xfrm>
              <a:off x="1322832" y="29641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分期易混</a:t>
              </a:r>
            </a:p>
          </p:txBody>
        </p:sp>
      </p:grpSp>
      <p:grpSp>
        <p:nvGrpSpPr>
          <p:cNvPr id="27" name="p04-g14"/>
          <p:cNvGrpSpPr/>
          <p:nvPr/>
        </p:nvGrpSpPr>
        <p:grpSpPr>
          <a:xfrm>
            <a:off x="4104132" y="2964180"/>
            <a:ext cx="3979164" cy="410718"/>
            <a:chOff x="4104132" y="2964180"/>
            <a:chExt cx="3979164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4104132" y="296418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条件变化后为什么选不同方案？</a:t>
              </a:r>
            </a:p>
          </p:txBody>
        </p:sp>
      </p:grpSp>
      <p:grpSp>
        <p:nvGrpSpPr>
          <p:cNvPr id="29" name="p04-g15"/>
          <p:cNvGrpSpPr/>
          <p:nvPr/>
        </p:nvGrpSpPr>
        <p:grpSpPr>
          <a:xfrm>
            <a:off x="1333500" y="3457575"/>
            <a:ext cx="10248900" cy="9525"/>
            <a:chOff x="1333500" y="3457575"/>
            <a:chExt cx="10248900" cy="9525"/>
          </a:xfrm>
        </p:grpSpPr>
        <p:sp>
          <p:nvSpPr>
            <p:cNvPr id="28" name="Line 28"/>
            <p:cNvSpPr/>
            <p:nvPr/>
          </p:nvSpPr>
          <p:spPr>
            <a:xfrm>
              <a:off x="1333500" y="3457575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1" name="p04-g16"/>
          <p:cNvGrpSpPr/>
          <p:nvPr/>
        </p:nvGrpSpPr>
        <p:grpSpPr>
          <a:xfrm>
            <a:off x="598932" y="3850005"/>
            <a:ext cx="347857" cy="410718"/>
            <a:chOff x="598932" y="3850005"/>
            <a:chExt cx="347857" cy="410718"/>
          </a:xfrm>
        </p:grpSpPr>
        <p:sp>
          <p:nvSpPr>
            <p:cNvPr id="30" name="TextBox 30"/>
            <p:cNvSpPr txBox="1"/>
            <p:nvPr/>
          </p:nvSpPr>
          <p:spPr>
            <a:xfrm>
              <a:off x="598932" y="38500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33" name="p04-g17"/>
          <p:cNvGrpSpPr/>
          <p:nvPr/>
        </p:nvGrpSpPr>
        <p:grpSpPr>
          <a:xfrm>
            <a:off x="1322832" y="3850005"/>
            <a:ext cx="1152144" cy="410718"/>
            <a:chOff x="1322832" y="3850005"/>
            <a:chExt cx="1152144" cy="410718"/>
          </a:xfrm>
        </p:grpSpPr>
        <p:sp>
          <p:nvSpPr>
            <p:cNvPr id="32" name="TextBox 32"/>
            <p:cNvSpPr txBox="1"/>
            <p:nvPr/>
          </p:nvSpPr>
          <p:spPr>
            <a:xfrm>
              <a:off x="1322832" y="3850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病例判断</a:t>
              </a:r>
            </a:p>
          </p:txBody>
        </p:sp>
      </p:grpSp>
      <p:grpSp>
        <p:nvGrpSpPr>
          <p:cNvPr id="35" name="p04-g18"/>
          <p:cNvGrpSpPr/>
          <p:nvPr/>
        </p:nvGrpSpPr>
        <p:grpSpPr>
          <a:xfrm>
            <a:off x="4104132" y="3850005"/>
            <a:ext cx="3131058" cy="410718"/>
            <a:chOff x="4104132" y="3850005"/>
            <a:chExt cx="3131058" cy="410718"/>
          </a:xfrm>
        </p:grpSpPr>
        <p:sp>
          <p:nvSpPr>
            <p:cNvPr id="34" name="TextBox 34"/>
            <p:cNvSpPr txBox="1"/>
            <p:nvPr/>
          </p:nvSpPr>
          <p:spPr>
            <a:xfrm>
              <a:off x="4104132" y="385000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哪些证据真正影响选项？</a:t>
              </a:r>
            </a:p>
          </p:txBody>
        </p:sp>
      </p:grpSp>
      <p:grpSp>
        <p:nvGrpSpPr>
          <p:cNvPr id="37" name="p04-g19"/>
          <p:cNvGrpSpPr/>
          <p:nvPr/>
        </p:nvGrpSpPr>
        <p:grpSpPr>
          <a:xfrm>
            <a:off x="1333500" y="4343400"/>
            <a:ext cx="10248900" cy="9525"/>
            <a:chOff x="1333500" y="4343400"/>
            <a:chExt cx="10248900" cy="9525"/>
          </a:xfrm>
        </p:grpSpPr>
        <p:sp>
          <p:nvSpPr>
            <p:cNvPr id="36" name="Line 36"/>
            <p:cNvSpPr/>
            <p:nvPr/>
          </p:nvSpPr>
          <p:spPr>
            <a:xfrm>
              <a:off x="1333500" y="434340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9" name="p04-g20"/>
          <p:cNvGrpSpPr/>
          <p:nvPr/>
        </p:nvGrpSpPr>
        <p:grpSpPr>
          <a:xfrm>
            <a:off x="598932" y="4735830"/>
            <a:ext cx="347857" cy="410718"/>
            <a:chOff x="598932" y="4735830"/>
            <a:chExt cx="347857" cy="410718"/>
          </a:xfrm>
        </p:grpSpPr>
        <p:sp>
          <p:nvSpPr>
            <p:cNvPr id="38" name="TextBox 38"/>
            <p:cNvSpPr txBox="1"/>
            <p:nvPr/>
          </p:nvSpPr>
          <p:spPr>
            <a:xfrm>
              <a:off x="598932" y="473583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1" name="p04-g21"/>
          <p:cNvGrpSpPr/>
          <p:nvPr/>
        </p:nvGrpSpPr>
        <p:grpSpPr>
          <a:xfrm>
            <a:off x="1322832" y="4735830"/>
            <a:ext cx="1152144" cy="410718"/>
            <a:chOff x="1322832" y="4735830"/>
            <a:chExt cx="1152144" cy="410718"/>
          </a:xfrm>
        </p:grpSpPr>
        <p:sp>
          <p:nvSpPr>
            <p:cNvPr id="40" name="TextBox 40"/>
            <p:cNvSpPr txBox="1"/>
            <p:nvPr/>
          </p:nvSpPr>
          <p:spPr>
            <a:xfrm>
              <a:off x="1322832" y="47358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药物记忆</a:t>
              </a:r>
            </a:p>
          </p:txBody>
        </p:sp>
      </p:grpSp>
      <p:grpSp>
        <p:nvGrpSpPr>
          <p:cNvPr id="43" name="p04-g22"/>
          <p:cNvGrpSpPr/>
          <p:nvPr/>
        </p:nvGrpSpPr>
        <p:grpSpPr>
          <a:xfrm>
            <a:off x="4104132" y="4735830"/>
            <a:ext cx="3979164" cy="410718"/>
            <a:chOff x="4104132" y="4735830"/>
            <a:chExt cx="3979164" cy="410718"/>
          </a:xfrm>
        </p:grpSpPr>
        <p:sp>
          <p:nvSpPr>
            <p:cNvPr id="42" name="TextBox 42"/>
            <p:cNvSpPr txBox="1"/>
            <p:nvPr/>
          </p:nvSpPr>
          <p:spPr>
            <a:xfrm>
              <a:off x="4104132" y="473583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相似知识如何辨别并长期记住？</a:t>
              </a:r>
            </a:p>
          </p:txBody>
        </p:sp>
      </p:grpSp>
      <p:grpSp>
        <p:nvGrpSpPr>
          <p:cNvPr id="45" name="p04-g23"/>
          <p:cNvGrpSpPr/>
          <p:nvPr/>
        </p:nvGrpSpPr>
        <p:grpSpPr>
          <a:xfrm>
            <a:off x="1333500" y="5229225"/>
            <a:ext cx="10248900" cy="9525"/>
            <a:chOff x="1333500" y="5229225"/>
            <a:chExt cx="10248900" cy="9525"/>
          </a:xfrm>
        </p:grpSpPr>
        <p:sp>
          <p:nvSpPr>
            <p:cNvPr id="44" name="Line 44"/>
            <p:cNvSpPr/>
            <p:nvPr/>
          </p:nvSpPr>
          <p:spPr>
            <a:xfrm>
              <a:off x="1333500" y="5229225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7" name="p04-g24"/>
          <p:cNvGrpSpPr/>
          <p:nvPr/>
        </p:nvGrpSpPr>
        <p:grpSpPr>
          <a:xfrm>
            <a:off x="601980" y="5886450"/>
            <a:ext cx="5467350" cy="293370"/>
            <a:chOff x="601980" y="5886450"/>
            <a:chExt cx="5467350" cy="293370"/>
          </a:xfrm>
        </p:grpSpPr>
        <p:sp>
          <p:nvSpPr>
            <p:cNvPr id="46" name="TextBox 46"/>
            <p:cNvSpPr txBox="1"/>
            <p:nvPr/>
          </p:nvSpPr>
          <p:spPr>
            <a:xfrm>
              <a:off x="601980" y="588645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这些是待验证的备考任务，不是三个专业已证实的共同痛点。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5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肿瘤职称 / 学习路径</a:t>
              </a:r>
            </a:p>
          </p:txBody>
        </p:sp>
      </p:grpSp>
      <p:grpSp>
        <p:nvGrpSpPr>
          <p:cNvPr id="5" name="p05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05 / 16</a:t>
              </a:r>
            </a:p>
          </p:txBody>
        </p:sp>
      </p:grpSp>
      <p:grpSp>
        <p:nvGrpSpPr>
          <p:cNvPr id="7" name="p05-g4"/>
          <p:cNvGrpSpPr/>
          <p:nvPr/>
        </p:nvGrpSpPr>
        <p:grpSpPr>
          <a:xfrm>
            <a:off x="594360" y="809625"/>
            <a:ext cx="5280660" cy="586740"/>
            <a:chOff x="594360" y="809625"/>
            <a:chExt cx="528066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从做对一道题，到解释为什么</a:t>
              </a:r>
            </a:p>
          </p:txBody>
        </p:sp>
      </p:grpSp>
      <p:grpSp>
        <p:nvGrpSpPr>
          <p:cNvPr id="9" name="p05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416258"/>
              </a:solidFill>
            </a:ln>
          </p:spPr>
        </p:sp>
      </p:grpSp>
      <p:grpSp>
        <p:nvGrpSpPr>
          <p:cNvPr id="11" name="p05-g6"/>
          <p:cNvGrpSpPr/>
          <p:nvPr/>
        </p:nvGrpSpPr>
        <p:grpSpPr>
          <a:xfrm>
            <a:off x="603504" y="6480810"/>
            <a:ext cx="4212336" cy="234696"/>
            <a:chOff x="603504" y="6480810"/>
            <a:chExt cx="4212336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产品建议：先验证这条学习路径，再决定增强功能的投入。</a:t>
              </a:r>
            </a:p>
          </p:txBody>
        </p:sp>
      </p:grpSp>
      <p:grpSp>
        <p:nvGrpSpPr>
          <p:cNvPr id="13" name="p05-g7"/>
          <p:cNvGrpSpPr/>
          <p:nvPr/>
        </p:nvGrpSpPr>
        <p:grpSpPr>
          <a:xfrm>
            <a:off x="1428750" y="2447925"/>
            <a:ext cx="9048750" cy="9525"/>
            <a:chOff x="1428750" y="2447925"/>
            <a:chExt cx="9048750" cy="9525"/>
          </a:xfrm>
        </p:grpSpPr>
        <p:sp>
          <p:nvSpPr>
            <p:cNvPr id="12" name="Line 12"/>
            <p:cNvSpPr/>
            <p:nvPr/>
          </p:nvSpPr>
          <p:spPr>
            <a:xfrm>
              <a:off x="1428750" y="2447925"/>
              <a:ext cx="9048750" cy="9525"/>
            </a:xfrm>
            <a:custGeom>
              <a:avLst/>
              <a:gdLst/>
              <a:ahLst/>
              <a:cxnLst/>
              <a:rect l="l" t="t" r="r" b="b"/>
              <a:pathLst>
                <a:path w="9048750" h="9525">
                  <a:moveTo>
                    <a:pt x="0" y="0"/>
                  </a:moveTo>
                  <a:lnTo>
                    <a:pt x="9048750" y="0"/>
                  </a:lnTo>
                </a:path>
              </a:pathLst>
            </a:custGeom>
            <a:noFill/>
            <a:ln w="19050">
              <a:solidFill>
                <a:srgbClr val="789E8D"/>
              </a:solidFill>
            </a:ln>
          </p:spPr>
        </p:sp>
      </p:grpSp>
      <p:grpSp>
        <p:nvGrpSpPr>
          <p:cNvPr id="16" name="p05-g8"/>
          <p:cNvGrpSpPr/>
          <p:nvPr/>
        </p:nvGrpSpPr>
        <p:grpSpPr>
          <a:xfrm>
            <a:off x="609600" y="2057400"/>
            <a:ext cx="2266950" cy="800100"/>
            <a:chOff x="609600" y="2057400"/>
            <a:chExt cx="2266950" cy="800100"/>
          </a:xfrm>
        </p:grpSpPr>
        <p:sp>
          <p:nvSpPr>
            <p:cNvPr id="14" name="Rectangle 14"/>
            <p:cNvSpPr/>
            <p:nvPr/>
          </p:nvSpPr>
          <p:spPr>
            <a:xfrm>
              <a:off x="609600" y="2057400"/>
              <a:ext cx="2266950" cy="800100"/>
            </a:xfrm>
            <a:prstGeom prst="roundRect">
              <a:avLst>
                <a:gd name="adj" fmla="val 19048"/>
              </a:avLst>
            </a:prstGeom>
            <a:solidFill>
              <a:srgbClr val="24554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67003" y="2326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做一道题</a:t>
              </a:r>
            </a:p>
          </p:txBody>
        </p:sp>
      </p:grpSp>
      <p:grpSp>
        <p:nvGrpSpPr>
          <p:cNvPr id="19" name="p05-g10"/>
          <p:cNvGrpSpPr/>
          <p:nvPr/>
        </p:nvGrpSpPr>
        <p:grpSpPr>
          <a:xfrm>
            <a:off x="600456" y="3339465"/>
            <a:ext cx="1472184" cy="761619"/>
            <a:chOff x="600456" y="3339465"/>
            <a:chExt cx="1472184" cy="761619"/>
          </a:xfrm>
        </p:grpSpPr>
        <p:sp>
          <p:nvSpPr>
            <p:cNvPr id="17" name="TextBox 17"/>
            <p:cNvSpPr txBox="1"/>
            <p:nvPr/>
          </p:nvSpPr>
          <p:spPr>
            <a:xfrm>
              <a:off x="600456" y="33394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暴露疑问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0456" y="3749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定位相关考点</a:t>
              </a:r>
            </a:p>
          </p:txBody>
        </p:sp>
      </p:grpSp>
      <p:grpSp>
        <p:nvGrpSpPr>
          <p:cNvPr id="22" name="p05-g11"/>
          <p:cNvGrpSpPr/>
          <p:nvPr/>
        </p:nvGrpSpPr>
        <p:grpSpPr>
          <a:xfrm>
            <a:off x="3448050" y="2057400"/>
            <a:ext cx="2266950" cy="800100"/>
            <a:chOff x="3448050" y="2057400"/>
            <a:chExt cx="2266950" cy="800100"/>
          </a:xfrm>
        </p:grpSpPr>
        <p:sp>
          <p:nvSpPr>
            <p:cNvPr id="20" name="Rectangle 20"/>
            <p:cNvSpPr/>
            <p:nvPr/>
          </p:nvSpPr>
          <p:spPr>
            <a:xfrm>
              <a:off x="3448050" y="2057400"/>
              <a:ext cx="2266950" cy="800100"/>
            </a:xfrm>
            <a:prstGeom prst="roundRect">
              <a:avLst>
                <a:gd name="adj" fmla="val 19048"/>
              </a:avLst>
            </a:prstGeom>
            <a:solidFill>
              <a:srgbClr val="24554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05453" y="2326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解释依据</a:t>
              </a:r>
            </a:p>
          </p:txBody>
        </p:sp>
      </p:grpSp>
      <p:grpSp>
        <p:nvGrpSpPr>
          <p:cNvPr id="25" name="p05-g13"/>
          <p:cNvGrpSpPr/>
          <p:nvPr/>
        </p:nvGrpSpPr>
        <p:grpSpPr>
          <a:xfrm>
            <a:off x="3438906" y="3339465"/>
            <a:ext cx="1472184" cy="761619"/>
            <a:chOff x="3438906" y="3339465"/>
            <a:chExt cx="1472184" cy="761619"/>
          </a:xfrm>
        </p:grpSpPr>
        <p:sp>
          <p:nvSpPr>
            <p:cNvPr id="23" name="TextBox 23"/>
            <p:cNvSpPr txBox="1"/>
            <p:nvPr/>
          </p:nvSpPr>
          <p:spPr>
            <a:xfrm>
              <a:off x="3438906" y="33394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理解正确选项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38906" y="3749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理解排除理由</a:t>
              </a:r>
            </a:p>
          </p:txBody>
        </p:sp>
      </p:grpSp>
      <p:grpSp>
        <p:nvGrpSpPr>
          <p:cNvPr id="28" name="p05-g14"/>
          <p:cNvGrpSpPr/>
          <p:nvPr/>
        </p:nvGrpSpPr>
        <p:grpSpPr>
          <a:xfrm>
            <a:off x="6286500" y="2057400"/>
            <a:ext cx="2266950" cy="800100"/>
            <a:chOff x="6286500" y="2057400"/>
            <a:chExt cx="2266950" cy="800100"/>
          </a:xfrm>
        </p:grpSpPr>
        <p:sp>
          <p:nvSpPr>
            <p:cNvPr id="26" name="Rectangle 26"/>
            <p:cNvSpPr/>
            <p:nvPr/>
          </p:nvSpPr>
          <p:spPr>
            <a:xfrm>
              <a:off x="6286500" y="2057400"/>
              <a:ext cx="2266950" cy="800100"/>
            </a:xfrm>
            <a:prstGeom prst="roundRect">
              <a:avLst>
                <a:gd name="adj" fmla="val 19048"/>
              </a:avLst>
            </a:prstGeom>
            <a:solidFill>
              <a:srgbClr val="24554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02552" y="23260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对照易混点</a:t>
              </a:r>
            </a:p>
          </p:txBody>
        </p:sp>
      </p:grpSp>
      <p:grpSp>
        <p:nvGrpSpPr>
          <p:cNvPr id="31" name="p05-g16"/>
          <p:cNvGrpSpPr/>
          <p:nvPr/>
        </p:nvGrpSpPr>
        <p:grpSpPr>
          <a:xfrm>
            <a:off x="6277356" y="3339465"/>
            <a:ext cx="1472184" cy="761619"/>
            <a:chOff x="6277356" y="3339465"/>
            <a:chExt cx="1472184" cy="761619"/>
          </a:xfrm>
        </p:grpSpPr>
        <p:sp>
          <p:nvSpPr>
            <p:cNvPr id="29" name="TextBox 29"/>
            <p:cNvSpPr txBox="1"/>
            <p:nvPr/>
          </p:nvSpPr>
          <p:spPr>
            <a:xfrm>
              <a:off x="6277356" y="33394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比较条件差异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77356" y="3749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形成知识关联</a:t>
              </a:r>
            </a:p>
          </p:txBody>
        </p:sp>
      </p:grpSp>
      <p:grpSp>
        <p:nvGrpSpPr>
          <p:cNvPr id="34" name="p05-g17"/>
          <p:cNvGrpSpPr/>
          <p:nvPr/>
        </p:nvGrpSpPr>
        <p:grpSpPr>
          <a:xfrm>
            <a:off x="9124950" y="2057400"/>
            <a:ext cx="2266950" cy="800100"/>
            <a:chOff x="9124950" y="2057400"/>
            <a:chExt cx="2266950" cy="800100"/>
          </a:xfrm>
        </p:grpSpPr>
        <p:sp>
          <p:nvSpPr>
            <p:cNvPr id="32" name="Rectangle 32"/>
            <p:cNvSpPr/>
            <p:nvPr/>
          </p:nvSpPr>
          <p:spPr>
            <a:xfrm>
              <a:off x="9124950" y="2057400"/>
              <a:ext cx="2266950" cy="800100"/>
            </a:xfrm>
            <a:prstGeom prst="roundRect">
              <a:avLst>
                <a:gd name="adj" fmla="val 19048"/>
              </a:avLst>
            </a:prstGeom>
            <a:solidFill>
              <a:srgbClr val="2455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82353" y="2326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换题复测</a:t>
              </a:r>
            </a:p>
          </p:txBody>
        </p:sp>
      </p:grpSp>
      <p:grpSp>
        <p:nvGrpSpPr>
          <p:cNvPr id="37" name="p05-g19"/>
          <p:cNvGrpSpPr/>
          <p:nvPr/>
        </p:nvGrpSpPr>
        <p:grpSpPr>
          <a:xfrm>
            <a:off x="9115806" y="3339465"/>
            <a:ext cx="1472184" cy="761619"/>
            <a:chOff x="9115806" y="3339465"/>
            <a:chExt cx="1472184" cy="761619"/>
          </a:xfrm>
        </p:grpSpPr>
        <p:sp>
          <p:nvSpPr>
            <p:cNvPr id="35" name="TextBox 35"/>
            <p:cNvSpPr txBox="1"/>
            <p:nvPr/>
          </p:nvSpPr>
          <p:spPr>
            <a:xfrm>
              <a:off x="9115806" y="33394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检查理解迁移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15806" y="3749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安排后续复习</a:t>
              </a:r>
            </a:p>
          </p:txBody>
        </p:sp>
      </p:grpSp>
      <p:grpSp>
        <p:nvGrpSpPr>
          <p:cNvPr id="39" name="p05-g20"/>
          <p:cNvGrpSpPr/>
          <p:nvPr/>
        </p:nvGrpSpPr>
        <p:grpSpPr>
          <a:xfrm>
            <a:off x="598932" y="4993005"/>
            <a:ext cx="6806184" cy="410718"/>
            <a:chOff x="598932" y="4993005"/>
            <a:chExt cx="6806184" cy="410718"/>
          </a:xfrm>
        </p:grpSpPr>
        <p:sp>
          <p:nvSpPr>
            <p:cNvPr id="38" name="TextBox 38"/>
            <p:cNvSpPr txBox="1"/>
            <p:nvPr/>
          </p:nvSpPr>
          <p:spPr>
            <a:xfrm>
              <a:off x="598932" y="499300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要验证的结果：换了病例条件，仍能解释自己的判断。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6-g2"/>
          <p:cNvGrpSpPr/>
          <p:nvPr/>
        </p:nvGrpSpPr>
        <p:grpSpPr>
          <a:xfrm>
            <a:off x="603504" y="327660"/>
            <a:ext cx="1716481" cy="234696"/>
            <a:chOff x="603504" y="327660"/>
            <a:chExt cx="1716481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训练场景 01</a:t>
              </a:r>
            </a:p>
          </p:txBody>
        </p:sp>
      </p:grpSp>
      <p:grpSp>
        <p:nvGrpSpPr>
          <p:cNvPr id="5" name="p06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16</a:t>
              </a:r>
            </a:p>
          </p:txBody>
        </p:sp>
      </p:grpSp>
      <p:grpSp>
        <p:nvGrpSpPr>
          <p:cNvPr id="7" name="p06-g4"/>
          <p:cNvGrpSpPr/>
          <p:nvPr/>
        </p:nvGrpSpPr>
        <p:grpSpPr>
          <a:xfrm>
            <a:off x="594360" y="809625"/>
            <a:ext cx="6088380" cy="586740"/>
            <a:chOff x="594360" y="809625"/>
            <a:chExt cx="608838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分期与方案：训练辨别条件的能力</a:t>
              </a:r>
            </a:p>
          </p:txBody>
        </p:sp>
      </p:grpSp>
      <p:grpSp>
        <p:nvGrpSpPr>
          <p:cNvPr id="9" name="p06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06-g6"/>
          <p:cNvGrpSpPr/>
          <p:nvPr/>
        </p:nvGrpSpPr>
        <p:grpSpPr>
          <a:xfrm>
            <a:off x="603504" y="6480810"/>
            <a:ext cx="6150864" cy="234696"/>
            <a:chOff x="603504" y="6480810"/>
            <a:chExt cx="61508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产品建议与教学结构示意；具体癌种、分期版本和治疗内容须按考纲及教研审核确定。</a:t>
              </a:r>
            </a:p>
          </p:txBody>
        </p:sp>
      </p:grpSp>
      <p:grpSp>
        <p:nvGrpSpPr>
          <p:cNvPr id="13" name="p06-g7"/>
          <p:cNvGrpSpPr/>
          <p:nvPr/>
        </p:nvGrpSpPr>
        <p:grpSpPr>
          <a:xfrm>
            <a:off x="601980" y="1571625"/>
            <a:ext cx="822960" cy="293370"/>
            <a:chOff x="601980" y="1571625"/>
            <a:chExt cx="822960" cy="293370"/>
          </a:xfrm>
        </p:grpSpPr>
        <p:sp>
          <p:nvSpPr>
            <p:cNvPr id="12" name="TextBox 12"/>
            <p:cNvSpPr txBox="1"/>
            <p:nvPr/>
          </p:nvSpPr>
          <p:spPr>
            <a:xfrm>
              <a:off x="601980" y="1571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分期辨析</a:t>
              </a:r>
            </a:p>
          </p:txBody>
        </p:sp>
      </p:grpSp>
      <p:grpSp>
        <p:nvGrpSpPr>
          <p:cNvPr id="16" name="p06-g8"/>
          <p:cNvGrpSpPr/>
          <p:nvPr/>
        </p:nvGrpSpPr>
        <p:grpSpPr>
          <a:xfrm>
            <a:off x="594360" y="1981200"/>
            <a:ext cx="2453640" cy="1177290"/>
            <a:chOff x="594360" y="1981200"/>
            <a:chExt cx="2453640" cy="1177290"/>
          </a:xfrm>
        </p:grpSpPr>
        <p:sp>
          <p:nvSpPr>
            <p:cNvPr id="14" name="TextBox 14"/>
            <p:cNvSpPr txBox="1"/>
            <p:nvPr/>
          </p:nvSpPr>
          <p:spPr>
            <a:xfrm>
              <a:off x="594360" y="19812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先看清条件，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4360" y="25717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再比较结论。</a:t>
              </a:r>
            </a:p>
          </p:txBody>
        </p:sp>
      </p:grpSp>
      <p:grpSp>
        <p:nvGrpSpPr>
          <p:cNvPr id="18" name="p06-g9"/>
          <p:cNvGrpSpPr/>
          <p:nvPr/>
        </p:nvGrpSpPr>
        <p:grpSpPr>
          <a:xfrm>
            <a:off x="5551932" y="1906905"/>
            <a:ext cx="1152144" cy="410718"/>
            <a:chOff x="5551932" y="1906905"/>
            <a:chExt cx="1152144" cy="410718"/>
          </a:xfrm>
        </p:grpSpPr>
        <p:sp>
          <p:nvSpPr>
            <p:cNvPr id="17" name="TextBox 17"/>
            <p:cNvSpPr txBox="1"/>
            <p:nvPr/>
          </p:nvSpPr>
          <p:spPr>
            <a:xfrm>
              <a:off x="5551932" y="19069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条件提取</a:t>
              </a:r>
            </a:p>
          </p:txBody>
        </p:sp>
      </p:grpSp>
      <p:grpSp>
        <p:nvGrpSpPr>
          <p:cNvPr id="20" name="p06-g10"/>
          <p:cNvGrpSpPr/>
          <p:nvPr/>
        </p:nvGrpSpPr>
        <p:grpSpPr>
          <a:xfrm>
            <a:off x="5553456" y="2386965"/>
            <a:ext cx="2926080" cy="352044"/>
            <a:chOff x="5553456" y="2386965"/>
            <a:chExt cx="2926080" cy="352044"/>
          </a:xfrm>
        </p:grpSpPr>
        <p:sp>
          <p:nvSpPr>
            <p:cNvPr id="19" name="TextBox 19"/>
            <p:cNvSpPr txBox="1"/>
            <p:nvPr/>
          </p:nvSpPr>
          <p:spPr>
            <a:xfrm>
              <a:off x="5553456" y="23869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病理、分期、关键限制条件</a:t>
              </a:r>
            </a:p>
          </p:txBody>
        </p:sp>
      </p:grpSp>
      <p:grpSp>
        <p:nvGrpSpPr>
          <p:cNvPr id="22" name="p06-g11"/>
          <p:cNvGrpSpPr/>
          <p:nvPr/>
        </p:nvGrpSpPr>
        <p:grpSpPr>
          <a:xfrm>
            <a:off x="5562600" y="2838450"/>
            <a:ext cx="6019800" cy="9525"/>
            <a:chOff x="5562600" y="2838450"/>
            <a:chExt cx="6019800" cy="9525"/>
          </a:xfrm>
        </p:grpSpPr>
        <p:sp>
          <p:nvSpPr>
            <p:cNvPr id="21" name="Line 21"/>
            <p:cNvSpPr/>
            <p:nvPr/>
          </p:nvSpPr>
          <p:spPr>
            <a:xfrm>
              <a:off x="5562600" y="28384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p06-g12"/>
          <p:cNvGrpSpPr/>
          <p:nvPr/>
        </p:nvGrpSpPr>
        <p:grpSpPr>
          <a:xfrm>
            <a:off x="5551932" y="3088005"/>
            <a:ext cx="1152144" cy="410718"/>
            <a:chOff x="5551932" y="3088005"/>
            <a:chExt cx="1152144" cy="410718"/>
          </a:xfrm>
        </p:grpSpPr>
        <p:sp>
          <p:nvSpPr>
            <p:cNvPr id="23" name="TextBox 23"/>
            <p:cNvSpPr txBox="1"/>
            <p:nvPr/>
          </p:nvSpPr>
          <p:spPr>
            <a:xfrm>
              <a:off x="5551932" y="3088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并列对照</a:t>
              </a:r>
            </a:p>
          </p:txBody>
        </p:sp>
      </p:grpSp>
      <p:grpSp>
        <p:nvGrpSpPr>
          <p:cNvPr id="26" name="p06-g13"/>
          <p:cNvGrpSpPr/>
          <p:nvPr/>
        </p:nvGrpSpPr>
        <p:grpSpPr>
          <a:xfrm>
            <a:off x="5553456" y="3568065"/>
            <a:ext cx="3168396" cy="352044"/>
            <a:chOff x="5553456" y="3568065"/>
            <a:chExt cx="3168396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5553456" y="356806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相似条件下的区别与适用边界</a:t>
              </a:r>
            </a:p>
          </p:txBody>
        </p:sp>
      </p:grpSp>
      <p:grpSp>
        <p:nvGrpSpPr>
          <p:cNvPr id="28" name="p06-g14"/>
          <p:cNvGrpSpPr/>
          <p:nvPr/>
        </p:nvGrpSpPr>
        <p:grpSpPr>
          <a:xfrm>
            <a:off x="5562600" y="4019550"/>
            <a:ext cx="6019800" cy="9525"/>
            <a:chOff x="5562600" y="4019550"/>
            <a:chExt cx="6019800" cy="9525"/>
          </a:xfrm>
        </p:grpSpPr>
        <p:sp>
          <p:nvSpPr>
            <p:cNvPr id="27" name="Line 27"/>
            <p:cNvSpPr/>
            <p:nvPr/>
          </p:nvSpPr>
          <p:spPr>
            <a:xfrm>
              <a:off x="5562600" y="40195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0" name="p06-g15"/>
          <p:cNvGrpSpPr/>
          <p:nvPr/>
        </p:nvGrpSpPr>
        <p:grpSpPr>
          <a:xfrm>
            <a:off x="5551932" y="4269105"/>
            <a:ext cx="1152144" cy="410718"/>
            <a:chOff x="5551932" y="4269105"/>
            <a:chExt cx="1152144" cy="410718"/>
          </a:xfrm>
        </p:grpSpPr>
        <p:sp>
          <p:nvSpPr>
            <p:cNvPr id="29" name="TextBox 29"/>
            <p:cNvSpPr txBox="1"/>
            <p:nvPr/>
          </p:nvSpPr>
          <p:spPr>
            <a:xfrm>
              <a:off x="5551932" y="4269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变式练习</a:t>
              </a:r>
            </a:p>
          </p:txBody>
        </p:sp>
      </p:grpSp>
      <p:grpSp>
        <p:nvGrpSpPr>
          <p:cNvPr id="32" name="p06-g16"/>
          <p:cNvGrpSpPr/>
          <p:nvPr/>
        </p:nvGrpSpPr>
        <p:grpSpPr>
          <a:xfrm>
            <a:off x="5553456" y="4749165"/>
            <a:ext cx="2926080" cy="352044"/>
            <a:chOff x="5553456" y="4749165"/>
            <a:chExt cx="2926080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5553456" y="47491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改变一个条件，再判断一次</a:t>
              </a:r>
            </a:p>
          </p:txBody>
        </p:sp>
      </p:grpSp>
      <p:grpSp>
        <p:nvGrpSpPr>
          <p:cNvPr id="34" name="p06-g17"/>
          <p:cNvGrpSpPr/>
          <p:nvPr/>
        </p:nvGrpSpPr>
        <p:grpSpPr>
          <a:xfrm>
            <a:off x="5562600" y="5200650"/>
            <a:ext cx="6019800" cy="9525"/>
            <a:chOff x="5562600" y="5200650"/>
            <a:chExt cx="6019800" cy="9525"/>
          </a:xfrm>
        </p:grpSpPr>
        <p:sp>
          <p:nvSpPr>
            <p:cNvPr id="33" name="Line 33"/>
            <p:cNvSpPr/>
            <p:nvPr/>
          </p:nvSpPr>
          <p:spPr>
            <a:xfrm>
              <a:off x="5562600" y="52006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8" name="p06-g18"/>
          <p:cNvGrpSpPr/>
          <p:nvPr/>
        </p:nvGrpSpPr>
        <p:grpSpPr>
          <a:xfrm>
            <a:off x="609600" y="4714875"/>
            <a:ext cx="4095750" cy="1104900"/>
            <a:chOff x="609600" y="4714875"/>
            <a:chExt cx="4095750" cy="1104900"/>
          </a:xfrm>
        </p:grpSpPr>
        <p:sp>
          <p:nvSpPr>
            <p:cNvPr id="35" name="Rectangle 35"/>
            <p:cNvSpPr/>
            <p:nvPr/>
          </p:nvSpPr>
          <p:spPr>
            <a:xfrm>
              <a:off x="609600" y="4714875"/>
              <a:ext cx="4095750" cy="110490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9056" y="49206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验证：能否说清差异，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056" y="52825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而非只记住原题答案。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7-g2"/>
          <p:cNvGrpSpPr/>
          <p:nvPr/>
        </p:nvGrpSpPr>
        <p:grpSpPr>
          <a:xfrm>
            <a:off x="603504" y="327660"/>
            <a:ext cx="1716481" cy="234696"/>
            <a:chOff x="603504" y="327660"/>
            <a:chExt cx="1716481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训练场景 02</a:t>
              </a:r>
            </a:p>
          </p:txBody>
        </p:sp>
      </p:grpSp>
      <p:grpSp>
        <p:nvGrpSpPr>
          <p:cNvPr id="5" name="p07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16</a:t>
              </a:r>
            </a:p>
          </p:txBody>
        </p:sp>
      </p:grpSp>
      <p:grpSp>
        <p:nvGrpSpPr>
          <p:cNvPr id="7" name="p07-g4"/>
          <p:cNvGrpSpPr/>
          <p:nvPr/>
        </p:nvGrpSpPr>
        <p:grpSpPr>
          <a:xfrm>
            <a:off x="594360" y="809625"/>
            <a:ext cx="4876800" cy="586740"/>
            <a:chOff x="594360" y="809625"/>
            <a:chExt cx="487680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病例题：把判断依据讲清楚</a:t>
              </a:r>
            </a:p>
          </p:txBody>
        </p:sp>
      </p:grpSp>
      <p:grpSp>
        <p:nvGrpSpPr>
          <p:cNvPr id="9" name="p07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07-g6"/>
          <p:cNvGrpSpPr/>
          <p:nvPr/>
        </p:nvGrpSpPr>
        <p:grpSpPr>
          <a:xfrm>
            <a:off x="603504" y="6480810"/>
            <a:ext cx="6150864" cy="234696"/>
            <a:chOff x="603504" y="6480810"/>
            <a:chExt cx="61508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产品建议：案例练习与正式考试模拟分开；题量、计分及回退规则尚待官方材料确认。</a:t>
              </a:r>
            </a:p>
          </p:txBody>
        </p:sp>
      </p:grpSp>
      <p:grpSp>
        <p:nvGrpSpPr>
          <p:cNvPr id="18" name="p07-g7"/>
          <p:cNvGrpSpPr/>
          <p:nvPr/>
        </p:nvGrpSpPr>
        <p:grpSpPr>
          <a:xfrm>
            <a:off x="609600" y="1885950"/>
            <a:ext cx="3733800" cy="3781425"/>
            <a:chOff x="609600" y="1885950"/>
            <a:chExt cx="3733800" cy="3781425"/>
          </a:xfrm>
        </p:grpSpPr>
        <p:sp>
          <p:nvSpPr>
            <p:cNvPr id="12" name="Rectangle 12"/>
            <p:cNvSpPr/>
            <p:nvPr/>
          </p:nvSpPr>
          <p:spPr>
            <a:xfrm>
              <a:off x="609600" y="1885950"/>
              <a:ext cx="3733800" cy="3781425"/>
            </a:xfrm>
            <a:prstGeom prst="roundRect">
              <a:avLst>
                <a:gd name="adj" fmla="val 40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580" y="2171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病例资料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7532" y="27070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病史与检查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532" y="332613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影像与病理信息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532" y="39452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影响判断的条件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5095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按具体题目提供所需资料</a:t>
              </a:r>
            </a:p>
          </p:txBody>
        </p:sp>
      </p:grpSp>
      <p:grpSp>
        <p:nvGrpSpPr>
          <p:cNvPr id="20" name="p07-g11"/>
          <p:cNvGrpSpPr/>
          <p:nvPr/>
        </p:nvGrpSpPr>
        <p:grpSpPr>
          <a:xfrm>
            <a:off x="5021580" y="2019300"/>
            <a:ext cx="2236470" cy="293370"/>
            <a:chOff x="5021580" y="2019300"/>
            <a:chExt cx="2236470" cy="293370"/>
          </a:xfrm>
        </p:grpSpPr>
        <p:sp>
          <p:nvSpPr>
            <p:cNvPr id="19" name="TextBox 19"/>
            <p:cNvSpPr txBox="1"/>
            <p:nvPr/>
          </p:nvSpPr>
          <p:spPr>
            <a:xfrm>
              <a:off x="5021580" y="20193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题目解析应回答三个问题</a:t>
              </a:r>
            </a:p>
          </p:txBody>
        </p:sp>
      </p:grpSp>
      <p:grpSp>
        <p:nvGrpSpPr>
          <p:cNvPr id="22" name="p07-g12"/>
          <p:cNvGrpSpPr/>
          <p:nvPr/>
        </p:nvGrpSpPr>
        <p:grpSpPr>
          <a:xfrm>
            <a:off x="5018532" y="2583180"/>
            <a:ext cx="1434846" cy="410718"/>
            <a:chOff x="5018532" y="2583180"/>
            <a:chExt cx="1434846" cy="410718"/>
          </a:xfrm>
        </p:grpSpPr>
        <p:sp>
          <p:nvSpPr>
            <p:cNvPr id="21" name="TextBox 21"/>
            <p:cNvSpPr txBox="1"/>
            <p:nvPr/>
          </p:nvSpPr>
          <p:spPr>
            <a:xfrm>
              <a:off x="5018532" y="25831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抓住什么？</a:t>
              </a:r>
            </a:p>
          </p:txBody>
        </p:sp>
      </p:grpSp>
      <p:grpSp>
        <p:nvGrpSpPr>
          <p:cNvPr id="24" name="p07-g13"/>
          <p:cNvGrpSpPr/>
          <p:nvPr/>
        </p:nvGrpSpPr>
        <p:grpSpPr>
          <a:xfrm>
            <a:off x="5020056" y="3044190"/>
            <a:ext cx="3168396" cy="352044"/>
            <a:chOff x="5020056" y="3044190"/>
            <a:chExt cx="3168396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5020056" y="30441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指出本题关键条件及相关考点</a:t>
              </a:r>
            </a:p>
          </p:txBody>
        </p:sp>
      </p:grpSp>
      <p:grpSp>
        <p:nvGrpSpPr>
          <p:cNvPr id="26" name="p07-g14"/>
          <p:cNvGrpSpPr/>
          <p:nvPr/>
        </p:nvGrpSpPr>
        <p:grpSpPr>
          <a:xfrm>
            <a:off x="5018532" y="3716655"/>
            <a:ext cx="1434846" cy="410718"/>
            <a:chOff x="5018532" y="3716655"/>
            <a:chExt cx="1434846" cy="410718"/>
          </a:xfrm>
        </p:grpSpPr>
        <p:sp>
          <p:nvSpPr>
            <p:cNvPr id="25" name="TextBox 25"/>
            <p:cNvSpPr txBox="1"/>
            <p:nvPr/>
          </p:nvSpPr>
          <p:spPr>
            <a:xfrm>
              <a:off x="5018532" y="37166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为什么选？</a:t>
              </a:r>
            </a:p>
          </p:txBody>
        </p:sp>
      </p:grpSp>
      <p:grpSp>
        <p:nvGrpSpPr>
          <p:cNvPr id="28" name="p07-g15"/>
          <p:cNvGrpSpPr/>
          <p:nvPr/>
        </p:nvGrpSpPr>
        <p:grpSpPr>
          <a:xfrm>
            <a:off x="5020056" y="4177665"/>
            <a:ext cx="3168396" cy="352044"/>
            <a:chOff x="5020056" y="4177665"/>
            <a:chExt cx="3168396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5020056" y="417766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解释正确项与其他选项的差异</a:t>
              </a:r>
            </a:p>
          </p:txBody>
        </p:sp>
      </p:grpSp>
      <p:grpSp>
        <p:nvGrpSpPr>
          <p:cNvPr id="30" name="p07-g16"/>
          <p:cNvGrpSpPr/>
          <p:nvPr/>
        </p:nvGrpSpPr>
        <p:grpSpPr>
          <a:xfrm>
            <a:off x="5018532" y="4850130"/>
            <a:ext cx="1434846" cy="410718"/>
            <a:chOff x="5018532" y="4850130"/>
            <a:chExt cx="1434846" cy="410718"/>
          </a:xfrm>
        </p:grpSpPr>
        <p:sp>
          <p:nvSpPr>
            <p:cNvPr id="29" name="TextBox 29"/>
            <p:cNvSpPr txBox="1"/>
            <p:nvPr/>
          </p:nvSpPr>
          <p:spPr>
            <a:xfrm>
              <a:off x="5018532" y="485013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换条件呢？</a:t>
              </a:r>
            </a:p>
          </p:txBody>
        </p:sp>
      </p:grpSp>
      <p:grpSp>
        <p:nvGrpSpPr>
          <p:cNvPr id="32" name="p07-g17"/>
          <p:cNvGrpSpPr/>
          <p:nvPr/>
        </p:nvGrpSpPr>
        <p:grpSpPr>
          <a:xfrm>
            <a:off x="5020056" y="5311140"/>
            <a:ext cx="2683764" cy="352044"/>
            <a:chOff x="5020056" y="5311140"/>
            <a:chExt cx="2683764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5020056" y="53111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用经审核的新题检查理解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8-g2"/>
          <p:cNvGrpSpPr/>
          <p:nvPr/>
        </p:nvGrpSpPr>
        <p:grpSpPr>
          <a:xfrm>
            <a:off x="603504" y="327660"/>
            <a:ext cx="1716481" cy="234696"/>
            <a:chOff x="603504" y="327660"/>
            <a:chExt cx="1716481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训练场景 03</a:t>
              </a:r>
            </a:p>
          </p:txBody>
        </p:sp>
      </p:grpSp>
      <p:grpSp>
        <p:nvGrpSpPr>
          <p:cNvPr id="5" name="p08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16</a:t>
              </a:r>
            </a:p>
          </p:txBody>
        </p:sp>
      </p:grpSp>
      <p:grpSp>
        <p:nvGrpSpPr>
          <p:cNvPr id="7" name="p08-g4"/>
          <p:cNvGrpSpPr/>
          <p:nvPr/>
        </p:nvGrpSpPr>
        <p:grpSpPr>
          <a:xfrm>
            <a:off x="594360" y="809625"/>
            <a:ext cx="5684520" cy="586740"/>
            <a:chOff x="594360" y="809625"/>
            <a:chExt cx="568452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药物知识：组织成可复习的关系</a:t>
              </a:r>
            </a:p>
          </p:txBody>
        </p:sp>
      </p:grpSp>
      <p:grpSp>
        <p:nvGrpSpPr>
          <p:cNvPr id="9" name="p08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08-g6"/>
          <p:cNvGrpSpPr/>
          <p:nvPr/>
        </p:nvGrpSpPr>
        <p:grpSpPr>
          <a:xfrm>
            <a:off x="603504" y="6480810"/>
            <a:ext cx="6150864" cy="234696"/>
            <a:chOff x="603504" y="6480810"/>
            <a:chExt cx="61508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产品建议：药物知识按适用考纲和参考版本建设，不把临床新指南自动等同考试要求。</a:t>
              </a:r>
            </a:p>
          </p:txBody>
        </p:sp>
      </p:grpSp>
      <p:grpSp>
        <p:nvGrpSpPr>
          <p:cNvPr id="13" name="p08-g7"/>
          <p:cNvGrpSpPr/>
          <p:nvPr/>
        </p:nvGrpSpPr>
        <p:grpSpPr>
          <a:xfrm>
            <a:off x="600456" y="1491615"/>
            <a:ext cx="6076188" cy="352044"/>
            <a:chOff x="600456" y="1491615"/>
            <a:chExt cx="60761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600456" y="14916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把分散的知识，整理成可对照、可追问、可复习的内容。</a:t>
              </a:r>
            </a:p>
          </p:txBody>
        </p:sp>
      </p:grpSp>
      <p:grpSp>
        <p:nvGrpSpPr>
          <p:cNvPr id="15" name="p08-g8"/>
          <p:cNvGrpSpPr/>
          <p:nvPr/>
        </p:nvGrpSpPr>
        <p:grpSpPr>
          <a:xfrm>
            <a:off x="609600" y="2124075"/>
            <a:ext cx="419100" cy="9525"/>
            <a:chOff x="609600" y="2124075"/>
            <a:chExt cx="419100" cy="9525"/>
          </a:xfrm>
        </p:grpSpPr>
        <p:sp>
          <p:nvSpPr>
            <p:cNvPr id="14" name="Line 14"/>
            <p:cNvSpPr/>
            <p:nvPr/>
          </p:nvSpPr>
          <p:spPr>
            <a:xfrm>
              <a:off x="609600" y="21240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7" name="p08-g9"/>
          <p:cNvGrpSpPr/>
          <p:nvPr/>
        </p:nvGrpSpPr>
        <p:grpSpPr>
          <a:xfrm>
            <a:off x="598932" y="2306955"/>
            <a:ext cx="1152144" cy="410718"/>
            <a:chOff x="598932" y="2306955"/>
            <a:chExt cx="1152144" cy="410718"/>
          </a:xfrm>
        </p:grpSpPr>
        <p:sp>
          <p:nvSpPr>
            <p:cNvPr id="16" name="TextBox 16"/>
            <p:cNvSpPr txBox="1"/>
            <p:nvPr/>
          </p:nvSpPr>
          <p:spPr>
            <a:xfrm>
              <a:off x="598932" y="2306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适用条件</a:t>
              </a:r>
            </a:p>
          </p:txBody>
        </p:sp>
      </p:grpSp>
      <p:grpSp>
        <p:nvGrpSpPr>
          <p:cNvPr id="19" name="p08-g10"/>
          <p:cNvGrpSpPr/>
          <p:nvPr/>
        </p:nvGrpSpPr>
        <p:grpSpPr>
          <a:xfrm>
            <a:off x="600456" y="2787015"/>
            <a:ext cx="3168396" cy="352044"/>
            <a:chOff x="600456" y="2787015"/>
            <a:chExt cx="3168396" cy="352044"/>
          </a:xfrm>
        </p:grpSpPr>
        <p:sp>
          <p:nvSpPr>
            <p:cNvPr id="18" name="TextBox 18"/>
            <p:cNvSpPr txBox="1"/>
            <p:nvPr/>
          </p:nvSpPr>
          <p:spPr>
            <a:xfrm>
              <a:off x="600456" y="27870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在什么情境下讨论这一知识？</a:t>
              </a:r>
            </a:p>
          </p:txBody>
        </p:sp>
      </p:grpSp>
      <p:grpSp>
        <p:nvGrpSpPr>
          <p:cNvPr id="21" name="p08-g11"/>
          <p:cNvGrpSpPr/>
          <p:nvPr/>
        </p:nvGrpSpPr>
        <p:grpSpPr>
          <a:xfrm>
            <a:off x="6286500" y="2124075"/>
            <a:ext cx="419100" cy="9525"/>
            <a:chOff x="6286500" y="2124075"/>
            <a:chExt cx="419100" cy="9525"/>
          </a:xfrm>
        </p:grpSpPr>
        <p:sp>
          <p:nvSpPr>
            <p:cNvPr id="20" name="Line 20"/>
            <p:cNvSpPr/>
            <p:nvPr/>
          </p:nvSpPr>
          <p:spPr>
            <a:xfrm>
              <a:off x="6286500" y="21240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3" name="p08-g12"/>
          <p:cNvGrpSpPr/>
          <p:nvPr/>
        </p:nvGrpSpPr>
        <p:grpSpPr>
          <a:xfrm>
            <a:off x="6275832" y="2306955"/>
            <a:ext cx="1434846" cy="410718"/>
            <a:chOff x="6275832" y="2306955"/>
            <a:chExt cx="1434846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6275832" y="23069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作用与特点</a:t>
              </a:r>
            </a:p>
          </p:txBody>
        </p:sp>
      </p:grpSp>
      <p:grpSp>
        <p:nvGrpSpPr>
          <p:cNvPr id="25" name="p08-g13"/>
          <p:cNvGrpSpPr/>
          <p:nvPr/>
        </p:nvGrpSpPr>
        <p:grpSpPr>
          <a:xfrm>
            <a:off x="6277356" y="2787015"/>
            <a:ext cx="2683764" cy="352044"/>
            <a:chOff x="6277356" y="2787015"/>
            <a:chExt cx="2683764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6277356" y="27870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哪些特征影响题目判断？</a:t>
              </a:r>
            </a:p>
          </p:txBody>
        </p:sp>
      </p:grpSp>
      <p:grpSp>
        <p:nvGrpSpPr>
          <p:cNvPr id="27" name="p08-g14"/>
          <p:cNvGrpSpPr/>
          <p:nvPr/>
        </p:nvGrpSpPr>
        <p:grpSpPr>
          <a:xfrm>
            <a:off x="609600" y="3686175"/>
            <a:ext cx="419100" cy="9525"/>
            <a:chOff x="609600" y="3686175"/>
            <a:chExt cx="419100" cy="9525"/>
          </a:xfrm>
        </p:grpSpPr>
        <p:sp>
          <p:nvSpPr>
            <p:cNvPr id="26" name="Line 26"/>
            <p:cNvSpPr/>
            <p:nvPr/>
          </p:nvSpPr>
          <p:spPr>
            <a:xfrm>
              <a:off x="609600" y="3686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9" name="p08-g15"/>
          <p:cNvGrpSpPr/>
          <p:nvPr/>
        </p:nvGrpSpPr>
        <p:grpSpPr>
          <a:xfrm>
            <a:off x="598932" y="3869055"/>
            <a:ext cx="1152144" cy="410718"/>
            <a:chOff x="598932" y="3869055"/>
            <a:chExt cx="1152144" cy="410718"/>
          </a:xfrm>
        </p:grpSpPr>
        <p:sp>
          <p:nvSpPr>
            <p:cNvPr id="28" name="TextBox 28"/>
            <p:cNvSpPr txBox="1"/>
            <p:nvPr/>
          </p:nvSpPr>
          <p:spPr>
            <a:xfrm>
              <a:off x="598932" y="38690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不良反应</a:t>
              </a:r>
            </a:p>
          </p:txBody>
        </p:sp>
      </p:grpSp>
      <p:grpSp>
        <p:nvGrpSpPr>
          <p:cNvPr id="31" name="p08-g16"/>
          <p:cNvGrpSpPr/>
          <p:nvPr/>
        </p:nvGrpSpPr>
        <p:grpSpPr>
          <a:xfrm>
            <a:off x="600456" y="4349115"/>
            <a:ext cx="3168396" cy="352044"/>
            <a:chOff x="600456" y="4349115"/>
            <a:chExt cx="3168396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600456" y="43491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哪些表现和处理原则需区分？</a:t>
              </a:r>
            </a:p>
          </p:txBody>
        </p:sp>
      </p:grpSp>
      <p:grpSp>
        <p:nvGrpSpPr>
          <p:cNvPr id="33" name="p08-g17"/>
          <p:cNvGrpSpPr/>
          <p:nvPr/>
        </p:nvGrpSpPr>
        <p:grpSpPr>
          <a:xfrm>
            <a:off x="6286500" y="3686175"/>
            <a:ext cx="419100" cy="9525"/>
            <a:chOff x="6286500" y="3686175"/>
            <a:chExt cx="419100" cy="9525"/>
          </a:xfrm>
        </p:grpSpPr>
        <p:sp>
          <p:nvSpPr>
            <p:cNvPr id="32" name="Line 32"/>
            <p:cNvSpPr/>
            <p:nvPr/>
          </p:nvSpPr>
          <p:spPr>
            <a:xfrm>
              <a:off x="6286500" y="3686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35" name="p08-g18"/>
          <p:cNvGrpSpPr/>
          <p:nvPr/>
        </p:nvGrpSpPr>
        <p:grpSpPr>
          <a:xfrm>
            <a:off x="6275832" y="3869055"/>
            <a:ext cx="869442" cy="410718"/>
            <a:chOff x="6275832" y="3869055"/>
            <a:chExt cx="869442" cy="410718"/>
          </a:xfrm>
        </p:grpSpPr>
        <p:sp>
          <p:nvSpPr>
            <p:cNvPr id="34" name="TextBox 34"/>
            <p:cNvSpPr txBox="1"/>
            <p:nvPr/>
          </p:nvSpPr>
          <p:spPr>
            <a:xfrm>
              <a:off x="6275832" y="38690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易混点</a:t>
              </a:r>
            </a:p>
          </p:txBody>
        </p:sp>
      </p:grpSp>
      <p:grpSp>
        <p:nvGrpSpPr>
          <p:cNvPr id="37" name="p08-g19"/>
          <p:cNvGrpSpPr/>
          <p:nvPr/>
        </p:nvGrpSpPr>
        <p:grpSpPr>
          <a:xfrm>
            <a:off x="6277356" y="4349115"/>
            <a:ext cx="3168396" cy="352044"/>
            <a:chOff x="6277356" y="4349115"/>
            <a:chExt cx="3168396" cy="352044"/>
          </a:xfrm>
        </p:grpSpPr>
        <p:sp>
          <p:nvSpPr>
            <p:cNvPr id="36" name="TextBox 36"/>
            <p:cNvSpPr txBox="1"/>
            <p:nvPr/>
          </p:nvSpPr>
          <p:spPr>
            <a:xfrm>
              <a:off x="6277356" y="43491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与相似药物或方案如何辨别？</a:t>
              </a:r>
            </a:p>
          </p:txBody>
        </p:sp>
      </p:grpSp>
      <p:grpSp>
        <p:nvGrpSpPr>
          <p:cNvPr id="40" name="p08-g20"/>
          <p:cNvGrpSpPr/>
          <p:nvPr/>
        </p:nvGrpSpPr>
        <p:grpSpPr>
          <a:xfrm>
            <a:off x="609600" y="5572125"/>
            <a:ext cx="10972800" cy="491109"/>
            <a:chOff x="609600" y="5572125"/>
            <a:chExt cx="10972800" cy="491109"/>
          </a:xfrm>
        </p:grpSpPr>
        <p:sp>
          <p:nvSpPr>
            <p:cNvPr id="38" name="Rectangle 38"/>
            <p:cNvSpPr/>
            <p:nvPr/>
          </p:nvSpPr>
          <p:spPr>
            <a:xfrm>
              <a:off x="609600" y="5572125"/>
              <a:ext cx="10972800" cy="485775"/>
            </a:xfrm>
            <a:prstGeom prst="roundRect">
              <a:avLst>
                <a:gd name="adj" fmla="val 196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9056" y="571119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学习验证：隔一段时间换题复测，观察是否仍能正确辨别。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09-g2"/>
          <p:cNvGrpSpPr/>
          <p:nvPr/>
        </p:nvGrpSpPr>
        <p:grpSpPr>
          <a:xfrm>
            <a:off x="603504" y="327660"/>
            <a:ext cx="1651864" cy="234696"/>
            <a:chOff x="603504" y="327660"/>
            <a:chExt cx="1651864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内容与教研</a:t>
              </a:r>
            </a:p>
          </p:txBody>
        </p:sp>
      </p:grpSp>
      <p:grpSp>
        <p:nvGrpSpPr>
          <p:cNvPr id="5" name="p09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16</a:t>
              </a:r>
            </a:p>
          </p:txBody>
        </p:sp>
      </p:grpSp>
      <p:grpSp>
        <p:nvGrpSpPr>
          <p:cNvPr id="7" name="p09-g4"/>
          <p:cNvGrpSpPr/>
          <p:nvPr/>
        </p:nvGrpSpPr>
        <p:grpSpPr>
          <a:xfrm>
            <a:off x="594360" y="809625"/>
            <a:ext cx="5280660" cy="586740"/>
            <a:chOff x="594360" y="809625"/>
            <a:chExt cx="528066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内容可信，学习功能才有价值</a:t>
              </a:r>
            </a:p>
          </p:txBody>
        </p:sp>
      </p:grpSp>
      <p:grpSp>
        <p:nvGrpSpPr>
          <p:cNvPr id="9" name="p09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09-g6"/>
          <p:cNvGrpSpPr/>
          <p:nvPr/>
        </p:nvGrpSpPr>
        <p:grpSpPr>
          <a:xfrm>
            <a:off x="603504" y="6480810"/>
            <a:ext cx="4373880" cy="234696"/>
            <a:chOff x="603504" y="6480810"/>
            <a:chExt cx="4373880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内容治理建议；题目、解析、素材均需确认来源和使用范围。</a:t>
              </a:r>
            </a:p>
          </p:txBody>
        </p:sp>
      </p:grpSp>
      <p:grpSp>
        <p:nvGrpSpPr>
          <p:cNvPr id="13" name="p09-g7"/>
          <p:cNvGrpSpPr/>
          <p:nvPr/>
        </p:nvGrpSpPr>
        <p:grpSpPr>
          <a:xfrm>
            <a:off x="601980" y="1647825"/>
            <a:ext cx="621030" cy="293370"/>
            <a:chOff x="601980" y="1647825"/>
            <a:chExt cx="621030" cy="293370"/>
          </a:xfrm>
        </p:grpSpPr>
        <p:sp>
          <p:nvSpPr>
            <p:cNvPr id="12" name="TextBox 12"/>
            <p:cNvSpPr txBox="1"/>
            <p:nvPr/>
          </p:nvSpPr>
          <p:spPr>
            <a:xfrm>
              <a:off x="601980" y="1647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上线前</a:t>
              </a:r>
            </a:p>
          </p:txBody>
        </p:sp>
      </p:grpSp>
      <p:grpSp>
        <p:nvGrpSpPr>
          <p:cNvPr id="15" name="p09-g8"/>
          <p:cNvGrpSpPr/>
          <p:nvPr/>
        </p:nvGrpSpPr>
        <p:grpSpPr>
          <a:xfrm>
            <a:off x="7764780" y="1647825"/>
            <a:ext cx="621030" cy="293370"/>
            <a:chOff x="7764780" y="1647825"/>
            <a:chExt cx="621030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7764780" y="1647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上线后</a:t>
              </a:r>
            </a:p>
          </p:txBody>
        </p:sp>
      </p:grpSp>
      <p:grpSp>
        <p:nvGrpSpPr>
          <p:cNvPr id="20" name="p09-g9"/>
          <p:cNvGrpSpPr/>
          <p:nvPr/>
        </p:nvGrpSpPr>
        <p:grpSpPr>
          <a:xfrm>
            <a:off x="609600" y="2133600"/>
            <a:ext cx="3467100" cy="2609850"/>
            <a:chOff x="609600" y="2133600"/>
            <a:chExt cx="3467100" cy="2609850"/>
          </a:xfrm>
        </p:grpSpPr>
        <p:sp>
          <p:nvSpPr>
            <p:cNvPr id="16" name="Rectangle 16"/>
            <p:cNvSpPr/>
            <p:nvPr/>
          </p:nvSpPr>
          <p:spPr>
            <a:xfrm>
              <a:off x="609600" y="2133600"/>
              <a:ext cx="3467100" cy="2609850"/>
            </a:xfrm>
            <a:prstGeom prst="roundRect">
              <a:avLst>
                <a:gd name="adj" fmla="val 583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7532" y="2440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来源与授权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056" y="3101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能追溯题目及解析来源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9056" y="3539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确认可使用的范围</a:t>
              </a:r>
            </a:p>
          </p:txBody>
        </p:sp>
      </p:grpSp>
      <p:grpSp>
        <p:nvGrpSpPr>
          <p:cNvPr id="25" name="p09-g12"/>
          <p:cNvGrpSpPr/>
          <p:nvPr/>
        </p:nvGrpSpPr>
        <p:grpSpPr>
          <a:xfrm>
            <a:off x="4362450" y="2133600"/>
            <a:ext cx="3467100" cy="2609850"/>
            <a:chOff x="4362450" y="2133600"/>
            <a:chExt cx="3467100" cy="2609850"/>
          </a:xfrm>
        </p:grpSpPr>
        <p:sp>
          <p:nvSpPr>
            <p:cNvPr id="21" name="Rectangle 21"/>
            <p:cNvSpPr/>
            <p:nvPr/>
          </p:nvSpPr>
          <p:spPr>
            <a:xfrm>
              <a:off x="4362450" y="2133600"/>
              <a:ext cx="3467100" cy="2609850"/>
            </a:xfrm>
            <a:prstGeom prst="roundRect">
              <a:avLst>
                <a:gd name="adj" fmla="val 583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80382" y="2440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版本与审核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1906" y="3101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对应专业、科目、考纲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81906" y="35394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答案与解析经专业审核</a:t>
              </a:r>
            </a:p>
          </p:txBody>
        </p:sp>
      </p:grpSp>
      <p:grpSp>
        <p:nvGrpSpPr>
          <p:cNvPr id="30" name="p09-g15"/>
          <p:cNvGrpSpPr/>
          <p:nvPr/>
        </p:nvGrpSpPr>
        <p:grpSpPr>
          <a:xfrm>
            <a:off x="8115300" y="2133600"/>
            <a:ext cx="3467100" cy="2609850"/>
            <a:chOff x="8115300" y="2133600"/>
            <a:chExt cx="3467100" cy="2609850"/>
          </a:xfrm>
        </p:grpSpPr>
        <p:sp>
          <p:nvSpPr>
            <p:cNvPr id="26" name="Rectangle 26"/>
            <p:cNvSpPr/>
            <p:nvPr/>
          </p:nvSpPr>
          <p:spPr>
            <a:xfrm>
              <a:off x="8115300" y="2133600"/>
              <a:ext cx="3467100" cy="2609850"/>
            </a:xfrm>
            <a:prstGeom prst="roundRect">
              <a:avLst>
                <a:gd name="adj" fmla="val 583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33232" y="2440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反馈与修订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4756" y="31013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记录争议及修改原因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4756" y="3539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同步更新关联题目</a:t>
              </a:r>
            </a:p>
          </p:txBody>
        </p:sp>
      </p:grpSp>
      <p:grpSp>
        <p:nvGrpSpPr>
          <p:cNvPr id="32" name="p09-g18"/>
          <p:cNvGrpSpPr/>
          <p:nvPr/>
        </p:nvGrpSpPr>
        <p:grpSpPr>
          <a:xfrm>
            <a:off x="609600" y="5219700"/>
            <a:ext cx="10972800" cy="9525"/>
            <a:chOff x="609600" y="5219700"/>
            <a:chExt cx="10972800" cy="9525"/>
          </a:xfrm>
        </p:grpSpPr>
        <p:sp>
          <p:nvSpPr>
            <p:cNvPr id="31" name="Line 31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4" name="p09-g19"/>
          <p:cNvGrpSpPr/>
          <p:nvPr/>
        </p:nvGrpSpPr>
        <p:grpSpPr>
          <a:xfrm>
            <a:off x="598932" y="5440680"/>
            <a:ext cx="1230127" cy="410718"/>
            <a:chOff x="598932" y="5440680"/>
            <a:chExt cx="1230127" cy="410718"/>
          </a:xfrm>
        </p:grpSpPr>
        <p:sp>
          <p:nvSpPr>
            <p:cNvPr id="33" name="TextBox 33"/>
            <p:cNvSpPr txBox="1"/>
            <p:nvPr/>
          </p:nvSpPr>
          <p:spPr>
            <a:xfrm>
              <a:off x="598932" y="5440680"/>
              <a:ext cx="12301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的角色</a:t>
              </a:r>
            </a:p>
          </p:txBody>
        </p:sp>
      </p:grpSp>
      <p:grpSp>
        <p:nvGrpSpPr>
          <p:cNvPr id="36" name="p09-g20"/>
          <p:cNvGrpSpPr/>
          <p:nvPr/>
        </p:nvGrpSpPr>
        <p:grpSpPr>
          <a:xfrm>
            <a:off x="2600706" y="5473065"/>
            <a:ext cx="5591556" cy="352044"/>
            <a:chOff x="2600706" y="5473065"/>
            <a:chExt cx="5591556" cy="352044"/>
          </a:xfrm>
        </p:grpSpPr>
        <p:sp>
          <p:nvSpPr>
            <p:cNvPr id="35" name="TextBox 35"/>
            <p:cNvSpPr txBox="1"/>
            <p:nvPr/>
          </p:nvSpPr>
          <p:spPr>
            <a:xfrm>
              <a:off x="2600706" y="547306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基于已审核内容解释与追问；依据不足时明确提示。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0-g2"/>
          <p:cNvGrpSpPr/>
          <p:nvPr/>
        </p:nvGrpSpPr>
        <p:grpSpPr>
          <a:xfrm>
            <a:off x="603504" y="327660"/>
            <a:ext cx="1651864" cy="234696"/>
            <a:chOff x="603504" y="327660"/>
            <a:chExt cx="1651864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小程序接入</a:t>
              </a:r>
            </a:p>
          </p:txBody>
        </p:sp>
      </p:grpSp>
      <p:grpSp>
        <p:nvGrpSpPr>
          <p:cNvPr id="5" name="p10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16</a:t>
              </a:r>
            </a:p>
          </p:txBody>
        </p:sp>
      </p:grpSp>
      <p:grpSp>
        <p:nvGrpSpPr>
          <p:cNvPr id="7" name="p10-g4"/>
          <p:cNvGrpSpPr/>
          <p:nvPr/>
        </p:nvGrpSpPr>
        <p:grpSpPr>
          <a:xfrm>
            <a:off x="594360" y="809625"/>
            <a:ext cx="6088380" cy="586740"/>
            <a:chOff x="594360" y="809625"/>
            <a:chExt cx="608838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首屏加三个选项，后续按专业适配</a:t>
              </a:r>
            </a:p>
          </p:txBody>
        </p:sp>
      </p:grpSp>
      <p:grpSp>
        <p:nvGrpSpPr>
          <p:cNvPr id="9" name="p10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10-g6"/>
          <p:cNvGrpSpPr/>
          <p:nvPr/>
        </p:nvGrpSpPr>
        <p:grpSpPr>
          <a:xfrm>
            <a:off x="603504" y="6480810"/>
            <a:ext cx="6134405" cy="234696"/>
            <a:chOff x="603504" y="6480810"/>
            <a:chExt cx="6134405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134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依据最新流程截图重绘；示意图非最终UI。已确定首屏扩展，其余专业适配项需评审。</a:t>
              </a:r>
            </a:p>
          </p:txBody>
        </p:sp>
      </p:grpSp>
      <p:grpSp>
        <p:nvGrpSpPr>
          <p:cNvPr id="22" name="p10-g7"/>
          <p:cNvGrpSpPr/>
          <p:nvPr/>
        </p:nvGrpSpPr>
        <p:grpSpPr>
          <a:xfrm>
            <a:off x="609600" y="1724025"/>
            <a:ext cx="4162425" cy="4133850"/>
            <a:chOff x="609600" y="1724025"/>
            <a:chExt cx="4162425" cy="4133850"/>
          </a:xfrm>
        </p:grpSpPr>
        <p:sp>
          <p:nvSpPr>
            <p:cNvPr id="12" name="Rectangle 12"/>
            <p:cNvSpPr/>
            <p:nvPr/>
          </p:nvSpPr>
          <p:spPr>
            <a:xfrm>
              <a:off x="609600" y="1724025"/>
              <a:ext cx="4162425" cy="4133850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9056" y="1977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选择你正在备考的科目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2486025"/>
              <a:ext cx="3705225" cy="561975"/>
            </a:xfrm>
            <a:prstGeom prst="roundRect">
              <a:avLst>
                <a:gd name="adj" fmla="val 1694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0506" y="26631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临床执业医师资格考试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8200" y="3219450"/>
              <a:ext cx="3705225" cy="561975"/>
            </a:xfrm>
            <a:prstGeom prst="roundRect">
              <a:avLst>
                <a:gd name="adj" fmla="val 169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00506" y="3396615"/>
              <a:ext cx="1702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341 肿瘤内科学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3952875"/>
              <a:ext cx="3705225" cy="561975"/>
            </a:xfrm>
            <a:prstGeom prst="roundRect">
              <a:avLst>
                <a:gd name="adj" fmla="val 169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0506" y="4130040"/>
              <a:ext cx="1702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342 肿瘤外科学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4686300"/>
              <a:ext cx="3705225" cy="561975"/>
            </a:xfrm>
            <a:prstGeom prst="roundRect">
              <a:avLst>
                <a:gd name="adj" fmla="val 169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0506" y="4863465"/>
              <a:ext cx="21870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343 肿瘤放射治疗学</a:t>
              </a:r>
            </a:p>
          </p:txBody>
        </p:sp>
      </p:grpSp>
      <p:grpSp>
        <p:nvGrpSpPr>
          <p:cNvPr id="24" name="p10-g17"/>
          <p:cNvGrpSpPr/>
          <p:nvPr/>
        </p:nvGrpSpPr>
        <p:grpSpPr>
          <a:xfrm>
            <a:off x="5335905" y="1809750"/>
            <a:ext cx="2842260" cy="293370"/>
            <a:chOff x="5335905" y="1809750"/>
            <a:chExt cx="2842260" cy="293370"/>
          </a:xfrm>
        </p:grpSpPr>
        <p:sp>
          <p:nvSpPr>
            <p:cNvPr id="23" name="TextBox 23"/>
            <p:cNvSpPr txBox="1"/>
            <p:nvPr/>
          </p:nvSpPr>
          <p:spPr>
            <a:xfrm>
              <a:off x="5335905" y="18097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沿用现有步骤，内容随专业切换</a:t>
              </a:r>
            </a:p>
          </p:txBody>
        </p:sp>
      </p:grpSp>
      <p:grpSp>
        <p:nvGrpSpPr>
          <p:cNvPr id="26" name="p10-g18"/>
          <p:cNvGrpSpPr/>
          <p:nvPr/>
        </p:nvGrpSpPr>
        <p:grpSpPr>
          <a:xfrm>
            <a:off x="5334381" y="2453640"/>
            <a:ext cx="298163" cy="352044"/>
            <a:chOff x="5334381" y="2453640"/>
            <a:chExt cx="298163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5334381" y="24536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8" name="p10-g19"/>
          <p:cNvGrpSpPr/>
          <p:nvPr/>
        </p:nvGrpSpPr>
        <p:grpSpPr>
          <a:xfrm>
            <a:off x="5942457" y="2421255"/>
            <a:ext cx="1152144" cy="410718"/>
            <a:chOff x="5942457" y="2421255"/>
            <a:chExt cx="1152144" cy="410718"/>
          </a:xfrm>
        </p:grpSpPr>
        <p:sp>
          <p:nvSpPr>
            <p:cNvPr id="27" name="TextBox 27"/>
            <p:cNvSpPr txBox="1"/>
            <p:nvPr/>
          </p:nvSpPr>
          <p:spPr>
            <a:xfrm>
              <a:off x="5942457" y="24212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备考信息</a:t>
              </a:r>
            </a:p>
          </p:txBody>
        </p:sp>
      </p:grpSp>
      <p:grpSp>
        <p:nvGrpSpPr>
          <p:cNvPr id="30" name="p10-g20"/>
          <p:cNvGrpSpPr/>
          <p:nvPr/>
        </p:nvGrpSpPr>
        <p:grpSpPr>
          <a:xfrm>
            <a:off x="5943981" y="2853690"/>
            <a:ext cx="2926080" cy="352044"/>
            <a:chOff x="5943981" y="2853690"/>
            <a:chExt cx="2926080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5943981" y="28536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时间、备考状态及待考科目</a:t>
              </a:r>
            </a:p>
          </p:txBody>
        </p:sp>
      </p:grpSp>
      <p:grpSp>
        <p:nvGrpSpPr>
          <p:cNvPr id="32" name="p10-g21"/>
          <p:cNvGrpSpPr/>
          <p:nvPr/>
        </p:nvGrpSpPr>
        <p:grpSpPr>
          <a:xfrm>
            <a:off x="5334381" y="3520440"/>
            <a:ext cx="298163" cy="352044"/>
            <a:chOff x="5334381" y="3520440"/>
            <a:chExt cx="298163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5334381" y="35204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34" name="p10-g22"/>
          <p:cNvGrpSpPr/>
          <p:nvPr/>
        </p:nvGrpSpPr>
        <p:grpSpPr>
          <a:xfrm>
            <a:off x="5942457" y="3488055"/>
            <a:ext cx="1434846" cy="410718"/>
            <a:chOff x="5942457" y="3488055"/>
            <a:chExt cx="1434846" cy="410718"/>
          </a:xfrm>
        </p:grpSpPr>
        <p:sp>
          <p:nvSpPr>
            <p:cNvPr id="33" name="TextBox 33"/>
            <p:cNvSpPr txBox="1"/>
            <p:nvPr/>
          </p:nvSpPr>
          <p:spPr>
            <a:xfrm>
              <a:off x="5942457" y="3488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初测与计划</a:t>
              </a:r>
            </a:p>
          </p:txBody>
        </p:sp>
      </p:grpSp>
      <p:grpSp>
        <p:nvGrpSpPr>
          <p:cNvPr id="36" name="p10-g23"/>
          <p:cNvGrpSpPr/>
          <p:nvPr/>
        </p:nvGrpSpPr>
        <p:grpSpPr>
          <a:xfrm>
            <a:off x="5943981" y="3920490"/>
            <a:ext cx="3168396" cy="352044"/>
            <a:chOff x="5943981" y="3920490"/>
            <a:chExt cx="3168396" cy="352044"/>
          </a:xfrm>
        </p:grpSpPr>
        <p:sp>
          <p:nvSpPr>
            <p:cNvPr id="35" name="TextBox 35"/>
            <p:cNvSpPr txBox="1"/>
            <p:nvPr/>
          </p:nvSpPr>
          <p:spPr>
            <a:xfrm>
              <a:off x="5943981" y="39204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配置专业题目，给出学习建议</a:t>
              </a:r>
            </a:p>
          </p:txBody>
        </p:sp>
      </p:grpSp>
      <p:grpSp>
        <p:nvGrpSpPr>
          <p:cNvPr id="38" name="p10-g24"/>
          <p:cNvGrpSpPr/>
          <p:nvPr/>
        </p:nvGrpSpPr>
        <p:grpSpPr>
          <a:xfrm>
            <a:off x="5334381" y="4587240"/>
            <a:ext cx="298163" cy="352044"/>
            <a:chOff x="5334381" y="4587240"/>
            <a:chExt cx="298163" cy="352044"/>
          </a:xfrm>
        </p:grpSpPr>
        <p:sp>
          <p:nvSpPr>
            <p:cNvPr id="37" name="TextBox 37"/>
            <p:cNvSpPr txBox="1"/>
            <p:nvPr/>
          </p:nvSpPr>
          <p:spPr>
            <a:xfrm>
              <a:off x="5334381" y="4587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40" name="p10-g25"/>
          <p:cNvGrpSpPr/>
          <p:nvPr/>
        </p:nvGrpSpPr>
        <p:grpSpPr>
          <a:xfrm>
            <a:off x="5942457" y="4554855"/>
            <a:ext cx="1152144" cy="410718"/>
            <a:chOff x="5942457" y="4554855"/>
            <a:chExt cx="1152144" cy="410718"/>
          </a:xfrm>
        </p:grpSpPr>
        <p:sp>
          <p:nvSpPr>
            <p:cNvPr id="39" name="TextBox 39"/>
            <p:cNvSpPr txBox="1"/>
            <p:nvPr/>
          </p:nvSpPr>
          <p:spPr>
            <a:xfrm>
              <a:off x="5942457" y="45548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学习首页</a:t>
              </a:r>
            </a:p>
          </p:txBody>
        </p:sp>
      </p:grpSp>
      <p:grpSp>
        <p:nvGrpSpPr>
          <p:cNvPr id="42" name="p10-g26"/>
          <p:cNvGrpSpPr/>
          <p:nvPr/>
        </p:nvGrpSpPr>
        <p:grpSpPr>
          <a:xfrm>
            <a:off x="5943981" y="4987290"/>
            <a:ext cx="3168396" cy="352044"/>
            <a:chOff x="5943981" y="4987290"/>
            <a:chExt cx="3168396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5943981" y="49872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专业题目、解析、进度与续学</a:t>
              </a:r>
            </a:p>
          </p:txBody>
        </p:sp>
      </p:grpSp>
      <p:grpSp>
        <p:nvGrpSpPr>
          <p:cNvPr id="44" name="p10-g27"/>
          <p:cNvGrpSpPr/>
          <p:nvPr/>
        </p:nvGrpSpPr>
        <p:grpSpPr>
          <a:xfrm>
            <a:off x="5335905" y="5762625"/>
            <a:ext cx="2236470" cy="293370"/>
            <a:chOff x="5335905" y="5762625"/>
            <a:chExt cx="2236470" cy="293370"/>
          </a:xfrm>
        </p:grpSpPr>
        <p:sp>
          <p:nvSpPr>
            <p:cNvPr id="43" name="TextBox 43"/>
            <p:cNvSpPr txBox="1"/>
            <p:nvPr/>
          </p:nvSpPr>
          <p:spPr>
            <a:xfrm>
              <a:off x="5335905" y="57626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收费节点与权益另行确定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1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首期范围</a:t>
              </a:r>
            </a:p>
          </p:txBody>
        </p:sp>
      </p:grpSp>
      <p:grpSp>
        <p:nvGrpSpPr>
          <p:cNvPr id="5" name="p11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16</a:t>
              </a:r>
            </a:p>
          </p:txBody>
        </p:sp>
      </p:grpSp>
      <p:grpSp>
        <p:nvGrpSpPr>
          <p:cNvPr id="7" name="p11-g4"/>
          <p:cNvGrpSpPr/>
          <p:nvPr/>
        </p:nvGrpSpPr>
        <p:grpSpPr>
          <a:xfrm>
            <a:off x="594360" y="809625"/>
            <a:ext cx="5684520" cy="586740"/>
            <a:chOff x="594360" y="809625"/>
            <a:chExt cx="568452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首期先交付完整的基础学习流程</a:t>
              </a:r>
            </a:p>
          </p:txBody>
        </p:sp>
      </p:grpSp>
      <p:grpSp>
        <p:nvGrpSpPr>
          <p:cNvPr id="9" name="p11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11-g6"/>
          <p:cNvGrpSpPr/>
          <p:nvPr/>
        </p:nvGrpSpPr>
        <p:grpSpPr>
          <a:xfrm>
            <a:off x="603504" y="6480810"/>
            <a:ext cx="6473952" cy="234696"/>
            <a:chOff x="603504" y="6480810"/>
            <a:chExt cx="6473952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473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已定范围来自用户要求；基础学习流程与增强功能的具体交付仍需业务、教研和研发评审。</a:t>
              </a:r>
            </a:p>
          </p:txBody>
        </p:sp>
      </p:grpSp>
      <p:grpSp>
        <p:nvGrpSpPr>
          <p:cNvPr id="13" name="p11-g7"/>
          <p:cNvGrpSpPr/>
          <p:nvPr/>
        </p:nvGrpSpPr>
        <p:grpSpPr>
          <a:xfrm>
            <a:off x="601980" y="1628775"/>
            <a:ext cx="621030" cy="293370"/>
            <a:chOff x="601980" y="1628775"/>
            <a:chExt cx="621030" cy="293370"/>
          </a:xfrm>
        </p:grpSpPr>
        <p:sp>
          <p:nvSpPr>
            <p:cNvPr id="12" name="TextBox 12"/>
            <p:cNvSpPr txBox="1"/>
            <p:nvPr/>
          </p:nvSpPr>
          <p:spPr>
            <a:xfrm>
              <a:off x="601980" y="1628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已确定</a:t>
              </a:r>
            </a:p>
          </p:txBody>
        </p:sp>
      </p:grpSp>
      <p:grpSp>
        <p:nvGrpSpPr>
          <p:cNvPr id="15" name="p11-g8"/>
          <p:cNvGrpSpPr/>
          <p:nvPr/>
        </p:nvGrpSpPr>
        <p:grpSpPr>
          <a:xfrm>
            <a:off x="598932" y="2002155"/>
            <a:ext cx="5392674" cy="410718"/>
            <a:chOff x="598932" y="2002155"/>
            <a:chExt cx="5392674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598932" y="20021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三专业同步接入，首屏直接增加三个选项。</a:t>
              </a:r>
            </a:p>
          </p:txBody>
        </p:sp>
      </p:grpSp>
      <p:grpSp>
        <p:nvGrpSpPr>
          <p:cNvPr id="17" name="p11-g9"/>
          <p:cNvGrpSpPr/>
          <p:nvPr/>
        </p:nvGrpSpPr>
        <p:grpSpPr>
          <a:xfrm>
            <a:off x="609600" y="2581275"/>
            <a:ext cx="10972800" cy="9525"/>
            <a:chOff x="609600" y="2581275"/>
            <a:chExt cx="10972800" cy="9525"/>
          </a:xfrm>
        </p:grpSpPr>
        <p:sp>
          <p:nvSpPr>
            <p:cNvPr id="16" name="Line 16"/>
            <p:cNvSpPr/>
            <p:nvPr/>
          </p:nvSpPr>
          <p:spPr>
            <a:xfrm>
              <a:off x="609600" y="25812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p11-g10"/>
          <p:cNvGrpSpPr/>
          <p:nvPr/>
        </p:nvGrpSpPr>
        <p:grpSpPr>
          <a:xfrm>
            <a:off x="601980" y="2914650"/>
            <a:ext cx="1226820" cy="293370"/>
            <a:chOff x="601980" y="2914650"/>
            <a:chExt cx="1226820" cy="293370"/>
          </a:xfrm>
        </p:grpSpPr>
        <p:sp>
          <p:nvSpPr>
            <p:cNvPr id="18" name="TextBox 18"/>
            <p:cNvSpPr txBox="1"/>
            <p:nvPr/>
          </p:nvSpPr>
          <p:spPr>
            <a:xfrm>
              <a:off x="601980" y="29146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基础交付建议</a:t>
              </a:r>
            </a:p>
          </p:txBody>
        </p:sp>
      </p:grpSp>
      <p:grpSp>
        <p:nvGrpSpPr>
          <p:cNvPr id="22" name="p11-g11"/>
          <p:cNvGrpSpPr/>
          <p:nvPr/>
        </p:nvGrpSpPr>
        <p:grpSpPr>
          <a:xfrm>
            <a:off x="598932" y="3392805"/>
            <a:ext cx="2965677" cy="906018"/>
            <a:chOff x="598932" y="3392805"/>
            <a:chExt cx="2965677" cy="906018"/>
          </a:xfrm>
        </p:grpSpPr>
        <p:sp>
          <p:nvSpPr>
            <p:cNvPr id="20" name="TextBox 20"/>
            <p:cNvSpPr txBox="1"/>
            <p:nvPr/>
          </p:nvSpPr>
          <p:spPr>
            <a:xfrm>
              <a:off x="598932" y="3392805"/>
              <a:ext cx="2965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选专业 → 做题 → 看解析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8932" y="388810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保存进度 → 继续学习</a:t>
              </a:r>
            </a:p>
          </p:txBody>
        </p:sp>
      </p:grpSp>
      <p:grpSp>
        <p:nvGrpSpPr>
          <p:cNvPr id="24" name="p11-g12"/>
          <p:cNvGrpSpPr/>
          <p:nvPr/>
        </p:nvGrpSpPr>
        <p:grpSpPr>
          <a:xfrm>
            <a:off x="600456" y="4730115"/>
            <a:ext cx="4379976" cy="352044"/>
            <a:chOff x="600456" y="4730115"/>
            <a:chExt cx="4379976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600456" y="473011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先确保三个专业都能完成基本学习任务。</a:t>
              </a:r>
            </a:p>
          </p:txBody>
        </p:sp>
      </p:grpSp>
      <p:grpSp>
        <p:nvGrpSpPr>
          <p:cNvPr id="30" name="p11-g13"/>
          <p:cNvGrpSpPr/>
          <p:nvPr/>
        </p:nvGrpSpPr>
        <p:grpSpPr>
          <a:xfrm>
            <a:off x="7334250" y="2914650"/>
            <a:ext cx="4248150" cy="2762250"/>
            <a:chOff x="7334250" y="2914650"/>
            <a:chExt cx="4248150" cy="2762250"/>
          </a:xfrm>
        </p:grpSpPr>
        <p:sp>
          <p:nvSpPr>
            <p:cNvPr id="25" name="Rectangle 25"/>
            <p:cNvSpPr/>
            <p:nvPr/>
          </p:nvSpPr>
          <p:spPr>
            <a:xfrm>
              <a:off x="7334250" y="2914650"/>
              <a:ext cx="4248150" cy="2762250"/>
            </a:xfrm>
            <a:prstGeom prst="roundRect">
              <a:avLst>
                <a:gd name="adj" fmla="val 55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93330" y="3171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增强功能待评审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91806" y="36918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案例训练与专业题型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91806" y="4177665"/>
              <a:ext cx="26590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AI追问、易混对照与复测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91806" y="46634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学习计划的进一步适配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2-g2"/>
          <p:cNvGrpSpPr/>
          <p:nvPr/>
        </p:nvGrpSpPr>
        <p:grpSpPr>
          <a:xfrm>
            <a:off x="603504" y="327660"/>
            <a:ext cx="1813408" cy="234696"/>
            <a:chOff x="603504" y="327660"/>
            <a:chExt cx="181340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竞争与差异化</a:t>
              </a:r>
            </a:p>
          </p:txBody>
        </p:sp>
      </p:grpSp>
      <p:grpSp>
        <p:nvGrpSpPr>
          <p:cNvPr id="5" name="p12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16</a:t>
              </a:r>
            </a:p>
          </p:txBody>
        </p:sp>
      </p:grpSp>
      <p:grpSp>
        <p:nvGrpSpPr>
          <p:cNvPr id="7" name="p12-g4"/>
          <p:cNvGrpSpPr/>
          <p:nvPr/>
        </p:nvGrpSpPr>
        <p:grpSpPr>
          <a:xfrm>
            <a:off x="594360" y="809625"/>
            <a:ext cx="5280660" cy="586740"/>
            <a:chOff x="594360" y="809625"/>
            <a:chExt cx="528066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竞品比较，围绕学习任务展开</a:t>
              </a:r>
            </a:p>
          </p:txBody>
        </p:sp>
      </p:grpSp>
      <p:grpSp>
        <p:nvGrpSpPr>
          <p:cNvPr id="9" name="p12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12-g6"/>
          <p:cNvGrpSpPr/>
          <p:nvPr/>
        </p:nvGrpSpPr>
        <p:grpSpPr>
          <a:xfrm>
            <a:off x="603504" y="6480810"/>
            <a:ext cx="6635496" cy="234696"/>
            <a:chOff x="603504" y="6480810"/>
            <a:chExt cx="6635496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635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候选调研对象：阿虎医考、考试宝典、圣才／圣题库、蓝基因、医考帮；覆盖与价格待留证。</a:t>
              </a:r>
            </a:p>
          </p:txBody>
        </p:sp>
      </p:grpSp>
      <p:grpSp>
        <p:nvGrpSpPr>
          <p:cNvPr id="14" name="p12-g7"/>
          <p:cNvGrpSpPr/>
          <p:nvPr/>
        </p:nvGrpSpPr>
        <p:grpSpPr>
          <a:xfrm>
            <a:off x="594360" y="1724025"/>
            <a:ext cx="4472940" cy="1177290"/>
            <a:chOff x="594360" y="1724025"/>
            <a:chExt cx="4472940" cy="1177290"/>
          </a:xfrm>
        </p:grpSpPr>
        <p:sp>
          <p:nvSpPr>
            <p:cNvPr id="12" name="TextBox 12"/>
            <p:cNvSpPr txBox="1"/>
            <p:nvPr/>
          </p:nvSpPr>
          <p:spPr>
            <a:xfrm>
              <a:off x="594360" y="1724025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我们的机会假设：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2314575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降低理解与复习的成本。</a:t>
              </a:r>
            </a:p>
          </p:txBody>
        </p:sp>
      </p:grpSp>
      <p:grpSp>
        <p:nvGrpSpPr>
          <p:cNvPr id="16" name="p12-g8"/>
          <p:cNvGrpSpPr/>
          <p:nvPr/>
        </p:nvGrpSpPr>
        <p:grpSpPr>
          <a:xfrm>
            <a:off x="600456" y="3425190"/>
            <a:ext cx="2926080" cy="352044"/>
            <a:chOff x="600456" y="3425190"/>
            <a:chExt cx="2926080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600456" y="34251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与用户正在使用的方式比较</a:t>
              </a:r>
            </a:p>
          </p:txBody>
        </p:sp>
      </p:grpSp>
      <p:grpSp>
        <p:nvGrpSpPr>
          <p:cNvPr id="20" name="p12-g9"/>
          <p:cNvGrpSpPr/>
          <p:nvPr/>
        </p:nvGrpSpPr>
        <p:grpSpPr>
          <a:xfrm>
            <a:off x="600456" y="3882390"/>
            <a:ext cx="3168396" cy="1323594"/>
            <a:chOff x="600456" y="3882390"/>
            <a:chExt cx="3168396" cy="1323594"/>
          </a:xfrm>
        </p:grpSpPr>
        <p:sp>
          <p:nvSpPr>
            <p:cNvPr id="17" name="TextBox 17"/>
            <p:cNvSpPr txBox="1"/>
            <p:nvPr/>
          </p:nvSpPr>
          <p:spPr>
            <a:xfrm>
              <a:off x="600456" y="3882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教材／课程：系统学习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0456" y="43681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现有题库：练习与原题解析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4853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拟建产品：解释、对照与复测</a:t>
              </a:r>
            </a:p>
          </p:txBody>
        </p:sp>
      </p:grpSp>
      <p:grpSp>
        <p:nvGrpSpPr>
          <p:cNvPr id="27" name="p12-g10"/>
          <p:cNvGrpSpPr/>
          <p:nvPr/>
        </p:nvGrpSpPr>
        <p:grpSpPr>
          <a:xfrm>
            <a:off x="7391400" y="1847850"/>
            <a:ext cx="4191000" cy="3914775"/>
            <a:chOff x="7391400" y="1847850"/>
            <a:chExt cx="4191000" cy="3914775"/>
          </a:xfrm>
        </p:grpSpPr>
        <p:sp>
          <p:nvSpPr>
            <p:cNvPr id="21" name="Rectangle 21"/>
            <p:cNvSpPr/>
            <p:nvPr/>
          </p:nvSpPr>
          <p:spPr>
            <a:xfrm>
              <a:off x="7391400" y="1847850"/>
              <a:ext cx="4191000" cy="3914775"/>
            </a:xfrm>
            <a:prstGeom prst="roundRect">
              <a:avLst>
                <a:gd name="adj" fmla="val 38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50480" y="2143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用同一任务做比较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48956" y="27108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专业内容是否覆盖？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48956" y="3272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解析依据是否清楚？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48956" y="38347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相似选项是否更易区分？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48956" y="43967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是否增加查证与操作负担？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3-g2"/>
          <p:cNvGrpSpPr/>
          <p:nvPr/>
        </p:nvGrpSpPr>
        <p:grpSpPr>
          <a:xfrm>
            <a:off x="603504" y="327660"/>
            <a:ext cx="1651864" cy="234696"/>
            <a:chOff x="603504" y="327660"/>
            <a:chExt cx="1651864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市场与试点</a:t>
              </a:r>
            </a:p>
          </p:txBody>
        </p:sp>
      </p:grpSp>
      <p:grpSp>
        <p:nvGrpSpPr>
          <p:cNvPr id="5" name="p13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16</a:t>
              </a:r>
            </a:p>
          </p:txBody>
        </p:sp>
      </p:grpSp>
      <p:grpSp>
        <p:nvGrpSpPr>
          <p:cNvPr id="7" name="p13-g4"/>
          <p:cNvGrpSpPr/>
          <p:nvPr/>
        </p:nvGrpSpPr>
        <p:grpSpPr>
          <a:xfrm>
            <a:off x="594360" y="809625"/>
            <a:ext cx="6492240" cy="586740"/>
            <a:chOff x="594360" y="809625"/>
            <a:chExt cx="649224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先验证可触达需求，再讨论市场规模</a:t>
              </a:r>
            </a:p>
          </p:txBody>
        </p:sp>
      </p:grpSp>
      <p:grpSp>
        <p:nvGrpSpPr>
          <p:cNvPr id="9" name="p13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13-g6"/>
          <p:cNvGrpSpPr/>
          <p:nvPr/>
        </p:nvGrpSpPr>
        <p:grpSpPr>
          <a:xfrm>
            <a:off x="603504" y="6480810"/>
            <a:ext cx="6150864" cy="234696"/>
            <a:chOff x="603504" y="6480810"/>
            <a:chExt cx="61508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现有材料不足以确认三专业年度考生总数；本页为试点验证思路，不是市场规模测算。</a:t>
              </a:r>
            </a:p>
          </p:txBody>
        </p:sp>
      </p:grpSp>
      <p:grpSp>
        <p:nvGrpSpPr>
          <p:cNvPr id="13" name="p13-g7"/>
          <p:cNvGrpSpPr/>
          <p:nvPr/>
        </p:nvGrpSpPr>
        <p:grpSpPr>
          <a:xfrm>
            <a:off x="1009650" y="2543175"/>
            <a:ext cx="9753600" cy="9525"/>
            <a:chOff x="1009650" y="2543175"/>
            <a:chExt cx="9753600" cy="9525"/>
          </a:xfrm>
        </p:grpSpPr>
        <p:sp>
          <p:nvSpPr>
            <p:cNvPr id="12" name="Line 12"/>
            <p:cNvSpPr/>
            <p:nvPr/>
          </p:nvSpPr>
          <p:spPr>
            <a:xfrm>
              <a:off x="1009650" y="2543175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6" name="p13-g8"/>
          <p:cNvGrpSpPr/>
          <p:nvPr/>
        </p:nvGrpSpPr>
        <p:grpSpPr>
          <a:xfrm>
            <a:off x="609600" y="2181225"/>
            <a:ext cx="2457450" cy="742950"/>
            <a:chOff x="609600" y="2181225"/>
            <a:chExt cx="2457450" cy="742950"/>
          </a:xfrm>
        </p:grpSpPr>
        <p:sp>
          <p:nvSpPr>
            <p:cNvPr id="14" name="Rectangle 14"/>
            <p:cNvSpPr/>
            <p:nvPr/>
          </p:nvSpPr>
          <p:spPr>
            <a:xfrm>
              <a:off x="609600" y="2181225"/>
              <a:ext cx="245745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2233" y="24631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真实备考用户</a:t>
              </a:r>
            </a:p>
          </p:txBody>
        </p:sp>
      </p:grpSp>
      <p:grpSp>
        <p:nvGrpSpPr>
          <p:cNvPr id="18" name="p13-g10"/>
          <p:cNvGrpSpPr/>
          <p:nvPr/>
        </p:nvGrpSpPr>
        <p:grpSpPr>
          <a:xfrm>
            <a:off x="600456" y="3244215"/>
            <a:ext cx="1956816" cy="352044"/>
            <a:chOff x="600456" y="3244215"/>
            <a:chExt cx="1956816" cy="352044"/>
          </a:xfrm>
        </p:grpSpPr>
        <p:sp>
          <p:nvSpPr>
            <p:cNvPr id="17" name="TextBox 17"/>
            <p:cNvSpPr txBox="1"/>
            <p:nvPr/>
          </p:nvSpPr>
          <p:spPr>
            <a:xfrm>
              <a:off x="600456" y="32442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按专业与年度识别</a:t>
              </a:r>
            </a:p>
          </p:txBody>
        </p:sp>
      </p:grpSp>
      <p:grpSp>
        <p:nvGrpSpPr>
          <p:cNvPr id="21" name="p13-g11"/>
          <p:cNvGrpSpPr/>
          <p:nvPr/>
        </p:nvGrpSpPr>
        <p:grpSpPr>
          <a:xfrm>
            <a:off x="3448050" y="2181225"/>
            <a:ext cx="2457450" cy="742950"/>
            <a:chOff x="3448050" y="2181225"/>
            <a:chExt cx="2457450" cy="742950"/>
          </a:xfrm>
        </p:grpSpPr>
        <p:sp>
          <p:nvSpPr>
            <p:cNvPr id="19" name="Rectangle 19"/>
            <p:cNvSpPr/>
            <p:nvPr/>
          </p:nvSpPr>
          <p:spPr>
            <a:xfrm>
              <a:off x="3448050" y="2181225"/>
              <a:ext cx="245745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40683" y="24631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完成首次学习</a:t>
              </a:r>
            </a:p>
          </p:txBody>
        </p:sp>
      </p:grpSp>
      <p:grpSp>
        <p:nvGrpSpPr>
          <p:cNvPr id="23" name="p13-g13"/>
          <p:cNvGrpSpPr/>
          <p:nvPr/>
        </p:nvGrpSpPr>
        <p:grpSpPr>
          <a:xfrm>
            <a:off x="3438906" y="3244215"/>
            <a:ext cx="2199132" cy="352044"/>
            <a:chOff x="3438906" y="3244215"/>
            <a:chExt cx="219913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3438906" y="32442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观察练习与解析任务</a:t>
              </a:r>
            </a:p>
          </p:txBody>
        </p:sp>
      </p:grpSp>
      <p:grpSp>
        <p:nvGrpSpPr>
          <p:cNvPr id="26" name="p13-g14"/>
          <p:cNvGrpSpPr/>
          <p:nvPr/>
        </p:nvGrpSpPr>
        <p:grpSpPr>
          <a:xfrm>
            <a:off x="6286500" y="2181225"/>
            <a:ext cx="2457450" cy="742950"/>
            <a:chOff x="6286500" y="2181225"/>
            <a:chExt cx="2457450" cy="742950"/>
          </a:xfrm>
        </p:grpSpPr>
        <p:sp>
          <p:nvSpPr>
            <p:cNvPr id="24" name="Rectangle 24"/>
            <p:cNvSpPr/>
            <p:nvPr/>
          </p:nvSpPr>
          <p:spPr>
            <a:xfrm>
              <a:off x="6286500" y="2181225"/>
              <a:ext cx="245745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9133" y="24631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愿意再次使用</a:t>
              </a:r>
            </a:p>
          </p:txBody>
        </p:sp>
      </p:grpSp>
      <p:grpSp>
        <p:nvGrpSpPr>
          <p:cNvPr id="28" name="p13-g16"/>
          <p:cNvGrpSpPr/>
          <p:nvPr/>
        </p:nvGrpSpPr>
        <p:grpSpPr>
          <a:xfrm>
            <a:off x="6277356" y="3244215"/>
            <a:ext cx="1956816" cy="352044"/>
            <a:chOff x="6277356" y="3244215"/>
            <a:chExt cx="1956816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6277356" y="32442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看复访及持续学习</a:t>
              </a:r>
            </a:p>
          </p:txBody>
        </p:sp>
      </p:grpSp>
      <p:grpSp>
        <p:nvGrpSpPr>
          <p:cNvPr id="31" name="p13-g17"/>
          <p:cNvGrpSpPr/>
          <p:nvPr/>
        </p:nvGrpSpPr>
        <p:grpSpPr>
          <a:xfrm>
            <a:off x="9124950" y="2181225"/>
            <a:ext cx="2457450" cy="742950"/>
            <a:chOff x="9124950" y="2181225"/>
            <a:chExt cx="2457450" cy="742950"/>
          </a:xfrm>
        </p:grpSpPr>
        <p:sp>
          <p:nvSpPr>
            <p:cNvPr id="29" name="Rectangle 29"/>
            <p:cNvSpPr/>
            <p:nvPr/>
          </p:nvSpPr>
          <p:spPr>
            <a:xfrm>
              <a:off x="9124950" y="2181225"/>
              <a:ext cx="245745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17583" y="24631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真实付费行为</a:t>
              </a:r>
            </a:p>
          </p:txBody>
        </p:sp>
      </p:grpSp>
      <p:grpSp>
        <p:nvGrpSpPr>
          <p:cNvPr id="33" name="p13-g19"/>
          <p:cNvGrpSpPr/>
          <p:nvPr/>
        </p:nvGrpSpPr>
        <p:grpSpPr>
          <a:xfrm>
            <a:off x="9115806" y="3244215"/>
            <a:ext cx="2199132" cy="352044"/>
            <a:chOff x="9115806" y="3244215"/>
            <a:chExt cx="2199132" cy="352044"/>
          </a:xfrm>
        </p:grpSpPr>
        <p:sp>
          <p:nvSpPr>
            <p:cNvPr id="32" name="TextBox 32"/>
            <p:cNvSpPr txBox="1"/>
            <p:nvPr/>
          </p:nvSpPr>
          <p:spPr>
            <a:xfrm>
              <a:off x="9115806" y="32442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收费方案确定后验证</a:t>
              </a:r>
            </a:p>
          </p:txBody>
        </p:sp>
      </p:grpSp>
      <p:grpSp>
        <p:nvGrpSpPr>
          <p:cNvPr id="35" name="p13-g20"/>
          <p:cNvGrpSpPr/>
          <p:nvPr/>
        </p:nvGrpSpPr>
        <p:grpSpPr>
          <a:xfrm>
            <a:off x="609600" y="4114800"/>
            <a:ext cx="10972800" cy="9525"/>
            <a:chOff x="609600" y="4114800"/>
            <a:chExt cx="10972800" cy="9525"/>
          </a:xfrm>
        </p:grpSpPr>
        <p:sp>
          <p:nvSpPr>
            <p:cNvPr id="34" name="Line 34"/>
            <p:cNvSpPr/>
            <p:nvPr/>
          </p:nvSpPr>
          <p:spPr>
            <a:xfrm>
              <a:off x="609600" y="4114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7" name="p13-g21"/>
          <p:cNvGrpSpPr/>
          <p:nvPr/>
        </p:nvGrpSpPr>
        <p:grpSpPr>
          <a:xfrm>
            <a:off x="601980" y="4514850"/>
            <a:ext cx="2842260" cy="293370"/>
            <a:chOff x="601980" y="4514850"/>
            <a:chExt cx="2842260" cy="293370"/>
          </a:xfrm>
        </p:grpSpPr>
        <p:sp>
          <p:nvSpPr>
            <p:cNvPr id="36" name="TextBox 36"/>
            <p:cNvSpPr txBox="1"/>
            <p:nvPr/>
          </p:nvSpPr>
          <p:spPr>
            <a:xfrm>
              <a:off x="601980" y="45148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收入和投入，使用同一观察周期</a:t>
              </a:r>
            </a:p>
          </p:txBody>
        </p:sp>
      </p:grpSp>
      <p:grpSp>
        <p:nvGrpSpPr>
          <p:cNvPr id="39" name="p13-g22"/>
          <p:cNvGrpSpPr/>
          <p:nvPr/>
        </p:nvGrpSpPr>
        <p:grpSpPr>
          <a:xfrm>
            <a:off x="598932" y="4973955"/>
            <a:ext cx="5003252" cy="410718"/>
            <a:chOff x="598932" y="4973955"/>
            <a:chExt cx="5003252" cy="410718"/>
          </a:xfrm>
        </p:grpSpPr>
        <p:sp>
          <p:nvSpPr>
            <p:cNvPr id="38" name="TextBox 38"/>
            <p:cNvSpPr txBox="1"/>
            <p:nvPr/>
          </p:nvSpPr>
          <p:spPr>
            <a:xfrm>
              <a:off x="598932" y="4973955"/>
              <a:ext cx="50032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实收 − 退款 − 可变服务成本 = 贡献金额</a:t>
              </a:r>
            </a:p>
          </p:txBody>
        </p:sp>
      </p:grpSp>
      <p:grpSp>
        <p:nvGrpSpPr>
          <p:cNvPr id="41" name="p13-g23"/>
          <p:cNvGrpSpPr/>
          <p:nvPr/>
        </p:nvGrpSpPr>
        <p:grpSpPr>
          <a:xfrm>
            <a:off x="600456" y="5511165"/>
            <a:ext cx="7772400" cy="352044"/>
            <a:chOff x="600456" y="5511165"/>
            <a:chExt cx="7772400" cy="352044"/>
          </a:xfrm>
        </p:grpSpPr>
        <p:sp>
          <p:nvSpPr>
            <p:cNvPr id="40" name="TextBox 40"/>
            <p:cNvSpPr txBox="1"/>
            <p:nvPr/>
          </p:nvSpPr>
          <p:spPr>
            <a:xfrm>
              <a:off x="600456" y="5511165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再与新增研发、教研和运营固定投入比较；未收费时只报告使用与成本。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4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上线准备</a:t>
              </a:r>
            </a:p>
          </p:txBody>
        </p:sp>
      </p:grpSp>
      <p:grpSp>
        <p:nvGrpSpPr>
          <p:cNvPr id="5" name="p14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16</a:t>
              </a:r>
            </a:p>
          </p:txBody>
        </p:sp>
      </p:grpSp>
      <p:grpSp>
        <p:nvGrpSpPr>
          <p:cNvPr id="7" name="p14-g4"/>
          <p:cNvGrpSpPr/>
          <p:nvPr/>
        </p:nvGrpSpPr>
        <p:grpSpPr>
          <a:xfrm>
            <a:off x="594360" y="809625"/>
            <a:ext cx="6896100" cy="586740"/>
            <a:chOff x="594360" y="809625"/>
            <a:chExt cx="689610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三个专业同批上线，各自达到验收条件</a:t>
              </a:r>
            </a:p>
          </p:txBody>
        </p:sp>
      </p:grpSp>
      <p:grpSp>
        <p:nvGrpSpPr>
          <p:cNvPr id="9" name="p14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14-g6"/>
          <p:cNvGrpSpPr/>
          <p:nvPr/>
        </p:nvGrpSpPr>
        <p:grpSpPr>
          <a:xfrm>
            <a:off x="603504" y="6480810"/>
            <a:ext cx="5343144" cy="234696"/>
            <a:chOff x="603504" y="6480810"/>
            <a:chExt cx="534314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建议验收方向；负责人、内容覆盖要求、预算和时间需在立项时共同确定。</a:t>
              </a:r>
            </a:p>
          </p:txBody>
        </p:sp>
      </p:grpSp>
      <p:grpSp>
        <p:nvGrpSpPr>
          <p:cNvPr id="13" name="p14-g7"/>
          <p:cNvGrpSpPr/>
          <p:nvPr/>
        </p:nvGrpSpPr>
        <p:grpSpPr>
          <a:xfrm>
            <a:off x="598932" y="1925955"/>
            <a:ext cx="1152144" cy="410718"/>
            <a:chOff x="598932" y="1925955"/>
            <a:chExt cx="1152144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1925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教研准备</a:t>
              </a:r>
            </a:p>
          </p:txBody>
        </p:sp>
      </p:grpSp>
      <p:grpSp>
        <p:nvGrpSpPr>
          <p:cNvPr id="15" name="p14-g8"/>
          <p:cNvGrpSpPr/>
          <p:nvPr/>
        </p:nvGrpSpPr>
        <p:grpSpPr>
          <a:xfrm>
            <a:off x="609600" y="2457450"/>
            <a:ext cx="3333750" cy="9525"/>
            <a:chOff x="609600" y="2457450"/>
            <a:chExt cx="3333750" cy="9525"/>
          </a:xfrm>
        </p:grpSpPr>
        <p:sp>
          <p:nvSpPr>
            <p:cNvPr id="14" name="Line 14"/>
            <p:cNvSpPr/>
            <p:nvPr/>
          </p:nvSpPr>
          <p:spPr>
            <a:xfrm>
              <a:off x="609600" y="24574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9" name="p14-g9"/>
          <p:cNvGrpSpPr/>
          <p:nvPr/>
        </p:nvGrpSpPr>
        <p:grpSpPr>
          <a:xfrm>
            <a:off x="600456" y="2815590"/>
            <a:ext cx="2199132" cy="1533144"/>
            <a:chOff x="600456" y="2815590"/>
            <a:chExt cx="2199132" cy="1533144"/>
          </a:xfrm>
        </p:grpSpPr>
        <p:sp>
          <p:nvSpPr>
            <p:cNvPr id="16" name="TextBox 16"/>
            <p:cNvSpPr txBox="1"/>
            <p:nvPr/>
          </p:nvSpPr>
          <p:spPr>
            <a:xfrm>
              <a:off x="600456" y="2815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三专业内容清单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34061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考纲映射与覆盖缺口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0456" y="3996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来源授权及解析审核</a:t>
              </a:r>
            </a:p>
          </p:txBody>
        </p:sp>
      </p:grpSp>
      <p:grpSp>
        <p:nvGrpSpPr>
          <p:cNvPr id="21" name="p14-g10"/>
          <p:cNvGrpSpPr/>
          <p:nvPr/>
        </p:nvGrpSpPr>
        <p:grpSpPr>
          <a:xfrm>
            <a:off x="4408932" y="1925955"/>
            <a:ext cx="1152144" cy="410718"/>
            <a:chOff x="4408932" y="1925955"/>
            <a:chExt cx="1152144" cy="410718"/>
          </a:xfrm>
        </p:grpSpPr>
        <p:sp>
          <p:nvSpPr>
            <p:cNvPr id="20" name="TextBox 20"/>
            <p:cNvSpPr txBox="1"/>
            <p:nvPr/>
          </p:nvSpPr>
          <p:spPr>
            <a:xfrm>
              <a:off x="4408932" y="1925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功能准备</a:t>
              </a:r>
            </a:p>
          </p:txBody>
        </p:sp>
      </p:grpSp>
      <p:grpSp>
        <p:nvGrpSpPr>
          <p:cNvPr id="23" name="p14-g11"/>
          <p:cNvGrpSpPr/>
          <p:nvPr/>
        </p:nvGrpSpPr>
        <p:grpSpPr>
          <a:xfrm>
            <a:off x="4419600" y="2457450"/>
            <a:ext cx="3333750" cy="9525"/>
            <a:chOff x="4419600" y="2457450"/>
            <a:chExt cx="3333750" cy="9525"/>
          </a:xfrm>
        </p:grpSpPr>
        <p:sp>
          <p:nvSpPr>
            <p:cNvPr id="22" name="Line 22"/>
            <p:cNvSpPr/>
            <p:nvPr/>
          </p:nvSpPr>
          <p:spPr>
            <a:xfrm>
              <a:off x="4419600" y="24574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27" name="p14-g12"/>
          <p:cNvGrpSpPr/>
          <p:nvPr/>
        </p:nvGrpSpPr>
        <p:grpSpPr>
          <a:xfrm>
            <a:off x="4410456" y="2815590"/>
            <a:ext cx="2441448" cy="1533144"/>
            <a:chOff x="4410456" y="2815590"/>
            <a:chExt cx="2441448" cy="1533144"/>
          </a:xfrm>
        </p:grpSpPr>
        <p:sp>
          <p:nvSpPr>
            <p:cNvPr id="24" name="TextBox 24"/>
            <p:cNvSpPr txBox="1"/>
            <p:nvPr/>
          </p:nvSpPr>
          <p:spPr>
            <a:xfrm>
              <a:off x="4410456" y="28155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专业选择与题目匹配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10456" y="34061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答题、解析与进度保存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045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退出后的继续学习</a:t>
              </a:r>
            </a:p>
          </p:txBody>
        </p:sp>
      </p:grpSp>
      <p:grpSp>
        <p:nvGrpSpPr>
          <p:cNvPr id="29" name="p14-g13"/>
          <p:cNvGrpSpPr/>
          <p:nvPr/>
        </p:nvGrpSpPr>
        <p:grpSpPr>
          <a:xfrm>
            <a:off x="8218932" y="1925955"/>
            <a:ext cx="1152144" cy="410718"/>
            <a:chOff x="8218932" y="1925955"/>
            <a:chExt cx="1152144" cy="410718"/>
          </a:xfrm>
        </p:grpSpPr>
        <p:sp>
          <p:nvSpPr>
            <p:cNvPr id="28" name="TextBox 28"/>
            <p:cNvSpPr txBox="1"/>
            <p:nvPr/>
          </p:nvSpPr>
          <p:spPr>
            <a:xfrm>
              <a:off x="8218932" y="1925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试点准备</a:t>
              </a:r>
            </a:p>
          </p:txBody>
        </p:sp>
      </p:grpSp>
      <p:grpSp>
        <p:nvGrpSpPr>
          <p:cNvPr id="31" name="p14-g14"/>
          <p:cNvGrpSpPr/>
          <p:nvPr/>
        </p:nvGrpSpPr>
        <p:grpSpPr>
          <a:xfrm>
            <a:off x="8229600" y="2457450"/>
            <a:ext cx="3333750" cy="9525"/>
            <a:chOff x="8229600" y="2457450"/>
            <a:chExt cx="3333750" cy="9525"/>
          </a:xfrm>
        </p:grpSpPr>
        <p:sp>
          <p:nvSpPr>
            <p:cNvPr id="30" name="Line 30"/>
            <p:cNvSpPr/>
            <p:nvPr/>
          </p:nvSpPr>
          <p:spPr>
            <a:xfrm>
              <a:off x="8229600" y="24574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35" name="p14-g15"/>
          <p:cNvGrpSpPr/>
          <p:nvPr/>
        </p:nvGrpSpPr>
        <p:grpSpPr>
          <a:xfrm>
            <a:off x="8220456" y="2815590"/>
            <a:ext cx="2199132" cy="1533144"/>
            <a:chOff x="8220456" y="2815590"/>
            <a:chExt cx="2199132" cy="1533144"/>
          </a:xfrm>
        </p:grpSpPr>
        <p:sp>
          <p:nvSpPr>
            <p:cNvPr id="32" name="TextBox 32"/>
            <p:cNvSpPr txBox="1"/>
            <p:nvPr/>
          </p:nvSpPr>
          <p:spPr>
            <a:xfrm>
              <a:off x="8220456" y="2815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真实目标考生招募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0456" y="34061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任务观察与反馈渠道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20456" y="3996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问题修复及复测安排</a:t>
              </a:r>
            </a:p>
          </p:txBody>
        </p:sp>
      </p:grpSp>
      <p:grpSp>
        <p:nvGrpSpPr>
          <p:cNvPr id="38" name="p14-g16"/>
          <p:cNvGrpSpPr/>
          <p:nvPr/>
        </p:nvGrpSpPr>
        <p:grpSpPr>
          <a:xfrm>
            <a:off x="609600" y="5229225"/>
            <a:ext cx="10972800" cy="800100"/>
            <a:chOff x="609600" y="5229225"/>
            <a:chExt cx="10972800" cy="800100"/>
          </a:xfrm>
        </p:grpSpPr>
        <p:sp>
          <p:nvSpPr>
            <p:cNvPr id="36" name="Rectangle 36"/>
            <p:cNvSpPr/>
            <p:nvPr/>
          </p:nvSpPr>
          <p:spPr>
            <a:xfrm>
              <a:off x="609600" y="5229225"/>
              <a:ext cx="10972800" cy="800100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9056" y="5530215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任一专业有关键缺项，先补齐或调整共同排期，保持三专业同步原则。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5-g2"/>
          <p:cNvGrpSpPr/>
          <p:nvPr/>
        </p:nvGrpSpPr>
        <p:grpSpPr>
          <a:xfrm>
            <a:off x="603504" y="327660"/>
            <a:ext cx="1490320" cy="234696"/>
            <a:chOff x="603504" y="327660"/>
            <a:chExt cx="149032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肿瘤职称 / 评审决策</a:t>
              </a:r>
            </a:p>
          </p:txBody>
        </p:sp>
      </p:grpSp>
      <p:grpSp>
        <p:nvGrpSpPr>
          <p:cNvPr id="5" name="p15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15 / 16</a:t>
              </a:r>
            </a:p>
          </p:txBody>
        </p:sp>
      </p:grpSp>
      <p:grpSp>
        <p:nvGrpSpPr>
          <p:cNvPr id="7" name="p15-g4"/>
          <p:cNvGrpSpPr/>
          <p:nvPr/>
        </p:nvGrpSpPr>
        <p:grpSpPr>
          <a:xfrm>
            <a:off x="594360" y="809625"/>
            <a:ext cx="5280660" cy="586740"/>
            <a:chOff x="594360" y="809625"/>
            <a:chExt cx="528066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本轮要确定的是首期交付范围</a:t>
              </a:r>
            </a:p>
          </p:txBody>
        </p:sp>
      </p:grpSp>
      <p:grpSp>
        <p:nvGrpSpPr>
          <p:cNvPr id="9" name="p15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416258"/>
              </a:solidFill>
            </a:ln>
          </p:spPr>
        </p:sp>
      </p:grpSp>
      <p:grpSp>
        <p:nvGrpSpPr>
          <p:cNvPr id="11" name="p15-g6"/>
          <p:cNvGrpSpPr/>
          <p:nvPr/>
        </p:nvGrpSpPr>
        <p:grpSpPr>
          <a:xfrm>
            <a:off x="603504" y="6480810"/>
            <a:ext cx="4696968" cy="234696"/>
            <a:chOff x="603504" y="6480810"/>
            <a:chExt cx="4696968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三专业同步接入的方向已确定；收费方式、价格与权益另行决策。</a:t>
              </a:r>
            </a:p>
          </p:txBody>
        </p:sp>
      </p:grpSp>
      <p:grpSp>
        <p:nvGrpSpPr>
          <p:cNvPr id="13" name="p15-g7"/>
          <p:cNvGrpSpPr/>
          <p:nvPr/>
        </p:nvGrpSpPr>
        <p:grpSpPr>
          <a:xfrm>
            <a:off x="594360" y="2009775"/>
            <a:ext cx="496938" cy="586740"/>
            <a:chOff x="594360" y="2009775"/>
            <a:chExt cx="496938" cy="586740"/>
          </a:xfrm>
        </p:grpSpPr>
        <p:sp>
          <p:nvSpPr>
            <p:cNvPr id="12" name="TextBox 12"/>
            <p:cNvSpPr txBox="1"/>
            <p:nvPr/>
          </p:nvSpPr>
          <p:spPr>
            <a:xfrm>
              <a:off x="594360" y="200977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5" name="p15-g8"/>
          <p:cNvGrpSpPr/>
          <p:nvPr/>
        </p:nvGrpSpPr>
        <p:grpSpPr>
          <a:xfrm>
            <a:off x="1589532" y="2106930"/>
            <a:ext cx="1717548" cy="410718"/>
            <a:chOff x="1589532" y="2106930"/>
            <a:chExt cx="1717548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1589532" y="210693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内容能否支撑</a:t>
              </a:r>
            </a:p>
          </p:txBody>
        </p:sp>
      </p:grpSp>
      <p:grpSp>
        <p:nvGrpSpPr>
          <p:cNvPr id="17" name="p15-g9"/>
          <p:cNvGrpSpPr/>
          <p:nvPr/>
        </p:nvGrpSpPr>
        <p:grpSpPr>
          <a:xfrm>
            <a:off x="5401056" y="2139315"/>
            <a:ext cx="3653028" cy="352044"/>
            <a:chOff x="5401056" y="2139315"/>
            <a:chExt cx="3653028" cy="352044"/>
          </a:xfrm>
        </p:grpSpPr>
        <p:sp>
          <p:nvSpPr>
            <p:cNvPr id="16" name="TextBox 16"/>
            <p:cNvSpPr txBox="1"/>
            <p:nvPr/>
          </p:nvSpPr>
          <p:spPr>
            <a:xfrm>
              <a:off x="5401056" y="213931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确定三专业可上线内容与审核责任</a:t>
              </a:r>
            </a:p>
          </p:txBody>
        </p:sp>
      </p:grpSp>
      <p:grpSp>
        <p:nvGrpSpPr>
          <p:cNvPr id="19" name="p15-g10"/>
          <p:cNvGrpSpPr/>
          <p:nvPr/>
        </p:nvGrpSpPr>
        <p:grpSpPr>
          <a:xfrm>
            <a:off x="1600200" y="2676525"/>
            <a:ext cx="9982200" cy="9525"/>
            <a:chOff x="1600200" y="2676525"/>
            <a:chExt cx="9982200" cy="9525"/>
          </a:xfrm>
        </p:grpSpPr>
        <p:sp>
          <p:nvSpPr>
            <p:cNvPr id="18" name="Line 18"/>
            <p:cNvSpPr/>
            <p:nvPr/>
          </p:nvSpPr>
          <p:spPr>
            <a:xfrm>
              <a:off x="1600200" y="2676525"/>
              <a:ext cx="9982200" cy="9525"/>
            </a:xfrm>
            <a:custGeom>
              <a:avLst/>
              <a:gdLst/>
              <a:ahLst/>
              <a:cxnLst/>
              <a:rect l="l" t="t" r="r" b="b"/>
              <a:pathLst>
                <a:path w="9982200" h="9525">
                  <a:moveTo>
                    <a:pt x="0" y="0"/>
                  </a:moveTo>
                  <a:lnTo>
                    <a:pt x="9982200" y="0"/>
                  </a:lnTo>
                </a:path>
              </a:pathLst>
            </a:custGeom>
            <a:noFill/>
            <a:ln w="9525">
              <a:solidFill>
                <a:srgbClr val="416258"/>
              </a:solidFill>
            </a:ln>
          </p:spPr>
        </p:sp>
      </p:grpSp>
      <p:grpSp>
        <p:nvGrpSpPr>
          <p:cNvPr id="21" name="p15-g11"/>
          <p:cNvGrpSpPr/>
          <p:nvPr/>
        </p:nvGrpSpPr>
        <p:grpSpPr>
          <a:xfrm>
            <a:off x="594360" y="3219450"/>
            <a:ext cx="496938" cy="586740"/>
            <a:chOff x="594360" y="3219450"/>
            <a:chExt cx="496938" cy="586740"/>
          </a:xfrm>
        </p:grpSpPr>
        <p:sp>
          <p:nvSpPr>
            <p:cNvPr id="20" name="TextBox 20"/>
            <p:cNvSpPr txBox="1"/>
            <p:nvPr/>
          </p:nvSpPr>
          <p:spPr>
            <a:xfrm>
              <a:off x="594360" y="3219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3" name="p15-g12"/>
          <p:cNvGrpSpPr/>
          <p:nvPr/>
        </p:nvGrpSpPr>
        <p:grpSpPr>
          <a:xfrm>
            <a:off x="1589532" y="3316605"/>
            <a:ext cx="1717548" cy="410718"/>
            <a:chOff x="1589532" y="3316605"/>
            <a:chExt cx="1717548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1589532" y="33166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首期交付什么</a:t>
              </a:r>
            </a:p>
          </p:txBody>
        </p:sp>
      </p:grpSp>
      <p:grpSp>
        <p:nvGrpSpPr>
          <p:cNvPr id="25" name="p15-g13"/>
          <p:cNvGrpSpPr/>
          <p:nvPr/>
        </p:nvGrpSpPr>
        <p:grpSpPr>
          <a:xfrm>
            <a:off x="5401056" y="3348990"/>
            <a:ext cx="3653028" cy="352044"/>
            <a:chOff x="5401056" y="3348990"/>
            <a:chExt cx="3653028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5401056" y="33489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确认基础学习范围及增强功能取舍</a:t>
              </a:r>
            </a:p>
          </p:txBody>
        </p:sp>
      </p:grpSp>
      <p:grpSp>
        <p:nvGrpSpPr>
          <p:cNvPr id="27" name="p15-g14"/>
          <p:cNvGrpSpPr/>
          <p:nvPr/>
        </p:nvGrpSpPr>
        <p:grpSpPr>
          <a:xfrm>
            <a:off x="1600200" y="3886200"/>
            <a:ext cx="9982200" cy="9525"/>
            <a:chOff x="1600200" y="3886200"/>
            <a:chExt cx="9982200" cy="9525"/>
          </a:xfrm>
        </p:grpSpPr>
        <p:sp>
          <p:nvSpPr>
            <p:cNvPr id="26" name="Line 26"/>
            <p:cNvSpPr/>
            <p:nvPr/>
          </p:nvSpPr>
          <p:spPr>
            <a:xfrm>
              <a:off x="1600200" y="3886200"/>
              <a:ext cx="9982200" cy="9525"/>
            </a:xfrm>
            <a:custGeom>
              <a:avLst/>
              <a:gdLst/>
              <a:ahLst/>
              <a:cxnLst/>
              <a:rect l="l" t="t" r="r" b="b"/>
              <a:pathLst>
                <a:path w="9982200" h="9525">
                  <a:moveTo>
                    <a:pt x="0" y="0"/>
                  </a:moveTo>
                  <a:lnTo>
                    <a:pt x="9982200" y="0"/>
                  </a:lnTo>
                </a:path>
              </a:pathLst>
            </a:custGeom>
            <a:noFill/>
            <a:ln w="9525">
              <a:solidFill>
                <a:srgbClr val="416258"/>
              </a:solidFill>
            </a:ln>
          </p:spPr>
        </p:sp>
      </p:grpSp>
      <p:grpSp>
        <p:nvGrpSpPr>
          <p:cNvPr id="29" name="p15-g15"/>
          <p:cNvGrpSpPr/>
          <p:nvPr/>
        </p:nvGrpSpPr>
        <p:grpSpPr>
          <a:xfrm>
            <a:off x="594360" y="4429125"/>
            <a:ext cx="496938" cy="586740"/>
            <a:chOff x="594360" y="4429125"/>
            <a:chExt cx="496938" cy="586740"/>
          </a:xfrm>
        </p:grpSpPr>
        <p:sp>
          <p:nvSpPr>
            <p:cNvPr id="28" name="TextBox 28"/>
            <p:cNvSpPr txBox="1"/>
            <p:nvPr/>
          </p:nvSpPr>
          <p:spPr>
            <a:xfrm>
              <a:off x="594360" y="442912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FD4C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31" name="p15-g16"/>
          <p:cNvGrpSpPr/>
          <p:nvPr/>
        </p:nvGrpSpPr>
        <p:grpSpPr>
          <a:xfrm>
            <a:off x="1589532" y="4526280"/>
            <a:ext cx="1717548" cy="410718"/>
            <a:chOff x="1589532" y="4526280"/>
            <a:chExt cx="1717548" cy="410718"/>
          </a:xfrm>
        </p:grpSpPr>
        <p:sp>
          <p:nvSpPr>
            <p:cNvPr id="30" name="TextBox 30"/>
            <p:cNvSpPr txBox="1"/>
            <p:nvPr/>
          </p:nvSpPr>
          <p:spPr>
            <a:xfrm>
              <a:off x="1589532" y="45262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怎样验证价值</a:t>
              </a:r>
            </a:p>
          </p:txBody>
        </p:sp>
      </p:grpSp>
      <p:grpSp>
        <p:nvGrpSpPr>
          <p:cNvPr id="33" name="p15-g17"/>
          <p:cNvGrpSpPr/>
          <p:nvPr/>
        </p:nvGrpSpPr>
        <p:grpSpPr>
          <a:xfrm>
            <a:off x="5401056" y="4558665"/>
            <a:ext cx="3895344" cy="352044"/>
            <a:chOff x="5401056" y="4558665"/>
            <a:chExt cx="3895344" cy="352044"/>
          </a:xfrm>
        </p:grpSpPr>
        <p:sp>
          <p:nvSpPr>
            <p:cNvPr id="32" name="TextBox 32"/>
            <p:cNvSpPr txBox="1"/>
            <p:nvPr/>
          </p:nvSpPr>
          <p:spPr>
            <a:xfrm>
              <a:off x="5401056" y="455866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5E5DC"/>
                  </a:solidFill>
                  <a:latin typeface="+mn-lt"/>
                  <a:ea typeface="+mn-ea"/>
                  <a:cs typeface="+mn-cs"/>
                </a:rPr>
                <a:t>确定试点用户、观察任务与投入边界</a:t>
              </a:r>
            </a:p>
          </p:txBody>
        </p:sp>
      </p:grpSp>
      <p:grpSp>
        <p:nvGrpSpPr>
          <p:cNvPr id="35" name="p15-g18"/>
          <p:cNvGrpSpPr/>
          <p:nvPr/>
        </p:nvGrpSpPr>
        <p:grpSpPr>
          <a:xfrm>
            <a:off x="1600200" y="5095875"/>
            <a:ext cx="9982200" cy="9525"/>
            <a:chOff x="1600200" y="5095875"/>
            <a:chExt cx="9982200" cy="9525"/>
          </a:xfrm>
        </p:grpSpPr>
        <p:sp>
          <p:nvSpPr>
            <p:cNvPr id="34" name="Line 34"/>
            <p:cNvSpPr/>
            <p:nvPr/>
          </p:nvSpPr>
          <p:spPr>
            <a:xfrm>
              <a:off x="1600200" y="5095875"/>
              <a:ext cx="9982200" cy="9525"/>
            </a:xfrm>
            <a:custGeom>
              <a:avLst/>
              <a:gdLst/>
              <a:ahLst/>
              <a:cxnLst/>
              <a:rect l="l" t="t" r="r" b="b"/>
              <a:pathLst>
                <a:path w="9982200" h="9525">
                  <a:moveTo>
                    <a:pt x="0" y="0"/>
                  </a:moveTo>
                  <a:lnTo>
                    <a:pt x="9982200" y="0"/>
                  </a:lnTo>
                </a:path>
              </a:pathLst>
            </a:custGeom>
            <a:noFill/>
            <a:ln w="9525">
              <a:solidFill>
                <a:srgbClr val="416258"/>
              </a:solidFill>
            </a:ln>
          </p:spPr>
        </p:sp>
      </p:grpSp>
      <p:grpSp>
        <p:nvGrpSpPr>
          <p:cNvPr id="37" name="p15-g19"/>
          <p:cNvGrpSpPr/>
          <p:nvPr/>
        </p:nvGrpSpPr>
        <p:grpSpPr>
          <a:xfrm>
            <a:off x="598932" y="5726430"/>
            <a:ext cx="7088886" cy="410718"/>
            <a:chOff x="598932" y="5726430"/>
            <a:chExt cx="7088886" cy="410718"/>
          </a:xfrm>
        </p:grpSpPr>
        <p:sp>
          <p:nvSpPr>
            <p:cNvPr id="36" name="TextBox 36"/>
            <p:cNvSpPr txBox="1"/>
            <p:nvPr/>
          </p:nvSpPr>
          <p:spPr>
            <a:xfrm>
              <a:off x="598932" y="5726430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先让用户完成一次有帮助的学习，再判断是否值得扩大。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6-g2"/>
          <p:cNvGrpSpPr/>
          <p:nvPr/>
        </p:nvGrpSpPr>
        <p:grpSpPr>
          <a:xfrm>
            <a:off x="603504" y="327660"/>
            <a:ext cx="1651864" cy="234696"/>
            <a:chOff x="603504" y="327660"/>
            <a:chExt cx="1651864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肿瘤职称 / 来源与边界</a:t>
              </a:r>
            </a:p>
          </p:txBody>
        </p:sp>
      </p:grpSp>
      <p:grpSp>
        <p:nvGrpSpPr>
          <p:cNvPr id="5" name="p16-g3"/>
          <p:cNvGrpSpPr/>
          <p:nvPr/>
        </p:nvGrpSpPr>
        <p:grpSpPr>
          <a:xfrm>
            <a:off x="11035132" y="327660"/>
            <a:ext cx="553364" cy="234696"/>
            <a:chOff x="11035132" y="327660"/>
            <a:chExt cx="55336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16</a:t>
              </a:r>
            </a:p>
          </p:txBody>
        </p:sp>
      </p:grpSp>
      <p:grpSp>
        <p:nvGrpSpPr>
          <p:cNvPr id="7" name="p16-g4"/>
          <p:cNvGrpSpPr/>
          <p:nvPr/>
        </p:nvGrpSpPr>
        <p:grpSpPr>
          <a:xfrm>
            <a:off x="594360" y="809625"/>
            <a:ext cx="5280660" cy="586740"/>
            <a:chOff x="594360" y="809625"/>
            <a:chExt cx="528066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8096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依据、线索与建议，分别使用</a:t>
              </a:r>
            </a:p>
          </p:txBody>
        </p:sp>
      </p:grpSp>
      <p:grpSp>
        <p:nvGrpSpPr>
          <p:cNvPr id="9" name="p16-g5"/>
          <p:cNvGrpSpPr/>
          <p:nvPr/>
        </p:nvGrpSpPr>
        <p:grpSpPr>
          <a:xfrm>
            <a:off x="609600" y="6343650"/>
            <a:ext cx="10972800" cy="9525"/>
            <a:chOff x="609600" y="6343650"/>
            <a:chExt cx="10972800" cy="9525"/>
          </a:xfrm>
        </p:grpSpPr>
        <p:sp>
          <p:nvSpPr>
            <p:cNvPr id="8" name="Line 8"/>
            <p:cNvSpPr/>
            <p:nvPr/>
          </p:nvSpPr>
          <p:spPr>
            <a:xfrm>
              <a:off x="609600" y="6343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p16-g6"/>
          <p:cNvGrpSpPr/>
          <p:nvPr/>
        </p:nvGrpSpPr>
        <p:grpSpPr>
          <a:xfrm>
            <a:off x="603504" y="6480810"/>
            <a:ext cx="6150864" cy="234696"/>
            <a:chOff x="603504" y="6480810"/>
            <a:chExt cx="61508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4808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完整来源链接保留在本页备注；本版为材料重组，未新增考试、价格或市场规模结论。</a:t>
              </a:r>
            </a:p>
          </p:txBody>
        </p:sp>
      </p:grpSp>
      <p:grpSp>
        <p:nvGrpSpPr>
          <p:cNvPr id="13" name="p16-g7"/>
          <p:cNvGrpSpPr/>
          <p:nvPr/>
        </p:nvGrpSpPr>
        <p:grpSpPr>
          <a:xfrm>
            <a:off x="600456" y="1767840"/>
            <a:ext cx="1472184" cy="352044"/>
            <a:chOff x="600456" y="1767840"/>
            <a:chExt cx="1472184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600456" y="1767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官方考试依据</a:t>
              </a:r>
            </a:p>
          </p:txBody>
        </p:sp>
      </p:grpSp>
      <p:grpSp>
        <p:nvGrpSpPr>
          <p:cNvPr id="17" name="p16-g8"/>
          <p:cNvGrpSpPr/>
          <p:nvPr/>
        </p:nvGrpSpPr>
        <p:grpSpPr>
          <a:xfrm>
            <a:off x="3278505" y="1800225"/>
            <a:ext cx="5467350" cy="979170"/>
            <a:chOff x="3278505" y="1800225"/>
            <a:chExt cx="5467350" cy="979170"/>
          </a:xfrm>
        </p:grpSpPr>
        <p:sp>
          <p:nvSpPr>
            <p:cNvPr id="14" name="TextBox 14"/>
            <p:cNvSpPr txBox="1"/>
            <p:nvPr/>
          </p:nvSpPr>
          <p:spPr>
            <a:xfrm>
              <a:off x="3278505" y="1800225"/>
              <a:ext cx="4720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2026考生须知：四科机考、每科90分钟、成绩管理。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78505" y="2143125"/>
              <a:ext cx="4851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官方共用试卷目录：341／342／343前两科共用试卷。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78505" y="24860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官方考务通知与试题著作权声明：合格标准、内容使用边界。</a:t>
              </a:r>
            </a:p>
          </p:txBody>
        </p:sp>
      </p:grpSp>
      <p:grpSp>
        <p:nvGrpSpPr>
          <p:cNvPr id="19" name="p16-g9"/>
          <p:cNvGrpSpPr/>
          <p:nvPr/>
        </p:nvGrpSpPr>
        <p:grpSpPr>
          <a:xfrm>
            <a:off x="600456" y="3396615"/>
            <a:ext cx="987552" cy="352044"/>
            <a:chOff x="600456" y="3396615"/>
            <a:chExt cx="987552" cy="352044"/>
          </a:xfrm>
        </p:grpSpPr>
        <p:sp>
          <p:nvSpPr>
            <p:cNvPr id="18" name="TextBox 18"/>
            <p:cNvSpPr txBox="1"/>
            <p:nvPr/>
          </p:nvSpPr>
          <p:spPr>
            <a:xfrm>
              <a:off x="600456" y="33966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用户材料</a:t>
              </a:r>
            </a:p>
          </p:txBody>
        </p:sp>
      </p:grpSp>
      <p:grpSp>
        <p:nvGrpSpPr>
          <p:cNvPr id="22" name="p16-g10"/>
          <p:cNvGrpSpPr/>
          <p:nvPr/>
        </p:nvGrpSpPr>
        <p:grpSpPr>
          <a:xfrm>
            <a:off x="3278505" y="3429000"/>
            <a:ext cx="5467350" cy="636270"/>
            <a:chOff x="3278505" y="3429000"/>
            <a:chExt cx="5467350" cy="636270"/>
          </a:xfrm>
        </p:grpSpPr>
        <p:sp>
          <p:nvSpPr>
            <p:cNvPr id="20" name="TextBox 20"/>
            <p:cNvSpPr txBox="1"/>
            <p:nvPr/>
          </p:nvSpPr>
          <p:spPr>
            <a:xfrm>
              <a:off x="3278505" y="342900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最新小程序截图：现有流程；机构聊天：备考难点线索。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78505" y="37719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机构说法主要针对肿瘤内科，不直接推广为三专业共同事实。</a:t>
              </a:r>
            </a:p>
          </p:txBody>
        </p:sp>
      </p:grpSp>
      <p:grpSp>
        <p:nvGrpSpPr>
          <p:cNvPr id="24" name="p16-g11"/>
          <p:cNvGrpSpPr/>
          <p:nvPr/>
        </p:nvGrpSpPr>
        <p:grpSpPr>
          <a:xfrm>
            <a:off x="600456" y="4720590"/>
            <a:ext cx="987552" cy="352044"/>
            <a:chOff x="600456" y="4720590"/>
            <a:chExt cx="987552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600456" y="4720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仍待确认</a:t>
              </a:r>
            </a:p>
          </p:txBody>
        </p:sp>
      </p:grpSp>
      <p:grpSp>
        <p:nvGrpSpPr>
          <p:cNvPr id="27" name="p16-g12"/>
          <p:cNvGrpSpPr/>
          <p:nvPr/>
        </p:nvGrpSpPr>
        <p:grpSpPr>
          <a:xfrm>
            <a:off x="3278505" y="4752975"/>
            <a:ext cx="5467350" cy="636270"/>
            <a:chOff x="3278505" y="4752975"/>
            <a:chExt cx="5467350" cy="636270"/>
          </a:xfrm>
        </p:grpSpPr>
        <p:sp>
          <p:nvSpPr>
            <p:cNvPr id="25" name="TextBox 25"/>
            <p:cNvSpPr txBox="1"/>
            <p:nvPr/>
          </p:nvSpPr>
          <p:spPr>
            <a:xfrm>
              <a:off x="3278505" y="47529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适用年度官方大纲、详细题型题量、计分及回退规则；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78505" y="509587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各专业真实报考人数、竞品有效价格、用户需求与付费表现。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cology-story">
  <a:themeElements>
    <a:clrScheme name="oncology-story">
      <a:dk1>
        <a:srgbClr val="243D37"/>
      </a:dk1>
      <a:lt1>
        <a:srgbClr val="FAFAF5"/>
      </a:lt1>
      <a:dk2>
        <a:srgbClr val="1F497D"/>
      </a:dk2>
      <a:lt2>
        <a:srgbClr val="EAF1ED"/>
      </a:lt2>
      <a:accent1>
        <a:srgbClr val="163F38"/>
      </a:accent1>
      <a:accent2>
        <a:srgbClr val="277566"/>
      </a:accent2>
      <a:accent3>
        <a:srgbClr val="B27735"/>
      </a:accent3>
      <a:accent4>
        <a:srgbClr val="163F38"/>
      </a:accent4>
      <a:accent5>
        <a:srgbClr val="657770"/>
      </a:accent5>
      <a:accent6>
        <a:srgbClr val="D0DDD6"/>
      </a:accent6>
      <a:hlink>
        <a:srgbClr val="277566"/>
      </a:hlink>
      <a:folHlink>
        <a:srgbClr val="B27735"/>
      </a:folHlink>
    </a:clrScheme>
    <a:fontScheme name="oncology-stor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cology-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cology-story">
  <a:themeElements>
    <a:clrScheme name="oncology-story">
      <a:dk1>
        <a:srgbClr val="243D37"/>
      </a:dk1>
      <a:lt1>
        <a:srgbClr val="FAFAF5"/>
      </a:lt1>
      <a:dk2>
        <a:srgbClr val="1F497D"/>
      </a:dk2>
      <a:lt2>
        <a:srgbClr val="EAF1ED"/>
      </a:lt2>
      <a:accent1>
        <a:srgbClr val="163F38"/>
      </a:accent1>
      <a:accent2>
        <a:srgbClr val="277566"/>
      </a:accent2>
      <a:accent3>
        <a:srgbClr val="B27735"/>
      </a:accent3>
      <a:accent4>
        <a:srgbClr val="163F38"/>
      </a:accent4>
      <a:accent5>
        <a:srgbClr val="657770"/>
      </a:accent5>
      <a:accent6>
        <a:srgbClr val="D0DDD6"/>
      </a:accent6>
      <a:hlink>
        <a:srgbClr val="277566"/>
      </a:hlink>
      <a:folHlink>
        <a:srgbClr val="B27735"/>
      </a:folHlink>
    </a:clrScheme>
    <a:fontScheme name="oncology-stor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cology-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2026-09-17T09:29:53Z</dcterms:created>
  <dcterms:modified xsi:type="dcterms:W3CDTF">2026-09-17T09:29:53Z</dcterms:modified>
  <cp:category/>
  <cp:contentStatus/>
</cp:coreProperties>
</file>