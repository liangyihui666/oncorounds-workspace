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24"/>
  </p:normalViewPr>
  <p:slideViewPr>
    <p:cSldViewPr snapToGrid="0">
      <p:cViewPr varScale="1">
        <p:scale>
          <a:sx n="102" d="100"/>
          <a:sy n="102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潜在年度考生</c:v>
          </c:tx>
          <c:spPr>
            <a:solidFill>
              <a:srgbClr val="2F66E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027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保守 5.0%</c:v>
              </c:pt>
              <c:pt idx="1">
                <c:v>中性 7.5%</c:v>
              </c:pt>
              <c:pt idx="2">
                <c:v>积极 10.0%</c:v>
              </c:pt>
            </c:strLit>
          </c:cat>
          <c:val>
            <c:numLit>
              <c:formatCode>General</c:formatCode>
              <c:ptCount val="3"/>
              <c:pt idx="0">
                <c:v>3420</c:v>
              </c:pt>
              <c:pt idx="1">
                <c:v>5130</c:v>
              </c:pt>
              <c:pt idx="2">
                <c:v>6840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BB7-5B49-AE63-0533C6D439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E2F1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7E2F1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E2F1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公开来源：</a:t>
            </a:r>
          </a:p>
          <a:p>
            <a:r>
              <a:t>https://www.csco.org.cn/cn/ncontent.aspx?oid=9278</a:t>
            </a:r>
          </a:p>
          <a:p>
            <a:r>
              <a:t>https://www-search.liangyihui.net/doc/166633</a:t>
            </a:r>
          </a:p>
          <a:p>
            <a:r>
              <a:t>2026-09-17已查阅。资源归属依据用户说明。商业意义为分析判断，不是已验证的付费转化结果。大查房公开专栏与本地题目分别作为证据，不声称专栏专家审核本地题目。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公开来源：</a:t>
            </a:r>
          </a:p>
          <a:p>
            <a:r>
              <a:t>https://www-search.liangyihui.net/column/162</a:t>
            </a:r>
          </a:p>
          <a:p>
            <a:r>
              <a:t>https://www-search.liangyihui.net/column/158</a:t>
            </a:r>
          </a:p>
          <a:p>
            <a:r>
              <a:t>2026-09-17已查阅。资源归属依据用户说明。商业意义为分析判断，不是已验证的付费转化结果。大查房公开专栏与本地题目分别作为证据，不声称专栏专家审核本地题目。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市场规模、竞争格局与业务机会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核心结论">
            <a:extLst>
              <a:ext uri="{FF2B5EF4-FFF2-40B4-BE49-F238E27FC236}">
                <a16:creationId xmlns:a16="http://schemas.microsoft.com/office/drawing/2014/main" id="{AF2ADD23-A25D-4FCD-BADA-7DE605F04C2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" name="同步上线 341、342、343，以低成本试点验证真实价值">
            <a:extLst>
              <a:ext uri="{FF2B5EF4-FFF2-40B4-BE49-F238E27FC236}">
                <a16:creationId xmlns:a16="http://schemas.microsoft.com/office/drawing/2014/main" id="{79CB149E-1E76-4DF7-B183-F246CDECD6F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肿瘤职称是细分市场，机会在专科内容与现有用户</a:t>
            </a:r>
          </a:p>
        </p:txBody>
      </p:sp>
      <p:sp>
        <p:nvSpPr>
          <p:cNvPr id="3" name="市场规模不大，但与良医汇现有肿瘤医生用户高度匹配。">
            <a:extLst>
              <a:ext uri="{FF2B5EF4-FFF2-40B4-BE49-F238E27FC236}">
                <a16:creationId xmlns:a16="http://schemas.microsoft.com/office/drawing/2014/main" id="{4E8ED9C1-1921-4C13-8D2C-DFE5008DFA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沿用原方案规模估算；结合肿瘤医生 APP 的内容积累与目标用户触达，判断进入机会。</a:t>
            </a:r>
          </a:p>
        </p:txBody>
      </p:sp>
      <p:sp>
        <p:nvSpPr>
          <p:cNvPr id="4" name="02">
            <a:extLst>
              <a:ext uri="{FF2B5EF4-FFF2-40B4-BE49-F238E27FC236}">
                <a16:creationId xmlns:a16="http://schemas.microsoft.com/office/drawing/2014/main" id="{E2E4AE49-5110-414D-B209-F4A69EB68D5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0042E1-E943-43B8-9699-40D17015E4CD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712F1-1A2D-4313-B331-080778D7B249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86890A9F-9B09-4E65-925D-09162427CB3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2 / 12">
            <a:extLst>
              <a:ext uri="{FF2B5EF4-FFF2-40B4-BE49-F238E27FC236}">
                <a16:creationId xmlns:a16="http://schemas.microsoft.com/office/drawing/2014/main" id="{357E8A26-28F6-4119-8ECF-46D3F19AB42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02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5CF8B3E-8C46-443E-9BE8-E055C7332FCB}"/>
              </a:ext>
            </a:extLst>
          </p:cNvPr>
          <p:cNvSpPr>
            <a:spLocks noGrp="1"/>
          </p:cNvSpPr>
          <p:nvPr/>
        </p:nvSpPr>
        <p:spPr>
          <a:xfrm>
            <a:off x="5334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6.6–7.1 万">
            <a:extLst>
              <a:ext uri="{FF2B5EF4-FFF2-40B4-BE49-F238E27FC236}">
                <a16:creationId xmlns:a16="http://schemas.microsoft.com/office/drawing/2014/main" id="{B4E699BC-B3EE-4E9C-99C5-DF656F89ABC7}"/>
              </a:ext>
            </a:extLst>
          </p:cNvPr>
          <p:cNvSpPr>
            <a:spLocks noGrp="1"/>
          </p:cNvSpPr>
          <p:nvPr/>
        </p:nvSpPr>
        <p:spPr>
          <a:xfrm>
            <a:off x="7048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6.6–7.1 万</a:t>
            </a:r>
          </a:p>
        </p:txBody>
      </p:sp>
      <p:sp>
        <p:nvSpPr>
          <p:cNvPr id="11" name="全国狭义肿瘤科医师">
            <a:extLst>
              <a:ext uri="{FF2B5EF4-FFF2-40B4-BE49-F238E27FC236}">
                <a16:creationId xmlns:a16="http://schemas.microsoft.com/office/drawing/2014/main" id="{9C78ECEF-4A3E-4758-BFFA-CAD11D077A86}"/>
              </a:ext>
            </a:extLst>
          </p:cNvPr>
          <p:cNvSpPr>
            <a:spLocks noGrp="1"/>
          </p:cNvSpPr>
          <p:nvPr/>
        </p:nvSpPr>
        <p:spPr>
          <a:xfrm>
            <a:off x="7048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rPr>
              <a:t>原方案医师存量估算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0BAC88A-AF3E-4A1A-B44C-ADF983B2F032}"/>
              </a:ext>
            </a:extLst>
          </p:cNvPr>
          <p:cNvSpPr>
            <a:spLocks noGrp="1"/>
          </p:cNvSpPr>
          <p:nvPr/>
        </p:nvSpPr>
        <p:spPr>
          <a:xfrm>
            <a:off x="314325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0.33–0.71 万">
            <a:extLst>
              <a:ext uri="{FF2B5EF4-FFF2-40B4-BE49-F238E27FC236}">
                <a16:creationId xmlns:a16="http://schemas.microsoft.com/office/drawing/2014/main" id="{CBB4DEE9-077B-4F69-8D9B-82BEF6616D8C}"/>
              </a:ext>
            </a:extLst>
          </p:cNvPr>
          <p:cNvSpPr>
            <a:spLocks noGrp="1"/>
          </p:cNvSpPr>
          <p:nvPr/>
        </p:nvSpPr>
        <p:spPr>
          <a:xfrm>
            <a:off x="331470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0.33–0.71 万</a:t>
            </a:r>
          </a:p>
        </p:txBody>
      </p:sp>
      <p:sp>
        <p:nvSpPr>
          <p:cNvPr id="14" name="潜在年度考生">
            <a:extLst>
              <a:ext uri="{FF2B5EF4-FFF2-40B4-BE49-F238E27FC236}">
                <a16:creationId xmlns:a16="http://schemas.microsoft.com/office/drawing/2014/main" id="{E53E8FE0-1847-4409-A2E7-445ED033B5D4}"/>
              </a:ext>
            </a:extLst>
          </p:cNvPr>
          <p:cNvSpPr>
            <a:spLocks noGrp="1"/>
          </p:cNvSpPr>
          <p:nvPr/>
        </p:nvSpPr>
        <p:spPr>
          <a:xfrm>
            <a:off x="331470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原方案年度考生估算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C7252AE-C453-4846-8551-B4AC5AA6CBFB}"/>
              </a:ext>
            </a:extLst>
          </p:cNvPr>
          <p:cNvSpPr>
            <a:spLocks noGrp="1"/>
          </p:cNvSpPr>
          <p:nvPr/>
        </p:nvSpPr>
        <p:spPr>
          <a:xfrm>
            <a:off x="57531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 个专业">
            <a:extLst>
              <a:ext uri="{FF2B5EF4-FFF2-40B4-BE49-F238E27FC236}">
                <a16:creationId xmlns:a16="http://schemas.microsoft.com/office/drawing/2014/main" id="{86013250-096D-43E8-9F04-EE135CB1B5B4}"/>
              </a:ext>
            </a:extLst>
          </p:cNvPr>
          <p:cNvSpPr>
            <a:spLocks noGrp="1"/>
          </p:cNvSpPr>
          <p:nvPr/>
        </p:nvSpPr>
        <p:spPr>
          <a:xfrm>
            <a:off x="59245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 个专业</a:t>
            </a:r>
          </a:p>
        </p:txBody>
      </p:sp>
      <p:sp>
        <p:nvSpPr>
          <p:cNvPr id="17" name="341 / 342 / 343 同步上线">
            <a:extLst>
              <a:ext uri="{FF2B5EF4-FFF2-40B4-BE49-F238E27FC236}">
                <a16:creationId xmlns:a16="http://schemas.microsoft.com/office/drawing/2014/main" id="{0F328309-1599-4A2A-9C48-6120623C69BD}"/>
              </a:ext>
            </a:extLst>
          </p:cNvPr>
          <p:cNvSpPr>
            <a:spLocks noGrp="1"/>
          </p:cNvSpPr>
          <p:nvPr/>
        </p:nvSpPr>
        <p:spPr>
          <a:xfrm>
            <a:off x="59245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341 / 342 / 343 同步上线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E48F290-B096-4169-A2CA-6A3075759F96}"/>
              </a:ext>
            </a:extLst>
          </p:cNvPr>
          <p:cNvSpPr>
            <a:spLocks noGrp="1"/>
          </p:cNvSpPr>
          <p:nvPr/>
        </p:nvSpPr>
        <p:spPr>
          <a:xfrm>
            <a:off x="8362950" y="1790700"/>
            <a:ext cx="329565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低成本试点">
            <a:extLst>
              <a:ext uri="{FF2B5EF4-FFF2-40B4-BE49-F238E27FC236}">
                <a16:creationId xmlns:a16="http://schemas.microsoft.com/office/drawing/2014/main" id="{375D0AE6-E9EE-44AE-BAF4-B8238E14F66A}"/>
              </a:ext>
            </a:extLst>
          </p:cNvPr>
          <p:cNvSpPr>
            <a:spLocks noGrp="1"/>
          </p:cNvSpPr>
          <p:nvPr/>
        </p:nvSpPr>
        <p:spPr>
          <a:xfrm>
            <a:off x="8534400" y="1943100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收费待定</a:t>
            </a:r>
          </a:p>
        </p:txBody>
      </p:sp>
      <p:sp>
        <p:nvSpPr>
          <p:cNvPr id="20" name="真实使用与付费再决策">
            <a:extLst>
              <a:ext uri="{FF2B5EF4-FFF2-40B4-BE49-F238E27FC236}">
                <a16:creationId xmlns:a16="http://schemas.microsoft.com/office/drawing/2014/main" id="{FAF3E70D-91B1-481D-B151-4E9F6AAED684}"/>
              </a:ext>
            </a:extLst>
          </p:cNvPr>
          <p:cNvSpPr>
            <a:spLocks noGrp="1"/>
          </p:cNvSpPr>
          <p:nvPr/>
        </p:nvSpPr>
        <p:spPr>
          <a:xfrm>
            <a:off x="8534400" y="2505075"/>
            <a:ext cx="2952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结合付费意愿与成本决策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09FEB37-E456-4413-B1EF-37EB92795483}"/>
              </a:ext>
            </a:extLst>
          </p:cNvPr>
          <p:cNvSpPr>
            <a:spLocks noGrp="1"/>
          </p:cNvSpPr>
          <p:nvPr/>
        </p:nvSpPr>
        <p:spPr>
          <a:xfrm>
            <a:off x="533400" y="32099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1">
            <a:extLst>
              <a:ext uri="{FF2B5EF4-FFF2-40B4-BE49-F238E27FC236}">
                <a16:creationId xmlns:a16="http://schemas.microsoft.com/office/drawing/2014/main" id="{666AB40D-F3A2-431C-B2DF-5AE2BBBA6D48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产品范围">
            <a:extLst>
              <a:ext uri="{FF2B5EF4-FFF2-40B4-BE49-F238E27FC236}">
                <a16:creationId xmlns:a16="http://schemas.microsoft.com/office/drawing/2014/main" id="{FC126D14-A40F-4A63-BCF9-14760540D993}"/>
              </a:ext>
            </a:extLst>
          </p:cNvPr>
          <p:cNvSpPr>
            <a:spLocks noGrp="1"/>
          </p:cNvSpPr>
          <p:nvPr/>
        </p:nvSpPr>
        <p:spPr>
          <a:xfrm>
            <a:off x="1504950" y="33432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市场机会</a:t>
            </a:r>
          </a:p>
        </p:txBody>
      </p:sp>
      <p:sp>
        <p:nvSpPr>
          <p:cNvPr id="24" name="接入现有职考小程序，复用答题、诊断、错题和 AI 辅助能力。">
            <a:extLst>
              <a:ext uri="{FF2B5EF4-FFF2-40B4-BE49-F238E27FC236}">
                <a16:creationId xmlns:a16="http://schemas.microsoft.com/office/drawing/2014/main" id="{53572D5A-1686-4F97-AEA3-AECBD49D3C27}"/>
              </a:ext>
            </a:extLst>
          </p:cNvPr>
          <p:cNvSpPr>
            <a:spLocks noGrp="1"/>
          </p:cNvSpPr>
          <p:nvPr/>
        </p:nvSpPr>
        <p:spPr>
          <a:xfrm>
            <a:off x="4953000" y="33432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从现有肿瘤医生用户中承接职称备考需求，实际考生数量需盘点。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DF529BFE-CB34-49A7-A026-6744313429FE}"/>
              </a:ext>
            </a:extLst>
          </p:cNvPr>
          <p:cNvSpPr>
            <a:spLocks noGrp="1"/>
          </p:cNvSpPr>
          <p:nvPr/>
        </p:nvSpPr>
        <p:spPr>
          <a:xfrm>
            <a:off x="533400" y="40862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02">
            <a:extLst>
              <a:ext uri="{FF2B5EF4-FFF2-40B4-BE49-F238E27FC236}">
                <a16:creationId xmlns:a16="http://schemas.microsoft.com/office/drawing/2014/main" id="{FB5616E8-64DB-4F08-BC85-BCDCDA434711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竞争策略">
            <a:extLst>
              <a:ext uri="{FF2B5EF4-FFF2-40B4-BE49-F238E27FC236}">
                <a16:creationId xmlns:a16="http://schemas.microsoft.com/office/drawing/2014/main" id="{E01ADD5F-C4A5-447F-B1A1-99369F33499B}"/>
              </a:ext>
            </a:extLst>
          </p:cNvPr>
          <p:cNvSpPr>
            <a:spLocks noGrp="1"/>
          </p:cNvSpPr>
          <p:nvPr/>
        </p:nvSpPr>
        <p:spPr>
          <a:xfrm>
            <a:off x="1504950" y="42195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竞争策略</a:t>
            </a:r>
          </a:p>
        </p:txBody>
      </p:sp>
      <p:sp>
        <p:nvSpPr>
          <p:cNvPr id="28" name="依靠三专业覆盖、可信解析、持续更新和现有用户触达形成差异。">
            <a:extLst>
              <a:ext uri="{FF2B5EF4-FFF2-40B4-BE49-F238E27FC236}">
                <a16:creationId xmlns:a16="http://schemas.microsoft.com/office/drawing/2014/main" id="{A738A5EA-23C5-4A45-AC8E-41856C975FC5}"/>
              </a:ext>
            </a:extLst>
          </p:cNvPr>
          <p:cNvSpPr>
            <a:spLocks noGrp="1"/>
          </p:cNvSpPr>
          <p:nvPr/>
        </p:nvSpPr>
        <p:spPr>
          <a:xfrm>
            <a:off x="4953000" y="42195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 CSCO 指南和大查房的内容积累，建立肿瘤专科备考的差异化。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959E7ED6-29B0-479C-833E-3AA8201C26A7}"/>
              </a:ext>
            </a:extLst>
          </p:cNvPr>
          <p:cNvSpPr>
            <a:spLocks noGrp="1"/>
          </p:cNvSpPr>
          <p:nvPr/>
        </p:nvSpPr>
        <p:spPr>
          <a:xfrm>
            <a:off x="533400" y="5572125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核心结论">
            <a:extLst>
              <a:ext uri="{FF2B5EF4-FFF2-40B4-BE49-F238E27FC236}">
                <a16:creationId xmlns:a16="http://schemas.microsoft.com/office/drawing/2014/main" id="{38702767-A290-49CE-8B08-B2ED2599058F}"/>
              </a:ext>
            </a:extLst>
          </p:cNvPr>
          <p:cNvSpPr>
            <a:spLocks noGrp="1"/>
          </p:cNvSpPr>
          <p:nvPr/>
        </p:nvSpPr>
        <p:spPr>
          <a:xfrm>
            <a:off x="704850" y="57245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1" name="同步上线 341、342、343，以真实使用率和付费表现决定后续投入。">
            <a:extLst>
              <a:ext uri="{FF2B5EF4-FFF2-40B4-BE49-F238E27FC236}">
                <a16:creationId xmlns:a16="http://schemas.microsoft.com/office/drawing/2014/main" id="{F085D90A-847A-43D1-8E18-BA688625A239}"/>
              </a:ext>
            </a:extLst>
          </p:cNvPr>
          <p:cNvSpPr>
            <a:spLocks noGrp="1"/>
          </p:cNvSpPr>
          <p:nvPr/>
        </p:nvSpPr>
        <p:spPr>
          <a:xfrm>
            <a:off x="2133600" y="5695950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围绕三个中级专业进入细分市场，以付费需求和服务成本判断商业可行性。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项目背景">
            <a:extLst>
              <a:ext uri="{FF2B5EF4-FFF2-40B4-BE49-F238E27FC236}">
                <a16:creationId xmlns:a16="http://schemas.microsoft.com/office/drawing/2014/main" id="{865D4DF6-AE29-4F1D-A696-F76F03AB8C58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" name="项目基础与考试类型覆盖">
            <a:extLst>
              <a:ext uri="{FF2B5EF4-FFF2-40B4-BE49-F238E27FC236}">
                <a16:creationId xmlns:a16="http://schemas.microsoft.com/office/drawing/2014/main" id="{DB560986-93F2-44F3-96E2-060321947BDF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项目基础与考试类型覆盖</a:t>
            </a:r>
          </a:p>
        </p:txBody>
      </p:sp>
      <p:sp>
        <p:nvSpPr>
          <p:cNvPr id="3" name="良医汇现有肿瘤医生用户与职考产品基础，降低了中级题库的接入成本。">
            <a:extLst>
              <a:ext uri="{FF2B5EF4-FFF2-40B4-BE49-F238E27FC236}">
                <a16:creationId xmlns:a16="http://schemas.microsoft.com/office/drawing/2014/main" id="{5EB55CBF-8128-4D48-9C87-E033E4A265A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肿瘤医生 APP 已有专科用户和内容积累，为拓展职称备考业务提供基础。</a:t>
            </a:r>
          </a:p>
        </p:txBody>
      </p:sp>
      <p:sp>
        <p:nvSpPr>
          <p:cNvPr id="4" name="03">
            <a:extLst>
              <a:ext uri="{FF2B5EF4-FFF2-40B4-BE49-F238E27FC236}">
                <a16:creationId xmlns:a16="http://schemas.microsoft.com/office/drawing/2014/main" id="{C3FAC473-C1A7-452E-A8B9-8F1E69C669E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B37B7B-FA08-46DF-B177-D49375C318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D569B9-266E-41DE-AAA3-F98CADA22AD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4C3E394-8D02-4603-B021-FE015156FA94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3 / 12">
            <a:extLst>
              <a:ext uri="{FF2B5EF4-FFF2-40B4-BE49-F238E27FC236}">
                <a16:creationId xmlns:a16="http://schemas.microsoft.com/office/drawing/2014/main" id="{63E80F1C-B0FD-4644-99C2-B3FE48604A6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03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B44DDB3-ED3C-4481-815A-A5B849623969}"/>
              </a:ext>
            </a:extLst>
          </p:cNvPr>
          <p:cNvSpPr>
            <a:spLocks noGrp="1"/>
          </p:cNvSpPr>
          <p:nvPr/>
        </p:nvSpPr>
        <p:spPr>
          <a:xfrm>
            <a:off x="533400" y="1781175"/>
            <a:ext cx="1295400" cy="323850"/>
          </a:xfrm>
          <a:prstGeom prst="roundRect">
            <a:avLst>
              <a:gd name="adj" fmla="val 50000"/>
            </a:avLst>
          </a:prstGeom>
          <a:solidFill>
            <a:srgbClr val="DDE9F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项目价值">
            <a:extLst>
              <a:ext uri="{FF2B5EF4-FFF2-40B4-BE49-F238E27FC236}">
                <a16:creationId xmlns:a16="http://schemas.microsoft.com/office/drawing/2014/main" id="{CF30EC5B-43F4-41EB-A4C5-F94C282F2D08}"/>
              </a:ext>
            </a:extLst>
          </p:cNvPr>
          <p:cNvSpPr>
            <a:spLocks noGrp="1"/>
          </p:cNvSpPr>
          <p:nvPr/>
        </p:nvSpPr>
        <p:spPr>
          <a:xfrm>
            <a:off x="533400" y="1838325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</a:p>
        </p:txBody>
      </p:sp>
      <p:sp>
        <p:nvSpPr>
          <p:cNvPr id="11" name="复用现有用户">
            <a:extLst>
              <a:ext uri="{FF2B5EF4-FFF2-40B4-BE49-F238E27FC236}">
                <a16:creationId xmlns:a16="http://schemas.microsoft.com/office/drawing/2014/main" id="{EC93B665-9935-4EC7-8DF3-620A819E9EC1}"/>
              </a:ext>
            </a:extLst>
          </p:cNvPr>
          <p:cNvSpPr>
            <a:spLocks noGrp="1"/>
          </p:cNvSpPr>
          <p:nvPr/>
        </p:nvSpPr>
        <p:spPr>
          <a:xfrm>
            <a:off x="5334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复用现有用户</a:t>
            </a:r>
            <a:endParaRPr sz="1875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降低目标用户触达与获取成本">
            <a:extLst>
              <a:ext uri="{FF2B5EF4-FFF2-40B4-BE49-F238E27FC236}">
                <a16:creationId xmlns:a16="http://schemas.microsoft.com/office/drawing/2014/main" id="{DB024E3A-1178-4556-856D-4EEC1996DD2B}"/>
              </a:ext>
            </a:extLst>
          </p:cNvPr>
          <p:cNvSpPr>
            <a:spLocks noGrp="1"/>
          </p:cNvSpPr>
          <p:nvPr/>
        </p:nvSpPr>
        <p:spPr>
          <a:xfrm>
            <a:off x="533400" y="26670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通过现有渠道触达潜在考生</a:t>
            </a:r>
          </a:p>
        </p:txBody>
      </p:sp>
      <p:sp>
        <p:nvSpPr>
          <p:cNvPr id="13" name="满足晋升需求">
            <a:extLst>
              <a:ext uri="{FF2B5EF4-FFF2-40B4-BE49-F238E27FC236}">
                <a16:creationId xmlns:a16="http://schemas.microsoft.com/office/drawing/2014/main" id="{EE58EDBC-3DE2-4741-B4E2-4EB4CFA94085}"/>
              </a:ext>
            </a:extLst>
          </p:cNvPr>
          <p:cNvSpPr>
            <a:spLocks noGrp="1"/>
          </p:cNvSpPr>
          <p:nvPr/>
        </p:nvSpPr>
        <p:spPr>
          <a:xfrm>
            <a:off x="42291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满足晋升需求</a:t>
            </a:r>
          </a:p>
        </p:txBody>
      </p:sp>
      <p:sp>
        <p:nvSpPr>
          <p:cNvPr id="14" name="把学习服务延伸到职称晋升阶段">
            <a:extLst>
              <a:ext uri="{FF2B5EF4-FFF2-40B4-BE49-F238E27FC236}">
                <a16:creationId xmlns:a16="http://schemas.microsoft.com/office/drawing/2014/main" id="{83AE2FF4-F322-4531-8F3F-A82382D6C3AF}"/>
              </a:ext>
            </a:extLst>
          </p:cNvPr>
          <p:cNvSpPr>
            <a:spLocks noGrp="1"/>
          </p:cNvSpPr>
          <p:nvPr/>
        </p:nvSpPr>
        <p:spPr>
          <a:xfrm>
            <a:off x="4229100" y="26670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把学习服务延伸到职称晋升阶段</a:t>
            </a:r>
          </a:p>
        </p:txBody>
      </p:sp>
      <p:sp>
        <p:nvSpPr>
          <p:cNvPr id="15" name="拓展 AI 场景">
            <a:extLst>
              <a:ext uri="{FF2B5EF4-FFF2-40B4-BE49-F238E27FC236}">
                <a16:creationId xmlns:a16="http://schemas.microsoft.com/office/drawing/2014/main" id="{81364E9D-20C7-434F-8CAE-763F91ABD9EF}"/>
              </a:ext>
            </a:extLst>
          </p:cNvPr>
          <p:cNvSpPr>
            <a:spLocks noGrp="1"/>
          </p:cNvSpPr>
          <p:nvPr/>
        </p:nvSpPr>
        <p:spPr>
          <a:xfrm>
            <a:off x="79248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延伸内容价值</a:t>
            </a:r>
          </a:p>
        </p:txBody>
      </p:sp>
      <p:sp>
        <p:nvSpPr>
          <p:cNvPr id="16" name="将 AI 私教与追问迁移到职称考试">
            <a:extLst>
              <a:ext uri="{FF2B5EF4-FFF2-40B4-BE49-F238E27FC236}">
                <a16:creationId xmlns:a16="http://schemas.microsoft.com/office/drawing/2014/main" id="{5816822B-7674-416F-8C37-EA19AC26C136}"/>
              </a:ext>
            </a:extLst>
          </p:cNvPr>
          <p:cNvSpPr>
            <a:spLocks noGrp="1"/>
          </p:cNvSpPr>
          <p:nvPr/>
        </p:nvSpPr>
        <p:spPr>
          <a:xfrm>
            <a:off x="7924800" y="2667000"/>
            <a:ext cx="31242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将指南与大查房内容延伸至备考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C46A19-2AFD-439D-A715-6E89428F28D5}"/>
              </a:ext>
            </a:extLst>
          </p:cNvPr>
          <p:cNvSpPr>
            <a:spLocks noGrp="1"/>
          </p:cNvSpPr>
          <p:nvPr/>
        </p:nvSpPr>
        <p:spPr>
          <a:xfrm>
            <a:off x="533400" y="3295650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47B798AE-3FB2-45D6-8CD1-867E439BB92A}"/>
              </a:ext>
            </a:extLst>
          </p:cNvPr>
          <p:cNvSpPr>
            <a:spLocks noGrp="1"/>
          </p:cNvSpPr>
          <p:nvPr/>
        </p:nvSpPr>
        <p:spPr>
          <a:xfrm>
            <a:off x="533400" y="3581400"/>
            <a:ext cx="111252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69A3BB5-9B6E-4CBC-A180-9C4164B0F932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0B23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中级">
            <a:extLst>
              <a:ext uri="{FF2B5EF4-FFF2-40B4-BE49-F238E27FC236}">
                <a16:creationId xmlns:a16="http://schemas.microsoft.com/office/drawing/2014/main" id="{04C5C3ED-4D80-45D6-A02A-39B02AA33620}"/>
              </a:ext>
            </a:extLst>
          </p:cNvPr>
          <p:cNvSpPr>
            <a:spLocks noGrp="1"/>
          </p:cNvSpPr>
          <p:nvPr/>
        </p:nvSpPr>
        <p:spPr>
          <a:xfrm>
            <a:off x="723900" y="386715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</a:p>
        </p:txBody>
      </p:sp>
      <p:sp>
        <p:nvSpPr>
          <p:cNvPr id="21" name="全国统一考试">
            <a:extLst>
              <a:ext uri="{FF2B5EF4-FFF2-40B4-BE49-F238E27FC236}">
                <a16:creationId xmlns:a16="http://schemas.microsoft.com/office/drawing/2014/main" id="{3F385486-EE28-4FF3-A21E-F1FCA6A633F8}"/>
              </a:ext>
            </a:extLst>
          </p:cNvPr>
          <p:cNvSpPr>
            <a:spLocks noGrp="1"/>
          </p:cNvSpPr>
          <p:nvPr/>
        </p:nvSpPr>
        <p:spPr>
          <a:xfrm>
            <a:off x="1866900" y="380047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全国统一考试</a:t>
            </a:r>
          </a:p>
        </p:txBody>
      </p:sp>
      <p:sp>
        <p:nvSpPr>
          <p:cNvPr id="22" name="341 肿瘤内科学、342 肿瘤外科学、343 肿瘤放射治疗学、388 ">
            <a:extLst>
              <a:ext uri="{FF2B5EF4-FFF2-40B4-BE49-F238E27FC236}">
                <a16:creationId xmlns:a16="http://schemas.microsoft.com/office/drawing/2014/main" id="{A7B491B6-96F6-403D-AD30-17554C0DAF39}"/>
              </a:ext>
            </a:extLst>
          </p:cNvPr>
          <p:cNvSpPr>
            <a:spLocks noGrp="1"/>
          </p:cNvSpPr>
          <p:nvPr/>
        </p:nvSpPr>
        <p:spPr>
          <a:xfrm>
            <a:off x="4229100" y="3790950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 肿瘤内科学、342 肿瘤外科学、343 肿瘤放射治疗学、388 肿瘤放射治疗技术</a:t>
            </a:r>
          </a:p>
        </p:txBody>
      </p:sp>
      <p:sp>
        <p:nvSpPr>
          <p:cNvPr id="23" name="通常每年 4 月，标准化程度高；首期聚焦 341–343">
            <a:extLst>
              <a:ext uri="{FF2B5EF4-FFF2-40B4-BE49-F238E27FC236}">
                <a16:creationId xmlns:a16="http://schemas.microsoft.com/office/drawing/2014/main" id="{DB4A178E-8BAE-44EA-9E46-92BB498BA744}"/>
              </a:ext>
            </a:extLst>
          </p:cNvPr>
          <p:cNvSpPr>
            <a:spLocks noGrp="1"/>
          </p:cNvSpPr>
          <p:nvPr/>
        </p:nvSpPr>
        <p:spPr>
          <a:xfrm>
            <a:off x="1866900" y="42100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具体考试安排以当年官方通知为准；本次研究341–343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1A617D5-D6F6-4E14-B108-6434060F9889}"/>
              </a:ext>
            </a:extLst>
          </p:cNvPr>
          <p:cNvSpPr>
            <a:spLocks noGrp="1"/>
          </p:cNvSpPr>
          <p:nvPr/>
        </p:nvSpPr>
        <p:spPr>
          <a:xfrm>
            <a:off x="533400" y="4724400"/>
            <a:ext cx="11125200" cy="742950"/>
          </a:xfrm>
          <a:prstGeom prst="roundRect">
            <a:avLst>
              <a:gd name="adj" fmla="val 25641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AF082CE4-B7CC-456F-861E-D28E90F95D91}"/>
              </a:ext>
            </a:extLst>
          </p:cNvPr>
          <p:cNvSpPr>
            <a:spLocks noGrp="1"/>
          </p:cNvSpPr>
          <p:nvPr/>
        </p:nvSpPr>
        <p:spPr>
          <a:xfrm>
            <a:off x="723900" y="493395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E7ED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高级">
            <a:extLst>
              <a:ext uri="{FF2B5EF4-FFF2-40B4-BE49-F238E27FC236}">
                <a16:creationId xmlns:a16="http://schemas.microsoft.com/office/drawing/2014/main" id="{29DDD654-6E0C-41DC-A140-3CB351E67DF9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高级</a:t>
            </a:r>
          </a:p>
        </p:txBody>
      </p:sp>
      <p:sp>
        <p:nvSpPr>
          <p:cNvPr id="27" name="各省组织考试">
            <a:extLst>
              <a:ext uri="{FF2B5EF4-FFF2-40B4-BE49-F238E27FC236}">
                <a16:creationId xmlns:a16="http://schemas.microsoft.com/office/drawing/2014/main" id="{12AC85D6-1A1A-441F-8EEB-58ACB4FD5639}"/>
              </a:ext>
            </a:extLst>
          </p:cNvPr>
          <p:cNvSpPr>
            <a:spLocks noGrp="1"/>
          </p:cNvSpPr>
          <p:nvPr/>
        </p:nvSpPr>
        <p:spPr>
          <a:xfrm>
            <a:off x="1866900" y="492442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各省组织考试</a:t>
            </a:r>
          </a:p>
        </p:txBody>
      </p:sp>
      <p:sp>
        <p:nvSpPr>
          <p:cNvPr id="28" name="专业代码与要求因省份而异，通常集中在 4–7 月，首期暂不纳入">
            <a:extLst>
              <a:ext uri="{FF2B5EF4-FFF2-40B4-BE49-F238E27FC236}">
                <a16:creationId xmlns:a16="http://schemas.microsoft.com/office/drawing/2014/main" id="{5F5CC258-51E9-4E20-AFCD-B56B60E5660C}"/>
              </a:ext>
            </a:extLst>
          </p:cNvPr>
          <p:cNvSpPr>
            <a:spLocks noGrp="1"/>
          </p:cNvSpPr>
          <p:nvPr/>
        </p:nvSpPr>
        <p:spPr>
          <a:xfrm>
            <a:off x="4229100" y="4924425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专业代码、考试安排与要求存在地区差异，本次暂不纳入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33C24F8-D8BE-416B-AF7C-838921E83915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本章结论">
            <a:extLst>
              <a:ext uri="{FF2B5EF4-FFF2-40B4-BE49-F238E27FC236}">
                <a16:creationId xmlns:a16="http://schemas.microsoft.com/office/drawing/2014/main" id="{CB8F9250-F957-4FD0-906D-DABD7DAF98ED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1" name="现有用户与职考产品基础降低了触达和接入成本，首期聚焦 341、342、3">
            <a:extLst>
              <a:ext uri="{FF2B5EF4-FFF2-40B4-BE49-F238E27FC236}">
                <a16:creationId xmlns:a16="http://schemas.microsoft.com/office/drawing/2014/main" id="{FEF49A02-0159-4E81-914A-52BF3B2A067E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从已有肿瘤学术用户中寻找备考需求，是本项目的市场进入基础。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首期聚焦中级市场，高级职称后续评估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中级考试按全国专业目录组织，适合统一分析；高级职称需按地区进一步拆分。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04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中级职称（主治医师）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高级职称（副高／正高）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考试性质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全国统一考试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按地区政策与安排核对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需求场景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取得中级资格的备考需求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晋升高级职称的考试与评审需求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市场分析口径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按专业及年度报名人数分析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按地区、专业及晋升要求拆分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同专业成绩两年滚动，包含补考需求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考试与评审要求存在地区差异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341、342、343三个专业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本次暂不纳入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中级全国统考更适合首期建设，高级职称因省级差异暂不纳入。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中级专业方向">
            <a:extLst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三个专业对应不同需求，统一纳入市场分析</a:t>
            </a:r>
          </a:p>
        </p:txBody>
      </p:sp>
      <p:sp>
        <p:nvSpPr>
          <p:cNvPr id="3" name="三者均为全国统考专业，本期不再设置单专业优先级。">
            <a:extLst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从实际报考专业识别市场；以下科室只作潜在用户触达线索。</a:t>
            </a:r>
          </a:p>
        </p:txBody>
      </p:sp>
      <p:sp>
        <p:nvSpPr>
          <p:cNvPr id="4" name="05">
            <a:extLst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341">
            <a:extLst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13" name="肿瘤科、内科医生">
            <a:extLst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肿瘤科、内科医生</a:t>
            </a:r>
          </a:p>
        </p:txBody>
      </p:sp>
      <p:sp>
        <p:nvSpPr>
          <p:cNvPr id="14" name="与既有用户结构匹配度较高，是主要需求来源">
            <a:extLst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rPr>
              <a:t>现有平台用户可提供线索；实际报考人数和需求占比需盘点。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42">
            <a:extLst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19" name="肿瘤外科医生">
            <a:extLst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肿瘤外科医生</a:t>
            </a:r>
          </a:p>
        </p:txBody>
      </p:sp>
      <p:sp>
        <p:nvSpPr>
          <p:cNvPr id="20" name="器官专科分散，但完整覆盖更利于承接真实需求">
            <a:extLst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noGrp="1"/>
          </p:cNvSpPr>
          <p:nvPr/>
        </p:nvSpPr>
        <p:spPr>
          <a:xfrm>
            <a:off x="44767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按实际报考代码识别，不能将所有外科医生计入342市场。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noGrp="1"/>
          </p:cNvSpPr>
          <p:nvPr/>
        </p:nvSpPr>
        <p:spPr>
          <a:xfrm>
            <a:off x="80010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343">
            <a:extLst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noGrp="1"/>
          </p:cNvSpPr>
          <p:nvPr/>
        </p:nvSpPr>
        <p:spPr>
          <a:xfrm>
            <a:off x="82105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25" name="放疗医生">
            <a:extLst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noGrp="1"/>
          </p:cNvSpPr>
          <p:nvPr/>
        </p:nvSpPr>
        <p:spPr>
          <a:xfrm>
            <a:off x="82105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放疗医生</a:t>
            </a:r>
          </a:p>
        </p:txBody>
      </p:sp>
      <p:sp>
        <p:nvSpPr>
          <p:cNvPr id="26" name="用户群体较明确，可复用部分基础知识与产品能力">
            <a:extLst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noGrp="1"/>
          </p:cNvSpPr>
          <p:nvPr/>
        </p:nvSpPr>
        <p:spPr>
          <a:xfrm>
            <a:off x="82105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通过放疗相关用户渠道触达，按报考年度识别当期需求。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本章结论">
            <a:extLst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noGrp="1"/>
          </p:cNvSpPr>
          <p:nvPr/>
        </p:nvSpPr>
        <p:spPr>
          <a:xfrm>
            <a:off x="704850" y="55435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noGrp="1"/>
          </p:cNvSpPr>
          <p:nvPr/>
        </p:nvSpPr>
        <p:spPr>
          <a:xfrm>
            <a:off x="2133600" y="551497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三个专业共同构成研究范围；医生所属科室不能直接等同报考专业。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四科考试形成分科备考与跨年补考需求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四科及考试时间按已收集官方资料；题型按用户提供截图列作参考，适用年度与专业范围待核实。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14</a:t>
            </a:r>
          </a:p>
        </p:txBody>
      </p:sp>
      <p:graphicFrame>
        <p:nvGraphicFramePr>
          <p:cNvPr id="28" name="表格 27"/>
          <p:cNvGraphicFramePr/>
          <p:nvPr>
            <p:extLst>
              <p:ext uri="{D42A27DB-BD31-4B8C-83A1-F6EECF244321}">
                <p14:modId xmlns:p14="http://schemas.microsoft.com/office/powerpoint/2010/main" val="2294191960"/>
              </p:ext>
            </p:extLst>
          </p:nvPr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题型参考（用户提供资料）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）、共用题干单选题（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案例分析题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需求分析关注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补考科目需求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同专业两年滚动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备考需求应区分首次报考与补考，不将全部用户视为四科全套购买者。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竞品分析">
            <a:extLst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竞品覆盖图书、题库与培训，需比较具体商品</a:t>
            </a:r>
          </a:p>
        </p:txBody>
      </p:sp>
      <p:sp>
        <p:nvSpPr>
          <p:cNvPr id="3" name="不同产品形态覆盖从传统权威题集到移动端题库与会员社区。">
            <a:extLst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按考生购买的内容与服务比较供给；专业覆盖和功能以商品页及实际体验为准。</a:t>
            </a:r>
          </a:p>
        </p:txBody>
      </p:sp>
      <p:sp>
        <p:nvSpPr>
          <p:cNvPr id="4" name="07">
            <a:extLst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07 / 14</a:t>
            </a:r>
          </a:p>
        </p:txBody>
      </p:sp>
      <p:graphicFrame>
        <p:nvGraphicFramePr>
          <p:cNvPr id="32" name="表格 31"/>
          <p:cNvGraphicFramePr/>
          <p:nvPr/>
        </p:nvGraphicFramePr>
        <p:xfrm>
          <a:off x="533400" y="1752600"/>
          <a:ext cx="11125200" cy="2876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产品形态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主要购买价值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教材与习题集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人卫等正式出版物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系统复习与自测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版本、考纲对应与解析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阿虎、考试宝典等相关商品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移动刷题与练习反馈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专业覆盖、解析与有效期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课程及题库套餐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机构肿瘤职称相关套餐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讲解课程与备考服务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课程内容、答疑和套餐权益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会员及社区服务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医考帮等相关商品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内容访问与交流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适用专业、权限及付费周期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五家直接竞品">
            <a:extLst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重点调研对象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noGrp="1"/>
          </p:cNvSpPr>
          <p:nvPr/>
        </p:nvSpPr>
        <p:spPr>
          <a:xfrm>
            <a:off x="24193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阿虎医考">
            <a:extLst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noGrp="1"/>
          </p:cNvSpPr>
          <p:nvPr/>
        </p:nvSpPr>
        <p:spPr>
          <a:xfrm>
            <a:off x="24193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noGrp="1"/>
          </p:cNvSpPr>
          <p:nvPr/>
        </p:nvSpPr>
        <p:spPr>
          <a:xfrm>
            <a:off x="420052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考试宝典">
            <a:extLst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noGrp="1"/>
          </p:cNvSpPr>
          <p:nvPr/>
        </p:nvSpPr>
        <p:spPr>
          <a:xfrm>
            <a:off x="420052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noGrp="1"/>
          </p:cNvSpPr>
          <p:nvPr/>
        </p:nvSpPr>
        <p:spPr>
          <a:xfrm>
            <a:off x="598170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肿瘤学圣题库">
            <a:extLst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noGrp="1"/>
          </p:cNvSpPr>
          <p:nvPr/>
        </p:nvSpPr>
        <p:spPr>
          <a:xfrm>
            <a:off x="598170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圣才／圣题库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蓝基因">
            <a:extLst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noGrp="1"/>
          </p:cNvSpPr>
          <p:nvPr/>
        </p:nvSpPr>
        <p:spPr>
          <a:xfrm>
            <a:off x="776287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医考帮">
            <a:extLst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本章结论">
            <a:extLst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竞争分析要落到专业覆盖、题目解析、服务和价格，不能仅凭品牌判断。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竞品横向对比">
            <a:extLst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竞品价格须与专业、权益和有效期一起比较</a:t>
            </a:r>
          </a:p>
        </p:txBody>
      </p:sp>
      <p:sp>
        <p:nvSpPr>
          <p:cNvPr id="3" name="公开价格样本用于理解购买门槛，不代表长期售价或完整权益完全可比。">
            <a:extLst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275" dirty="0">
                <a:solidFill>
                  <a:srgbClr val="6F84A0"/>
                </a:solidFill>
                <a:latin typeface="Microsoft YaHei"/>
              </a:rPr>
              <a:t>公开价格样本用于理解购买门槛，不代表长期售价或完整权益完全可比。</a:t>
            </a:r>
          </a:p>
        </p:txBody>
      </p:sp>
      <p:sp>
        <p:nvSpPr>
          <p:cNvPr id="4" name="08">
            <a:extLst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08 / 14</a:t>
            </a:r>
          </a:p>
        </p:txBody>
      </p:sp>
      <p:graphicFrame>
        <p:nvGraphicFramePr>
          <p:cNvPr id="21" name="表格 20"/>
          <p:cNvGraphicFramePr/>
          <p:nvPr>
            <p:extLst>
              <p:ext uri="{D42A27DB-BD31-4B8C-83A1-F6EECF244321}">
                <p14:modId xmlns:p14="http://schemas.microsoft.com/office/powerpoint/2010/main" val="2271942251"/>
              </p:ext>
            </p:extLst>
          </p:nvPr>
        </p:nvGraphicFramePr>
        <p:xfrm>
          <a:off x="533400" y="1695450"/>
          <a:ext cx="11125200" cy="38481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调研商品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价格依据</a:t>
                      </a:r>
                      <a:endParaRPr sz="12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核心优势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对良医汇的启示</a:t>
                      </a:r>
                      <a:endParaRPr sz="12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  <a:endParaRPr sz="120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肿瘤内科、外科题库均 ¥160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全专业覆盖，学习链路完整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竞争肿瘤专业深度、可信解析与既有用户触达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341／342／343相关商品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341 / 342 / 343 合并题库 ¥168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覆盖广、合并销售、多终端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在解析质量与更新速度上建立差异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341 ¥58；342 ¥68；343 ¥58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低价、单科购买、决策简单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低价下限已形成，溢价要由内容与 AI 证明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肿瘤中级相关题库 ¥58 / 套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低价，基础刷题与错题完整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首期定价和基础体验的重点对标对象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题库及会员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统一会员制，非单题库购买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题库广、评论统计与社区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首期不宜强制采用全站会员模式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  <a:endParaRPr sz="15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首期优先单题库或三专业组合包，降低购买门槛，不强制全站会员。">
            <a:extLst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首期优先单题库或三专业组合包，降低购买门槛，不强制全站会员。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我们的竞争优势｜CSCO指南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CSCO指南：专业内容与持续解读形成竞争基础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肿瘤医生APP参与指南学习传播，平台持续发布专家解读；可向有备考需求的用户延伸内容价值。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09 / 14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可核实的基础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对市场进入的意义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内容可信度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CSCO指南资源及专家解读内容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为专业内容服务提供信任基础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持续内容供给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指南学习班直播与新版解读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支持长期内容运营与用户关注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专业相关性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围绕肿瘤诊疗问题组织内容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与肿瘤职称备考人群的学习主题相邻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差异化机会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已有内容积累可服务备考场景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能否产生付费溢价需用户验证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判断边界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已有资源支持进入机会，不等于竞品均无此资源或付费效果已经成立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市场机会：把肿瘤专业内容积累转为备考购买理由，而非仅以低价竞争。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我们的竞争优势｜大查房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大查房：医院合作与病例内容形成专科特色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平台已积累医院大查房、诊疗讨论及病例解析内容，可承接重视临床理解的备考需求。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10 / 14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可核实的基础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对市场进入的意义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医院合作积累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中肿、医肿等公开大查房专栏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提供长期专科内容合作基础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病例内容深度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诊疗经验分享与具体病例解析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具备服务病例理解类需求的内容条件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既有题目资产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本地大查房已有结构化题目样本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内容转化有起点，适配成本仍需评估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差异化机会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诊疗讨论与备考需求存在交集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需验证考生是否愿为这类内容付费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判断边界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已有资源支持进入机会，不等于竞品均无此资源或付费效果已经成立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市场机会：以病例内容的深度吸引目标考生，验证其与常规题库的价值差异。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竞争机会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竞争机会在肿瘤专业内容，付费价值仍需验证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以考生的备考需求为中心，判断我们的内容积累能否形成购买理由。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11 / 14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竞争维度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我们的进入基础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需要验证的商业问题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CSCO指南与大查房积累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考生是否重视专科内容与依据解释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用户触达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肿瘤医生APP现有用户渠道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其中有多少当期考生，可触达多少人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收费模式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题库、套餐等市场供给可比较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单科、组合或其他方式的付费意愿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成本与收益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可利用已有内容和业务基础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获客、内容维护与服务成本能否覆盖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研究重点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考生愿意为什么内容付费，以及现有产品哪里不能满足需求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验证内容优势能否形成购买理由，再决定价格与投入规模。</a:t>
            </a:r>
          </a:p>
        </p:txBody>
      </p:sp>
    </p:spTree>
    <p:extLst>
      <p:ext uri="{BB962C8B-B14F-4D97-AF65-F5344CB8AC3E}">
        <p14:creationId xmlns:p14="http://schemas.microsoft.com/office/powerpoint/2010/main" val="465197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市场规模</a:t>
            </a: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原方案估算：医师存量约6.6–7.1万人</a:t>
            </a: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保留原稿数字作内部情景；下表原始输入、扣减方式与1.5%占比未经充分核实，不作为官方统计。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40F00C-783D-4222-913C-135669D4B69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49D48DF-2040-4A1C-B7B5-30D9FFF10659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12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8CF82C2-46AA-4AA7-BD16-BF9DAE5D42A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｜官方数据">
            <a:extLst>
              <a:ext uri="{FF2B5EF4-FFF2-40B4-BE49-F238E27FC236}">
                <a16:creationId xmlns:a16="http://schemas.microsoft.com/office/drawing/2014/main" id="{72635B7C-F7FD-4391-A445-CE753BD9FC94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A｜原始输入</a:t>
            </a:r>
          </a:p>
        </p:txBody>
      </p:sp>
      <p:sp>
        <p:nvSpPr>
          <p:cNvPr id="11" name="医师总量、分科占比、村卫生室人数">
            <a:extLst>
              <a:ext uri="{FF2B5EF4-FFF2-40B4-BE49-F238E27FC236}">
                <a16:creationId xmlns:a16="http://schemas.microsoft.com/office/drawing/2014/main" id="{8381095A-72C6-445B-AD4A-E29FD43FFFF8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原稿人数，来源及口径未核实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132C8F5-A09A-4B8A-AE8C-7AA48D3F576F}"/>
              </a:ext>
            </a:extLst>
          </p:cNvPr>
          <p:cNvSpPr>
            <a:spLocks noGrp="1"/>
          </p:cNvSpPr>
          <p:nvPr/>
        </p:nvSpPr>
        <p:spPr>
          <a:xfrm>
            <a:off x="4276725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B｜同口径推算">
            <a:extLst>
              <a:ext uri="{FF2B5EF4-FFF2-40B4-BE49-F238E27FC236}">
                <a16:creationId xmlns:a16="http://schemas.microsoft.com/office/drawing/2014/main" id="{FE267912-9826-48CF-B035-68845150AE5A}"/>
              </a:ext>
            </a:extLst>
          </p:cNvPr>
          <p:cNvSpPr>
            <a:spLocks noGrp="1"/>
          </p:cNvSpPr>
          <p:nvPr/>
        </p:nvSpPr>
        <p:spPr>
          <a:xfrm>
            <a:off x="4448175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B｜原估算方法</a:t>
            </a:r>
          </a:p>
        </p:txBody>
      </p:sp>
      <p:sp>
        <p:nvSpPr>
          <p:cNvPr id="14" name="扣除村卫生室医师，再乘肿瘤科占比">
            <a:extLst>
              <a:ext uri="{FF2B5EF4-FFF2-40B4-BE49-F238E27FC236}">
                <a16:creationId xmlns:a16="http://schemas.microsoft.com/office/drawing/2014/main" id="{9A3A41E4-7BDB-46A3-9C76-B5ECE070AA39}"/>
              </a:ext>
            </a:extLst>
          </p:cNvPr>
          <p:cNvSpPr>
            <a:spLocks noGrp="1"/>
          </p:cNvSpPr>
          <p:nvPr/>
        </p:nvSpPr>
        <p:spPr>
          <a:xfrm>
            <a:off x="4448175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原扣减方法和专业占比未验证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E3DFDC3-9B27-4064-B604-945034BAAE83}"/>
              </a:ext>
            </a:extLst>
          </p:cNvPr>
          <p:cNvSpPr>
            <a:spLocks noGrp="1"/>
          </p:cNvSpPr>
          <p:nvPr/>
        </p:nvSpPr>
        <p:spPr>
          <a:xfrm>
            <a:off x="802005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｜内部情景">
            <a:extLst>
              <a:ext uri="{FF2B5EF4-FFF2-40B4-BE49-F238E27FC236}">
                <a16:creationId xmlns:a16="http://schemas.microsoft.com/office/drawing/2014/main" id="{5F6EB28D-CE83-4D6B-AE20-051E0D779E7A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C｜内部情景</a:t>
            </a:r>
          </a:p>
        </p:txBody>
      </p:sp>
      <p:sp>
        <p:nvSpPr>
          <p:cNvPr id="17" name="年度报考窗口占存量医师 5%–10%">
            <a:extLst>
              <a:ext uri="{FF2B5EF4-FFF2-40B4-BE49-F238E27FC236}">
                <a16:creationId xmlns:a16="http://schemas.microsoft.com/office/drawing/2014/main" id="{5C64DFD8-80E2-4766-962F-26320C1C3755}"/>
              </a:ext>
            </a:extLst>
          </p:cNvPr>
          <p:cNvSpPr>
            <a:spLocks noGrp="1"/>
          </p:cNvSpPr>
          <p:nvPr/>
        </p:nvSpPr>
        <p:spPr>
          <a:xfrm>
            <a:off x="819150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5%–10%报考比例为内部假设</a:t>
            </a:r>
          </a:p>
        </p:txBody>
      </p:sp>
      <p:graphicFrame>
        <p:nvGraphicFramePr>
          <p:cNvPr id="48" name="表格 47"/>
          <p:cNvGraphicFramePr/>
          <p:nvPr/>
        </p:nvGraphicFramePr>
        <p:xfrm>
          <a:off x="533400" y="2857500"/>
          <a:ext cx="11125200" cy="14287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医师总量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村卫生室医师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同口径分母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肿瘤科占比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中心值推算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4,782,086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508,452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4,273,634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64,105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5,081,532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521,665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4,559,867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68,398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圆角矩形 18">
            <a:extLst>
              <a:ext uri="{FF2B5EF4-FFF2-40B4-BE49-F238E27FC236}">
                <a16:creationId xmlns:a16="http://schemas.microsoft.com/office/drawing/2014/main" id="{72D49A1B-3E81-4CC7-B1C1-C2BA6D2E8881}"/>
              </a:ext>
            </a:extLst>
          </p:cNvPr>
          <p:cNvSpPr>
            <a:spLocks noGrp="1"/>
          </p:cNvSpPr>
          <p:nvPr/>
        </p:nvSpPr>
        <p:spPr>
          <a:xfrm>
            <a:off x="533400" y="4552950"/>
            <a:ext cx="3381375" cy="952500"/>
          </a:xfrm>
          <a:prstGeom prst="roundRect">
            <a:avLst>
              <a:gd name="adj" fmla="val 20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68,398 人">
            <a:extLst>
              <a:ext uri="{FF2B5EF4-FFF2-40B4-BE49-F238E27FC236}">
                <a16:creationId xmlns:a16="http://schemas.microsoft.com/office/drawing/2014/main" id="{65A9F115-A940-416A-BCD4-4A5E7F474C2E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68,398 人</a:t>
            </a:r>
          </a:p>
        </p:txBody>
      </p:sp>
      <p:sp>
        <p:nvSpPr>
          <p:cNvPr id="21" name="2024 年中心值推算">
            <a:extLst>
              <a:ext uri="{FF2B5EF4-FFF2-40B4-BE49-F238E27FC236}">
                <a16:creationId xmlns:a16="http://schemas.microsoft.com/office/drawing/2014/main" id="{8D2F79F9-5A4B-49C1-8B50-ACC20E283FA2}"/>
              </a:ext>
            </a:extLst>
          </p:cNvPr>
          <p:cNvSpPr>
            <a:spLocks noGrp="1"/>
          </p:cNvSpPr>
          <p:nvPr/>
        </p:nvSpPr>
        <p:spPr>
          <a:xfrm>
            <a:off x="742950" y="5172075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原2024年存量推算（非考生数）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FE17780-7650-452C-9266-B07AD9E7F09E}"/>
              </a:ext>
            </a:extLst>
          </p:cNvPr>
          <p:cNvSpPr>
            <a:spLocks noGrp="1"/>
          </p:cNvSpPr>
          <p:nvPr/>
        </p:nvSpPr>
        <p:spPr>
          <a:xfrm>
            <a:off x="4105275" y="4552950"/>
            <a:ext cx="34290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6.61–7.07 万人">
            <a:extLst>
              <a:ext uri="{FF2B5EF4-FFF2-40B4-BE49-F238E27FC236}">
                <a16:creationId xmlns:a16="http://schemas.microsoft.com/office/drawing/2014/main" id="{FB1FCCCB-B1C3-45BB-8E95-4964434C099A}"/>
              </a:ext>
            </a:extLst>
          </p:cNvPr>
          <p:cNvSpPr>
            <a:spLocks noGrp="1"/>
          </p:cNvSpPr>
          <p:nvPr/>
        </p:nvSpPr>
        <p:spPr>
          <a:xfrm>
            <a:off x="4314825" y="468630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6.61–7.07 万人</a:t>
            </a:r>
          </a:p>
        </p:txBody>
      </p:sp>
      <p:sp>
        <p:nvSpPr>
          <p:cNvPr id="24" name="按 1.45%–1.55% 取整误差">
            <a:extLst>
              <a:ext uri="{FF2B5EF4-FFF2-40B4-BE49-F238E27FC236}">
                <a16:creationId xmlns:a16="http://schemas.microsoft.com/office/drawing/2014/main" id="{D4A79A7B-4161-400E-A403-174EEE9F50F6}"/>
              </a:ext>
            </a:extLst>
          </p:cNvPr>
          <p:cNvSpPr>
            <a:spLocks noGrp="1"/>
          </p:cNvSpPr>
          <p:nvPr/>
        </p:nvSpPr>
        <p:spPr>
          <a:xfrm>
            <a:off x="4314825" y="5172075"/>
            <a:ext cx="2905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原比例情景范围，非置信区间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EF2E22E-C4C6-4874-8E0B-F8B4D10D8ED5}"/>
              </a:ext>
            </a:extLst>
          </p:cNvPr>
          <p:cNvSpPr>
            <a:spLocks noGrp="1"/>
          </p:cNvSpPr>
          <p:nvPr/>
        </p:nvSpPr>
        <p:spPr>
          <a:xfrm>
            <a:off x="7724775" y="4552950"/>
            <a:ext cx="3933825" cy="952500"/>
          </a:xfrm>
          <a:prstGeom prst="roundRect">
            <a:avLst>
              <a:gd name="adj" fmla="val 20000"/>
            </a:avLst>
          </a:prstGeom>
          <a:solidFill>
            <a:srgbClr val="F5EBDD"/>
          </a:solidFill>
          <a:ln w="9525">
            <a:solidFill>
              <a:srgbClr val="E8D4B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口径更正">
            <a:extLst>
              <a:ext uri="{FF2B5EF4-FFF2-40B4-BE49-F238E27FC236}">
                <a16:creationId xmlns:a16="http://schemas.microsoft.com/office/drawing/2014/main" id="{EBE52730-ECC1-4A4F-B5CB-AC1C81436512}"/>
              </a:ext>
            </a:extLst>
          </p:cNvPr>
          <p:cNvSpPr>
            <a:spLocks noGrp="1"/>
          </p:cNvSpPr>
          <p:nvPr/>
        </p:nvSpPr>
        <p:spPr>
          <a:xfrm>
            <a:off x="7934325" y="46958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27" name="10–12.5 万人不能直接作考试市场分母">
            <a:extLst>
              <a:ext uri="{FF2B5EF4-FFF2-40B4-BE49-F238E27FC236}">
                <a16:creationId xmlns:a16="http://schemas.microsoft.com/office/drawing/2014/main" id="{2D7CD48C-E673-4CD8-8378-8FB1A847DC70}"/>
              </a:ext>
            </a:extLst>
          </p:cNvPr>
          <p:cNvSpPr>
            <a:spLocks noGrp="1"/>
          </p:cNvSpPr>
          <p:nvPr/>
        </p:nvSpPr>
        <p:spPr>
          <a:xfrm>
            <a:off x="7934325" y="5057775"/>
            <a:ext cx="3429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医师存量不等于年度考生人数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BF5E0A1-D1BE-42F4-B846-1CCEDAA11B1A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本章结论">
            <a:extLst>
              <a:ext uri="{FF2B5EF4-FFF2-40B4-BE49-F238E27FC236}">
                <a16:creationId xmlns:a16="http://schemas.microsoft.com/office/drawing/2014/main" id="{F48CE99C-2D99-4FB4-9A2A-22766C7874E4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0" name="全国狭义肿瘤科医师约 6.6–7.1 万人，广义口径不能直接作为考试分母">
            <a:extLst>
              <a:ext uri="{FF2B5EF4-FFF2-40B4-BE49-F238E27FC236}">
                <a16:creationId xmlns:a16="http://schemas.microsoft.com/office/drawing/2014/main" id="{D16464C1-6C04-4151-956A-C3EF52785C17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这组数值仅保留原方案量级假设，不能据此宣称全国实际考生规模。</a:t>
            </a: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年度考生规模</a:t>
            </a: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原年度考生估算约0.33–0.71万人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保留原稿图表与分专业拆分，用作内部情景；报考比例及专业分配均未得到真实报名数据验证。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FDAF31-80EE-47B3-BD08-A340F85DD35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B05C885-4C2C-4E32-9517-AA06FE34AD26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4BD7961-C0F1-402F-8435-2A1B40EAE56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6667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" name="Chart"/>
          <p:cNvGraphicFramePr/>
          <p:nvPr/>
        </p:nvGraphicFramePr>
        <p:xfrm>
          <a:off x="723900" y="1962150"/>
          <a:ext cx="619125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表格 27"/>
          <p:cNvGraphicFramePr/>
          <p:nvPr/>
        </p:nvGraphicFramePr>
        <p:xfrm>
          <a:off x="7524750" y="1752600"/>
          <a:ext cx="4133850" cy="30480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年度推算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肿瘤内科学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1,700–3,400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 肿瘤外科学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700–1,400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343 肿瘤放射治疗学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1,000–2,000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3,400–6,800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圆角矩形 11">
            <a:extLst>
              <a:ext uri="{FF2B5EF4-FFF2-40B4-BE49-F238E27FC236}">
                <a16:creationId xmlns:a16="http://schemas.microsoft.com/office/drawing/2014/main" id="{6858F274-5F58-48ED-AA72-4A3ACC86C5A4}"/>
              </a:ext>
            </a:extLst>
          </p:cNvPr>
          <p:cNvSpPr>
            <a:spLocks noGrp="1"/>
          </p:cNvSpPr>
          <p:nvPr/>
        </p:nvSpPr>
        <p:spPr>
          <a:xfrm>
            <a:off x="533400" y="5029200"/>
            <a:ext cx="11125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口径提示">
            <a:extLst>
              <a:ext uri="{FF2B5EF4-FFF2-40B4-BE49-F238E27FC236}">
                <a16:creationId xmlns:a16="http://schemas.microsoft.com/office/drawing/2014/main" id="{0CF2A386-3015-4BFF-8FB3-FA29666E8F70}"/>
              </a:ext>
            </a:extLst>
          </p:cNvPr>
          <p:cNvSpPr>
            <a:spLocks noGrp="1"/>
          </p:cNvSpPr>
          <p:nvPr/>
        </p:nvSpPr>
        <p:spPr>
          <a:xfrm>
            <a:off x="723900" y="5153025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口径提示</a:t>
            </a:r>
          </a:p>
        </p:txBody>
      </p:sp>
      <p:sp>
        <p:nvSpPr>
          <p:cNvPr id="14" name="考虑肿瘤科占比取整误差，情景范围约 3,306–7,068 人；测算人数">
            <a:extLst>
              <a:ext uri="{FF2B5EF4-FFF2-40B4-BE49-F238E27FC236}">
                <a16:creationId xmlns:a16="http://schemas.microsoft.com/office/drawing/2014/main" id="{B595953E-D32C-456F-858E-0CD3B1DAFD87}"/>
              </a:ext>
            </a:extLst>
          </p:cNvPr>
          <p:cNvSpPr>
            <a:spLocks noGrp="1"/>
          </p:cNvSpPr>
          <p:nvPr/>
        </p:nvSpPr>
        <p:spPr>
          <a:xfrm>
            <a:off x="2038350" y="5133975"/>
            <a:ext cx="923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原情景范围约3,306–7,068人；不是统计置信区间，考生人数也不等于付费用户。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76D3394-96C4-4F0A-8B55-B29037459AC7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本章结论">
            <a:extLst>
              <a:ext uri="{FF2B5EF4-FFF2-40B4-BE49-F238E27FC236}">
                <a16:creationId xmlns:a16="http://schemas.microsoft.com/office/drawing/2014/main" id="{D6462E35-2F94-4CFC-A006-D07598FF48E6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7" name="潜在年度考生约 0.3–0.7 万人，中性约 0.5 万人，只支持低成本">
            <a:extLst>
              <a:ext uri="{FF2B5EF4-FFF2-40B4-BE49-F238E27FC236}">
                <a16:creationId xmlns:a16="http://schemas.microsoft.com/office/drawing/2014/main" id="{E0A251F4-348A-4066-86CF-BCC0E2BA8254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原中性情景约5,000人／年；市场收入还取决于付费比例、客单价与成本。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以三个中级专业为范围，验证细分市场的付费机会</a:t>
            </a: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市场判断：已有用户与专科内容提供进入基础，需求规模和盈利能力仍需实际数据支持。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盘点三个专业的当期考生、首次报考与补考需求。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核对竞品实际商品、价格与服务，识别考生尚未满足的需求。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重点验证CSCO指南与大查房积累是否构成付费理由。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结合触达、付费意愿和服务成本评估投入；收费方式待定。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以真实需求、竞争差异与投入产出决定推进规模，三个专业同步纳入首期范围。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1507</Words>
  <Application>Microsoft Office PowerPoint</Application>
  <DocSecurity>0</DocSecurity>
  <PresentationFormat>宽屏</PresentationFormat>
  <Paragraphs>375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Microsoft YaHei</vt:lpstr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TT Gao</cp:lastModifiedBy>
  <cp:revision>2</cp:revision>
  <dcterms:created xsi:type="dcterms:W3CDTF">2026-09-17T03:47:42Z</dcterms:created>
  <dcterms:modified xsi:type="dcterms:W3CDTF">2026-09-18T04:01:28Z</dcterms:modified>
</cp:coreProperties>
</file>