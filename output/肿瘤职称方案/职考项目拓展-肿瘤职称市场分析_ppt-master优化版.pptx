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docProps/core.xml" Id="R8fd0461ca848490a"/><Relationship Type="http://schemas.openxmlformats.org/officeDocument/2006/relationships/extended-properties" Target="docProps/app.xml" Id="R86fa01ca4e7945ca"/><Relationship Type="http://schemas.openxmlformats.org/officeDocument/2006/relationships/officeDocument" Target="ppt/presentation.xml" Id="R9f97cccc23b44b8b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3eb86955bb4f19"/>
  </p:sldMasterIdLst>
  <p:notesMasterIdLst>
    <p:notesMasterId xmlns:r="http://schemas.openxmlformats.org/officeDocument/2006/relationships" r:id="Rb2b25e7c54e84374"/>
  </p:notesMasterIdLst>
  <p:sldIdLst>
    <p:sldId xmlns:r="http://schemas.openxmlformats.org/officeDocument/2006/relationships" id="256" r:id="Ref78724880bf436d"/>
    <p:sldId xmlns:r="http://schemas.openxmlformats.org/officeDocument/2006/relationships" id="257" r:id="R51aa3580ed674bb6"/>
    <p:sldId xmlns:r="http://schemas.openxmlformats.org/officeDocument/2006/relationships" id="258" r:id="R02cedda232dc4b16"/>
    <p:sldId xmlns:r="http://schemas.openxmlformats.org/officeDocument/2006/relationships" id="259" r:id="Rc9df1d7d79dc480e"/>
    <p:sldId xmlns:r="http://schemas.openxmlformats.org/officeDocument/2006/relationships" id="260" r:id="R13fb0154ee7e41dd"/>
    <p:sldId xmlns:r="http://schemas.openxmlformats.org/officeDocument/2006/relationships" id="261" r:id="Rd51e660315484264"/>
    <p:sldId xmlns:r="http://schemas.openxmlformats.org/officeDocument/2006/relationships" id="262" r:id="Re07337d44a1248e5"/>
    <p:sldId xmlns:r="http://schemas.openxmlformats.org/officeDocument/2006/relationships" id="263" r:id="R27c97e3830784a57"/>
    <p:sldId xmlns:r="http://schemas.openxmlformats.org/officeDocument/2006/relationships" id="264" r:id="Rb72b1260fddb4579"/>
    <p:sldId xmlns:r="http://schemas.openxmlformats.org/officeDocument/2006/relationships" id="265" r:id="R1471389d9d014459"/>
    <p:sldId xmlns:r="http://schemas.openxmlformats.org/officeDocument/2006/relationships" id="266" r:id="R9ad85bcabdac4b55"/>
    <p:sldId xmlns:r="http://schemas.openxmlformats.org/officeDocument/2006/relationships" id="267" r:id="R40048f080d0a4d23"/>
    <p:sldId xmlns:r="http://schemas.openxmlformats.org/officeDocument/2006/relationships" id="268" r:id="R61edbb51fef7476d"/>
    <p:sldId xmlns:r="http://schemas.openxmlformats.org/officeDocument/2006/relationships" id="269" r:id="R22b7eafc3864416f"/>
    <p:sldId xmlns:r="http://schemas.openxmlformats.org/officeDocument/2006/relationships" id="270" r:id="Rae2ac72320664170"/>
    <p:sldId xmlns:r="http://schemas.openxmlformats.org/officeDocument/2006/relationships" id="271" r:id="R26841048d8c8497e"/>
    <p:sldId xmlns:r="http://schemas.openxmlformats.org/officeDocument/2006/relationships" id="272" r:id="Rc6f98b769f924d88"/>
    <p:sldId xmlns:r="http://schemas.openxmlformats.org/officeDocument/2006/relationships" id="273" r:id="Rf8d0a4d63e2a47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theme/theme1.xml" Id="R00d6d15fe1e6491a"/><Relationship Type="http://schemas.openxmlformats.org/officeDocument/2006/relationships/slideMaster" Target="slideMasters/slideMaster1.xml" Id="R163eb86955bb4f19"/><Relationship Type="http://schemas.openxmlformats.org/officeDocument/2006/relationships/notesMaster" Target="notesMasters/notesMaster1.xml" Id="Rb2b25e7c54e84374"/><Relationship Type="http://schemas.openxmlformats.org/officeDocument/2006/relationships/presProps" Target="presProps.xml" Id="R718891b5af234f84"/><Relationship Type="http://schemas.openxmlformats.org/officeDocument/2006/relationships/viewProps" Target="viewProps.xml" Id="R63905a6620ac4bf9"/><Relationship Type="http://schemas.openxmlformats.org/officeDocument/2006/relationships/tableStyles" Target="tableStyles.xml" Id="Re34fe2319af7427b"/><Relationship Type="http://schemas.openxmlformats.org/officeDocument/2006/relationships/slide" Target="slides/slide1.xml" Id="Ref78724880bf436d"/><Relationship Type="http://schemas.openxmlformats.org/officeDocument/2006/relationships/slide" Target="slides/slide2.xml" Id="R51aa3580ed674bb6"/><Relationship Type="http://schemas.openxmlformats.org/officeDocument/2006/relationships/slide" Target="slides/slide3.xml" Id="R02cedda232dc4b16"/><Relationship Type="http://schemas.openxmlformats.org/officeDocument/2006/relationships/slide" Target="slides/slide4.xml" Id="Rc9df1d7d79dc480e"/><Relationship Type="http://schemas.openxmlformats.org/officeDocument/2006/relationships/slide" Target="slides/slide5.xml" Id="R13fb0154ee7e41dd"/><Relationship Type="http://schemas.openxmlformats.org/officeDocument/2006/relationships/slide" Target="slides/slide6.xml" Id="Rd51e660315484264"/><Relationship Type="http://schemas.openxmlformats.org/officeDocument/2006/relationships/slide" Target="slides/slide7.xml" Id="Re07337d44a1248e5"/><Relationship Type="http://schemas.openxmlformats.org/officeDocument/2006/relationships/slide" Target="slides/slide8.xml" Id="R27c97e3830784a57"/><Relationship Type="http://schemas.openxmlformats.org/officeDocument/2006/relationships/slide" Target="slides/slide9.xml" Id="Rb72b1260fddb4579"/><Relationship Type="http://schemas.openxmlformats.org/officeDocument/2006/relationships/slide" Target="slides/slide10.xml" Id="R1471389d9d014459"/><Relationship Type="http://schemas.openxmlformats.org/officeDocument/2006/relationships/slide" Target="slides/slide11.xml" Id="R9ad85bcabdac4b55"/><Relationship Type="http://schemas.openxmlformats.org/officeDocument/2006/relationships/slide" Target="slides/slide12.xml" Id="R40048f080d0a4d23"/><Relationship Type="http://schemas.openxmlformats.org/officeDocument/2006/relationships/slide" Target="slides/slide13.xml" Id="R61edbb51fef7476d"/><Relationship Type="http://schemas.openxmlformats.org/officeDocument/2006/relationships/slide" Target="slides/slide14.xml" Id="R22b7eafc3864416f"/><Relationship Type="http://schemas.openxmlformats.org/officeDocument/2006/relationships/slide" Target="slides/slide15.xml" Id="Rae2ac72320664170"/><Relationship Type="http://schemas.openxmlformats.org/officeDocument/2006/relationships/slide" Target="slides/slide16.xml" Id="R26841048d8c8497e"/><Relationship Type="http://schemas.openxmlformats.org/officeDocument/2006/relationships/slide" Target="slides/slide17.xml" Id="Rc6f98b769f924d88"/><Relationship Type="http://schemas.openxmlformats.org/officeDocument/2006/relationships/slide" Target="slides/slide18.xml" Id="Rf8d0a4d63e2a4748"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theme/theme3.xml" Id="R8f3e2745558a4342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../slides/slide1.xml" Id="Rd3266c668e1140bc"/><Relationship Type="http://schemas.openxmlformats.org/officeDocument/2006/relationships/notesMaster" Target="../notesMasters/notesMaster1.xml" Id="R8a28511699dd4261"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../slides/slide2.xml" Id="Rdbc28dcff03448f2"/><Relationship Type="http://schemas.openxmlformats.org/officeDocument/2006/relationships/notesMaster" Target="../notesMasters/notesMaster1.xml" Id="R2bb034598a264d92"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../slides/slide3.xml" Id="Rbe2a75ae23074733"/><Relationship Type="http://schemas.openxmlformats.org/officeDocument/2006/relationships/notesMaster" Target="../notesMasters/notesMaster1.xml" Id="R19c364532dc94a37"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../slides/slide4.xml" Id="R192766000d664c91"/><Relationship Type="http://schemas.openxmlformats.org/officeDocument/2006/relationships/notesMaster" Target="../notesMasters/notesMaster1.xml" Id="R946c9bab65f24133"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../slides/slide5.xml" Id="R11563709cceb4b50"/><Relationship Type="http://schemas.openxmlformats.org/officeDocument/2006/relationships/notesMaster" Target="../notesMasters/notesMaster1.xml" Id="R09b34e4d05804b6d"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../slides/slide6.xml" Id="Re961d1eeea984ba1"/><Relationship Type="http://schemas.openxmlformats.org/officeDocument/2006/relationships/notesMaster" Target="../notesMasters/notesMaster1.xml" Id="R5ac4107a8a8f4563"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../slides/slide7.xml" Id="R50c6db9a396743f9"/><Relationship Type="http://schemas.openxmlformats.org/officeDocument/2006/relationships/notesMaster" Target="../notesMasters/notesMaster1.xml" Id="Rfaaa4704f09141c5"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../slides/slide8.xml" Id="R996ffd0e899c496a"/><Relationship Type="http://schemas.openxmlformats.org/officeDocument/2006/relationships/notesMaster" Target="../notesMasters/notesMaster1.xml" Id="Rc0825cf876164b6b"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../slides/slide9.xml" Id="R7f97f84a05bd4998"/><Relationship Type="http://schemas.openxmlformats.org/officeDocument/2006/relationships/notesMaster" Target="../notesMasters/notesMaster1.xml" Id="R607ce6edb50649f3"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../slides/slide10.xml" Id="R1189b326931d4a81"/><Relationship Type="http://schemas.openxmlformats.org/officeDocument/2006/relationships/notesMaster" Target="../notesMasters/notesMaster1.xml" Id="Ra1a1f069b695479a"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../slides/slide11.xml" Id="R76b887279f6449cd"/><Relationship Type="http://schemas.openxmlformats.org/officeDocument/2006/relationships/notesMaster" Target="../notesMasters/notesMaster1.xml" Id="R666f2c8bfb9e4d36"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../slides/slide12.xml" Id="R7f8cf1bcd29241bc"/><Relationship Type="http://schemas.openxmlformats.org/officeDocument/2006/relationships/notesMaster" Target="../notesMasters/notesMaster1.xml" Id="R3cdcd5ec707549f1"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../slides/slide13.xml" Id="R08a9c81a238d4e4a"/><Relationship Type="http://schemas.openxmlformats.org/officeDocument/2006/relationships/notesMaster" Target="../notesMasters/notesMaster1.xml" Id="R3f8472737cc44486"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../slides/slide14.xml" Id="Rf690abb427ad45da"/><Relationship Type="http://schemas.openxmlformats.org/officeDocument/2006/relationships/notesMaster" Target="../notesMasters/notesMaster1.xml" Id="R3b7d5eca42114512"/></Relationships>
</file>

<file path=ppt/notesSlides/_rels/notesSlide15.xml.rels><?xml version='1.0' encoding='UTF-8'?>
<Relationships xmlns="http://schemas.openxmlformats.org/package/2006/relationships"><Relationship Type="http://schemas.openxmlformats.org/officeDocument/2006/relationships/slide" Target="../slides/slide15.xml" Id="Rdd3cfa9cb6e54c9b"/><Relationship Type="http://schemas.openxmlformats.org/officeDocument/2006/relationships/notesMaster" Target="../notesMasters/notesMaster1.xml" Id="Ra26a3812bda94b00"/></Relationships>
</file>

<file path=ppt/notesSlides/_rels/notesSlide16.xml.rels><?xml version='1.0' encoding='UTF-8'?>
<Relationships xmlns="http://schemas.openxmlformats.org/package/2006/relationships"><Relationship Type="http://schemas.openxmlformats.org/officeDocument/2006/relationships/slide" Target="../slides/slide16.xml" Id="R05ea0b18e62b411e"/><Relationship Type="http://schemas.openxmlformats.org/officeDocument/2006/relationships/notesMaster" Target="../notesMasters/notesMaster1.xml" Id="R979c7db727144445"/></Relationships>
</file>

<file path=ppt/notesSlides/_rels/notesSlide17.xml.rels><?xml version='1.0' encoding='UTF-8'?>
<Relationships xmlns="http://schemas.openxmlformats.org/package/2006/relationships"><Relationship Type="http://schemas.openxmlformats.org/officeDocument/2006/relationships/slide" Target="../slides/slide17.xml" Id="Rea1467361e864ca0"/><Relationship Type="http://schemas.openxmlformats.org/officeDocument/2006/relationships/notesMaster" Target="../notesMasters/notesMaster1.xml" Id="Ra962f09d04744f6f"/></Relationships>
</file>

<file path=ppt/notesSlides/_rels/notesSlide18.xml.rels><?xml version='1.0' encoding='UTF-8'?>
<Relationships xmlns="http://schemas.openxmlformats.org/package/2006/relationships"><Relationship Type="http://schemas.openxmlformats.org/officeDocument/2006/relationships/slide" Target="../slides/slide18.xml" Id="R25be8bfe05bf4920"/><Relationship Type="http://schemas.openxmlformats.org/officeDocument/2006/relationships/notesMaster" Target="../notesMasters/notesMaster1.xml" Id="R5bfb3a2380ee4931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官方依据：https://www.21wecan.com/wsrcw/c100193/202511/1002760.shtml</a:t>
            </a:r>
          </a:p>
          <a:p xmlns:a="http://schemas.openxmlformats.org/drawingml/2006/main">
            <a:r>
              <a:t>前两科共用试卷：https://www.21wecan.com/wsrcw/c100193/202208/1d3cddb94d034000a0e8a4178b8f92a6.shtml</a:t>
            </a:r>
          </a:p>
          <a:p xmlns:a="http://schemas.openxmlformats.org/drawingml/2006/main">
            <a:r>
              <a:t>同步上线及收费待定为用户已确定的业务范围。全国三专业报考人数和市场收入尚缺可靠数据，本页不作规模判断。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专业名称及前两科共用试卷依据：https://www.21wecan.com/wsrcw/c100193/202208/1d3cddb94d034000a0e8a4178b8f92a6.shtml</a:t>
            </a:r>
          </a:p>
          <a:p xmlns:a="http://schemas.openxmlformats.org/drawingml/2006/main">
            <a:r>
              <a:t>目标用户定义以实际报考专业为准，科室归属不等于报考资格。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2026考生须知：https://www.21wecan.com/wsrcw/c100193/202511/1002760.shtml</a:t>
            </a:r>
          </a:p>
          <a:p xmlns:a="http://schemas.openxmlformats.org/drawingml/2006/main">
            <a:r>
              <a:t>60分及不得跨专业合并成绩的官方通知：https://www.huaihua.gov.cn/wsjkw/c100587/202512/73a23312619d4460a3685c7cd0e0645c.shtml</a:t>
            </a:r>
          </a:p>
          <a:p xmlns:a="http://schemas.openxmlformats.org/drawingml/2006/main">
            <a:r>
              <a:t>共用试卷：https://www.21wecan.com/wsrcw/c100193/202208/1d3cddb94d034000a0e8a4178b8f92a6.shtml</a:t>
            </a:r>
          </a:p>
          <a:p xmlns:a="http://schemas.openxmlformats.org/drawingml/2006/main">
            <a:r>
              <a:t>考试合格不等于单位聘任。2026具体日程不自动沿用到2027。未取得适用年度官方详细题型文件，不采用机构题量或计分说法。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官方已确认：https://www.21wecan.com/wsrcw/c100193/202208/1d3cddb94d034000a0e8a4178b8f92a6.shtml</a:t>
            </a:r>
          </a:p>
          <a:p xmlns:a="http://schemas.openxmlformats.org/drawingml/2006/main">
            <a:r>
              <a:t>用户提供89页机构版大纲未标适用年度，不作为最终考试范围依据。肺癌侧重、疾病清单及掌握等级须与适用年度官方大纲复核，本版撤下机构版页码及其具体内容结论。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分析方法参考本地 yu-jun-product-method 技能：按具体使用情境比较新体验、旧体验与替换成本。表格为产品假设，不是已完成的访谈结果，也不是书中对本业务的结论。访谈时请用户展示最近一次真实备考任务及所用材料，避免只问是否喜欢AI功能。先观察完成任务的过程、耗时、额外查证与是否愿意再次使用，不任意给体验打分。首次与补考划分保留既有官方制度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此页全部为设计建议。机构聊天截图与跨专业出版方文章仅为线索，不作为341—343官方评分或回退依据。不采用固定75题、选项扣分公式或第一问错导致后续全错等无可靠依据说法。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2026-09-17外部核验摘要，未附本地可追溯的品牌官方商品截图或完整链接。摘要中的168元及圣才58/68/58元只作为进一步取证线索，本版不列作已验证价格。所有价格需同时记录渠道、采集日期、专业、权益和有效期。本期收费方式待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分级是本次产品审查建议，不能将待评审功能写成用户已批准的承诺。用户明确决定：341、342、343同步上线，接入现有小程序，首屏直接增加三个选项，收费方式待定。最小学习流程需业务、教研、研发共同评审。未核验考试规则不进入模拟考试验收，不因此阻止与该规则无关的普通练习开发。缺项时不擅自改成单专业先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官方试题著作权声明：https://www.21wecan.com/wsrcw/c100193/202604/1002959.shtml</a:t>
            </a:r>
          </a:p>
          <a:p xmlns:a="http://schemas.openxmlformats.org/drawingml/2006/main">
            <a:r>
              <a:t>原创、授权或其他来源题目均需确认使用范围。回忆题名称不能替代来源审查。产品不默认承诺近五年真题数量或官方授权关系。上表流程为产品治理建议。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精确人数、村卫生室扣减、1.5%肿瘤科占比、5%—10%年度报考率缺少可追溯依据，全部撤下。官方全国医师总数不能直接换算为目标考试市场。不采用外部报告1万—2.5万或150万—1500万元的新测算，也不使用无统计依据的误差倍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本页是内部测算方法，不是考试事实或现有经营数据。业务尚未确定收费方式。各变量需固定同一统计周期、专业范围和去重口径，避免将用户数、订单数与科次数混用。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方法参考本地 identify-assumptions-existing 与 strategy-red-team 技能。优先处理价值、可用性、可行性及商业可持续性假设，仅用顺序和依赖表达优先级，不虚构概率、访谈结果或量化门槛。第1项内容与用户验证可并行。负责人为角色建议，未指定真实人员或日期。判断规则为建议，正式试点前需明确观察周期、样本来源、预算及可接受表现。用户验证若样本不足，应先调整招募和触达，不能据此宣布市场不存在。学习验证需尽量匹配题目难度和任务，初步观察不等于因果证明。D7留存分母为已到观察日的首次学习队列，付费转化分母为同期可购买试用用户，均需按专业去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版本：2026-09-17 官方口径修订。业务决定：341、342、343同步上线，接入现有小程序，首屏新增三个专业选项，收费方式待定。页面中的产品建议需业务评审，不属于官方考试要求。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../slideMasters/slideMaster1.xml" Id="Raa11131e1f564079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theme/theme2.xml" Id="Ra72baebe11c645a6"/><Relationship Type="http://schemas.openxmlformats.org/officeDocument/2006/relationships/slideLayout" Target="../slideLayouts/slideLayout1.xml" Id="Ra367726a5d9743f3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7726a5d97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35d8f9c513f8461f"/><Relationship Type="http://schemas.openxmlformats.org/officeDocument/2006/relationships/image" Target="../media/image.png" Id="R3f7f641ef275436a"/><Relationship Type="http://schemas.openxmlformats.org/officeDocument/2006/relationships/notesSlide" Target="../notesSlides/notesSlide1.xml" Id="R289112e132764ffd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e7e7ff839f534335"/><Relationship Type="http://schemas.openxmlformats.org/officeDocument/2006/relationships/notesSlide" Target="../notesSlides/notesSlide2.xml" Id="Rf15bb5c4384640ce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f0d46ede26ce47dc"/><Relationship Type="http://schemas.openxmlformats.org/officeDocument/2006/relationships/notesSlide" Target="../notesSlides/notesSlide3.xml" Id="R8ace5862b5a44fe7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2d19a8d250d64985"/><Relationship Type="http://schemas.openxmlformats.org/officeDocument/2006/relationships/notesSlide" Target="../notesSlides/notesSlide4.xml" Id="R3d26ebf9565a4794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b242fd7380294918"/><Relationship Type="http://schemas.openxmlformats.org/officeDocument/2006/relationships/notesSlide" Target="../notesSlides/notesSlide5.xml" Id="R21ccf3148fda4e36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1bfde5b784b34a37"/><Relationship Type="http://schemas.openxmlformats.org/officeDocument/2006/relationships/notesSlide" Target="../notesSlides/notesSlide6.xml" Id="R64d3c667e47e4331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1b134c8457de48a8"/><Relationship Type="http://schemas.openxmlformats.org/officeDocument/2006/relationships/notesSlide" Target="../notesSlides/notesSlide7.xml" Id="R692ff1bc0b954601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cea5915787064c8e"/><Relationship Type="http://schemas.openxmlformats.org/officeDocument/2006/relationships/notesSlide" Target="../notesSlides/notesSlide8.xml" Id="R1e205780d47c4d97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4682c4818a364e50"/><Relationship Type="http://schemas.openxmlformats.org/officeDocument/2006/relationships/notesSlide" Target="../notesSlides/notesSlide9.xml" Id="Ra40e28b506a44a4f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0e482b42fe1047b8"/><Relationship Type="http://schemas.openxmlformats.org/officeDocument/2006/relationships/notesSlide" Target="../notesSlides/notesSlide10.xml" Id="Rc4c907f4aa9a4246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aad4655fba9045ba"/><Relationship Type="http://schemas.openxmlformats.org/officeDocument/2006/relationships/notesSlide" Target="../notesSlides/notesSlide11.xml" Id="R43de663ac3a84a18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2d31b93dcfcc44ac"/><Relationship Type="http://schemas.openxmlformats.org/officeDocument/2006/relationships/notesSlide" Target="../notesSlides/notesSlide12.xml" Id="R7e07102e387543a5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953a7ed0bc5e4158"/><Relationship Type="http://schemas.openxmlformats.org/officeDocument/2006/relationships/notesSlide" Target="../notesSlides/notesSlide13.xml" Id="R03c664dc76864d7e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bc975aeacdfb43ab"/><Relationship Type="http://schemas.openxmlformats.org/officeDocument/2006/relationships/notesSlide" Target="../notesSlides/notesSlide14.xml" Id="R4b6de812a1eb4d1a"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890cb5ea9f534c23"/><Relationship Type="http://schemas.openxmlformats.org/officeDocument/2006/relationships/notesSlide" Target="../notesSlides/notesSlide15.xml" Id="R8fd0c93252b7408f"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91afed2bfe894cdb"/><Relationship Type="http://schemas.openxmlformats.org/officeDocument/2006/relationships/notesSlide" Target="../notesSlides/notesSlide16.xml" Id="Rbaa83738835d4cc1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28bbff0326574815"/><Relationship Type="http://schemas.openxmlformats.org/officeDocument/2006/relationships/notesSlide" Target="../notesSlides/notesSlide17.xml" Id="Rc31995dee6624da9"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5928b47daa82491e"/><Relationship Type="http://schemas.openxmlformats.org/officeDocument/2006/relationships/notesSlide" Target="../notesSlides/notesSlide18.xml" Id="R90dadcb28d324711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0B234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0" name="图片 8"/>
          <p:cNvPicPr>
            <a:picLocks noChangeAspect="1"/>
          </p:cNvPicPr>
          <p:nvPr/>
        </p:nvPicPr>
        <p:blipFill>
          <a:blip r:embed="R3f7f641ef275436a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职考项目拓展">
            <a:extLst>
              <a:ext uri="{FF2B5EF4-FFF2-40B4-BE49-F238E27FC236}">
                <a16:creationId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官方考试依据、用户价值与首期产品范围</a:t>
            </a:r>
          </a:p>
        </p:txBody>
      </p:sp>
      <p:sp>
        <p:nvSpPr>
          <p:cNvPr id="8" name="2026.09"/>
          <p:cNvSpPr/>
          <p:nvPr/>
        </p:nvSpPr>
        <p:spPr>
          <a:xfrm>
            <a:off x="666750" y="6001321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 · 产品方案</a:t>
            </a:r>
          </a:p>
        </p:txBody>
      </p:sp>
    </p:spTree>
    <p:extLst>
      <p:ext uri="{BB962C8B-B14F-4D97-AF65-F5344CB8AC3E}">
        <p14:creationId val="390344360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2" name="核心结论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三专业同步接入，按官方要求建设</a:t>
            </a:r>
          </a:p>
        </p:txBody>
      </p:sp>
      <p:sp>
        <p:nvSpPr>
          <p:cNvPr id="3" name="市场规模不大，但与良医汇现有肿瘤医生用户高度匹配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已确认产品范围，市场需求、接入成本与商业价值通过试点验证。</a:t>
            </a:r>
          </a:p>
        </p:txBody>
      </p:sp>
      <p:sp>
        <p:nvSpPr>
          <p:cNvPr id="4" name="02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6.6–7.1 万">
            <a:extLst>
              <a:ext uri="{FF2B5EF4-FFF2-40B4-BE49-F238E27FC236}">
                <a16:creationId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四科备考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同专业成绩两年滚动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0.33–0.71 万"/>
          <p:cNvSpPr/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两科共用</a:t>
            </a:r>
          </a:p>
        </p:txBody>
      </p:sp>
      <p:sp>
        <p:nvSpPr>
          <p:cNvPr id="14" name="潜在年度考生"/>
          <p:cNvSpPr/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基础知识、相关专业知识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3 个专业"/>
          <p:cNvSpPr/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/>
          <p:cNvSpPr/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低成本试点"/>
          <p:cNvSpPr/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/>
          <p:cNvSpPr/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价格与权益单独决策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01"/>
          <p:cNvSpPr/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/>
          <p:cNvSpPr/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接入现有小程序，评估答题、错题与 AI 功能的适配工作。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02"/>
          <p:cNvSpPr/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/>
          <p:cNvSpPr/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比较现有备考方式，验证找薄弱点、理解错题的实际帮助。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核心结论"/>
          <p:cNvSpPr/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三专业同步接入，先验证学习价值，再确定收费与后续投入。</a:t>
            </a:r>
          </a:p>
        </p:txBody>
      </p:sp>
    </p:spTree>
    <p:extLst>
      <p:ext uri="{BB962C8B-B14F-4D97-AF65-F5344CB8AC3E}">
        <p14:creationId val="1421287250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2" name="项目背景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现有产品与渠道提供接入基础，目标用户数量及新增成本需内部盘点。</a:t>
            </a:r>
          </a:p>
        </p:txBody>
      </p:sp>
      <p:sp>
        <p:nvSpPr>
          <p:cNvPr id="4" name="03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E8ED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项目价值">
            <a:extLst>
              <a:ext uri="{FF2B5EF4-FFF2-40B4-BE49-F238E27FC236}">
                <a16:creationId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</a:p>
        </p:txBody>
      </p:sp>
      <p:sp>
        <p:nvSpPr>
          <p:cNvPr id="12" name="降低目标用户触达与获取成本"/>
          <p:cNvSpPr/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盘点可触达的当年目标考生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/>
          <p:cNvSpPr/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拓展 AI 场景</a:t>
            </a:r>
          </a:p>
        </p:txBody>
      </p:sp>
      <p:sp>
        <p:nvSpPr>
          <p:cNvPr id="16" name="将 AI 私教与追问迁移到职称考试"/>
          <p:cNvSpPr/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将 AI 私教与追问迁移到职称考试</a:t>
            </a:r>
          </a:p>
        </p:txBody>
      </p:sp>
      <p:sp>
        <p:nvSpPr>
          <p:cNvPr id="17" name="矩形 16">
            <a:extLst>
              <a:ext uri="{FF2B5EF4-FFF2-40B4-BE49-F238E27FC236}">
                <a16:creationId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圆角矩形 17"/>
          <p:cNvSpPr/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圆角矩形 18">
            <a:extLst>
              <a:ext uri="{FF2B5EF4-FFF2-40B4-BE49-F238E27FC236}">
                <a16:creationId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中级">
            <a:extLst>
              <a:ext uri="{FF2B5EF4-FFF2-40B4-BE49-F238E27FC236}">
                <a16:creationId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/>
          <p:cNvSpPr/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年度安排以官方通知为准，本期聚焦 341–343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圆角矩形 24">
            <a:extLst>
              <a:ext uri="{FF2B5EF4-FFF2-40B4-BE49-F238E27FC236}">
                <a16:creationId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高级"/>
          <p:cNvSpPr/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/>
          <p:cNvSpPr/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专业代码、考试时间和要求因省份而异，首期暂不纳入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 341、342、343，388 与高级职称不纳入本期范围。</a:t>
            </a:r>
          </a:p>
        </p:txBody>
      </p:sp>
    </p:spTree>
    <p:extLst>
      <p:ext uri="{BB962C8B-B14F-4D97-AF65-F5344CB8AC3E}">
        <p14:creationId val="1517325874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本期范围与后续拓展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业务已确定首期覆盖三个中级专业，高级职称后续另行评估。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中级职称（本期）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高级职称（后续）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考试依据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全国考试文件及考区要求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用户识别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待确定地区后开展调研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接入现有小程序，适配四科内容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范围决定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三个专业同步上线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暂无上线承诺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val="1298257798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0" name="中级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本期同步上线的三个专业</a:t>
            </a:r>
          </a:p>
        </p:txBody>
      </p:sp>
      <p:sp>
        <p:nvSpPr>
          <p:cNvPr id="3" name="三者均为全国统考专业，本期不再设置单专业优先级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341">
            <a:extLst>
              <a:ext uri="{FF2B5EF4-FFF2-40B4-BE49-F238E27FC236}">
                <a16:creationId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预期与既有用户匹配，实际需求占比需通过试点验证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342"/>
          <p:cNvSpPr/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9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/>
          <p:cNvSpPr/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/>
          <p:cNvSpPr/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458"/>
              </a:lnSpc>
            </a:pPr>
            <a:r>
              <a:rPr lang="zh-CN" sz="135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按实际报考代码识别需求，不能仅按</a:t>
            </a:r>
            <a:br/>
            <a:r>
              <a:rPr lang="zh-CN" sz="135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所在科室归类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343"/>
          <p:cNvSpPr/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39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/>
          <p:cNvSpPr/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>
              <a:ext uri="{FF2B5EF4-FFF2-40B4-BE49-F238E27FC236}">
                <a16:creationId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/>
          <p:cNvSpPr/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458"/>
              </a:lnSpc>
            </a:pPr>
            <a:r>
              <a:rPr lang="zh-CN" sz="135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前两科共用试卷，后两科按本专业考</a:t>
            </a:r>
            <a:br/>
            <a:r>
              <a:rPr lang="zh-CN" sz="135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纲建设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本章结论"/>
          <p:cNvSpPr/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三个专业同步上线是本期业务决定，学习内容按所选专业配置。</a:t>
            </a:r>
          </a:p>
        </p:txBody>
      </p:sp>
    </p:spTree>
    <p:extLst>
      <p:ext uri="{BB962C8B-B14F-4D97-AF65-F5344CB8AC3E}">
        <p14:creationId val="1422171271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中级考试结构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四科考试结构与规则边界</a:t>
            </a:r>
          </a:p>
        </p:txBody>
      </p:sp>
      <p:sp>
        <p:nvSpPr>
          <p:cNvPr id="3" name="适用于 341、342、343 等全国统一组织的中级职称考试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2026官方口径：四科机考、每科90分钟、各科60分合格、同专业两年滚动。</a:t>
            </a:r>
          </a:p>
        </p:txBody>
      </p:sp>
      <p:sp>
        <p:nvSpPr>
          <p:cNvPr id="4" name="06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graphicFrame>
        <p:nvGraphicFramePr>
          <p:cNvPr id="30" name="表格 27"/>
          <p:cNvGraphicFramePr>
            <a:graphicFrameLocks noGrp="1"/>
          </p:cNvGraphicFramePr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 firstRow="0" bandRow="0">
</a:tblPr>
              <a:tblGrid>
                <a:gridCol w="2209800"/>
                <a:gridCol w="1657351"/>
                <a:gridCol w="1657350"/>
                <a:gridCol w="5600699"/>
              </a:tblGrid>
              <a:tr h="57912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规则依据与边界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三专业共用试卷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题量、题型分布待官方材料确认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范围按适用年度官方大纲核对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按专业配置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具体题型、计分及回退规则待核验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产品必须准确适配"/>
          <p:cNvSpPr/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6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产品必须准确适配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案例分析题选错扣分">
            <a:extLst>
              <a:ext uri="{FF2B5EF4-FFF2-40B4-BE49-F238E27FC236}">
                <a16:creationId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选项计分待核验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单向作答，不可回退">
            <a:extLst>
              <a:ext uri="{FF2B5EF4-FFF2-40B4-BE49-F238E27FC236}">
                <a16:creationId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回退限制待核验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四科成绩两年滚动">
            <a:extLst>
              <a:ext uri="{FF2B5EF4-FFF2-40B4-BE49-F238E27FC236}">
                <a16:creationId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同专业四科两年滚动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本章结论"/>
          <p:cNvSpPr/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60分为考试合格标准。后续年度安排及具体题型规则按官方文件更新。</a:t>
            </a:r>
          </a:p>
        </p:txBody>
      </p:sp>
    </p:spTree>
    <p:extLst>
      <p:ext uri="{BB962C8B-B14F-4D97-AF65-F5344CB8AC3E}">
        <p14:creationId val="1094101680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考纲与内容建设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公共内容与专业内容的建设边界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已确认前两科共用试卷，具体考点范围须按适用年度官方大纲逐项核对。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内容层级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官方依据或待确认项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产品设计建议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共建内容，保留专业与科目关联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官方目录明确三专业共用试卷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统一维护，经教研审核后复用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待取得适用年度官方大纲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分别建立专业考点与题目映射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范围、题型与规则需核验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独立核对第四科内容与交互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版本管理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机构版大纲仅作为核对线索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记录官方来源、年度及差异处理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共用知识点统一维护，专业差异通过考点要求和题目映射体现。</a:t>
            </a:r>
          </a:p>
        </p:txBody>
      </p:sp>
    </p:spTree>
    <p:extLst>
      <p:ext uri="{BB962C8B-B14F-4D97-AF65-F5344CB8AC3E}">
        <p14:creationId val="1298257798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用户价值与替代方案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用户价值与使用成本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以下为待验证情境，比较已有备考方式、预期改善与额外使用成本。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使用情境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现有做法假设，需访谈确认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拟提供的帮助与新增成本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首次备考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按教材或题库章节自行安排学习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建议：四科覆盖与薄弱点提示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成本：完成初测、理解学习计划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部分科目补考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继续刷原题库，自行筛选待考科目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建议：聚焦本次待考科目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成本：填写科目及已过年份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错题理解困难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阅读原解析，另查教材或其他资料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建议：结合选项与病例条件解释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成本：核对AI讲解是否可信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时间有限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用零散时间刷题，自行决定学习顺序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建议：清晰的小任务与续学入口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成本：学习新操作、调整习惯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已在用其他题库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保留原平台的错题、收藏和学习进度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建议：允许先试用，再决定是否使用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成本：重复建档、分散进度与注意力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验证是否更容易完成备考任务，同时观察额外填写、核对与切换负担。</a:t>
            </a:r>
          </a:p>
        </p:txBody>
      </p:sp>
    </p:spTree>
    <p:extLst>
      <p:ext uri="{BB962C8B-B14F-4D97-AF65-F5344CB8AC3E}">
        <p14:creationId val="1298257798"/>
      </p:ext>
    </p:extLst>
  </p:cSld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案例分析题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案例练习与考试模拟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以下为产品设计建议，尚未确认的计分及回退规则不写入模拟考试验收。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练习模式建议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考试模拟的前置条件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病例结构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病例与分问关联，支持逐步练习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取得适用题型及作答顺序依据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答案反馈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解析正确项、排除项和病例条件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核验提交与答案反馈时点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计分展示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采用明确公示的练习规则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官方计分未确认前不输出预测分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回退与断点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允许复盘并保存学习进度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核验回退粒度、跳题和重进规则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学习效果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同考点新题复测，统计练习表现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练习表现不等同考试通过概率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可先评估案例练习，官方模拟计分与锁题功能须待规则确认。</a:t>
            </a:r>
          </a:p>
        </p:txBody>
      </p:sp>
    </p:spTree>
    <p:extLst>
      <p:ext uri="{BB962C8B-B14F-4D97-AF65-F5344CB8AC3E}">
        <p14:creationId val="1298257798"/>
      </p:ext>
    </p:extLst>
  </p:cSld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4" name="竞品分析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竞品调研与取证要求</a:t>
            </a:r>
          </a:p>
        </p:txBody>
      </p:sp>
      <p:sp>
        <p:nvSpPr>
          <p:cNvPr id="3" name="不同产品形态覆盖从传统权威题集到移动端题库与会员社区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保留原方案的调研对象，具体专业覆盖、价格和功能以品牌官方渠道留证。</a:t>
            </a:r>
          </a:p>
        </p:txBody>
      </p:sp>
      <p:sp>
        <p:nvSpPr>
          <p:cNvPr id="4" name="07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graphicFrame>
        <p:nvGraphicFramePr>
          <p:cNvPr id="34" name="表格 31"/>
          <p:cNvGraphicFramePr>
            <a:graphicFrameLocks noGrp="1"/>
          </p:cNvGraphicFramePr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3429000"/>
                <a:gridCol w="2476500"/>
                <a:gridCol w="3409950"/>
              </a:tblGrid>
              <a:tr h="5753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取证渠道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官方出版物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出版社官网、适用版本原书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内容目录、年份与解析结构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核验后用于教研参考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品牌官方商品及购买页面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专业代码、题目与案例覆盖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按具体商品比较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品牌官方套餐页面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课程、题库、服务与有效期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不同权益分开比较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品牌正式产品及实测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解析依据、纠错和使用额度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不据宣传判断准确性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五家直接竞品"/>
          <p:cNvSpPr/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五家调研对象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阿虎医考">
            <a:extLst>
              <a:ext uri="{FF2B5EF4-FFF2-40B4-BE49-F238E27FC236}">
                <a16:creationId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考试宝典">
            <a:extLst>
              <a:ext uri="{FF2B5EF4-FFF2-40B4-BE49-F238E27FC236}">
                <a16:creationId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肿瘤学圣题库">
            <a:extLst>
              <a:ext uri="{FF2B5EF4-FFF2-40B4-BE49-F238E27FC236}">
                <a16:creationId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肿瘤学圣题库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蓝基因">
            <a:extLst>
              <a:ext uri="{FF2B5EF4-FFF2-40B4-BE49-F238E27FC236}">
                <a16:creationId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医考帮">
            <a:extLst>
              <a:ext uri="{FF2B5EF4-FFF2-40B4-BE49-F238E27FC236}">
                <a16:creationId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本章结论"/>
          <p:cNvSpPr/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对标关系须核对目标专业与权益，搜索结果数量不能证明供给空白。</a:t>
            </a:r>
          </a:p>
        </p:txBody>
      </p:sp>
    </p:spTree>
    <p:extLst>
      <p:ext uri="{BB962C8B-B14F-4D97-AF65-F5344CB8AC3E}">
        <p14:creationId val="1172209055"/>
      </p:ext>
    </p:extLst>
  </p:cSld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竞品横向对比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竞品商品与价格核验</a:t>
            </a:r>
          </a:p>
        </p:txBody>
      </p:sp>
      <p:sp>
        <p:nvSpPr>
          <p:cNvPr id="3" name="公开价格样本用于理解购买门槛，不代表长期售价或完整权益完全可比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撤下无法直接追溯的价格。核验摘要仅作线索，正式比较需官方页面留证。</a:t>
            </a:r>
          </a:p>
        </p:txBody>
      </p:sp>
      <p:sp>
        <p:nvSpPr>
          <p:cNvPr id="4" name="08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 firstRow="0" bandRow="0">
</a:tblPr>
              <a:tblGrid>
                <a:gridCol w="1333500"/>
                <a:gridCol w="2038350"/>
                <a:gridCol w="2400300"/>
                <a:gridCol w="2457450"/>
                <a:gridCol w="2895600"/>
              </a:tblGrid>
              <a:tr h="64135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必须留存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暂无可追溯现价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具体专业购买页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题库与课程分开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按SKU重新留证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官方商品与期限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不沿用合并题库说法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各专业题库商品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题量、解析、有效期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暂无可追溯现价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官方购买页面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投诉不作标价证据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专业范围与权益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会员不等于全部产品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单专业、组合包与会员均为备选，按实际需求和使用成本再决策。</a:t>
            </a:r>
          </a:p>
        </p:txBody>
      </p:sp>
    </p:spTree>
    <p:extLst>
      <p:ext uri="{BB962C8B-B14F-4D97-AF65-F5344CB8AC3E}">
        <p14:creationId val="1819888592"/>
      </p:ext>
    </p:extLst>
  </p:cSld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能力对标与产品响应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首期范围与功能取舍</a:t>
            </a:r>
          </a:p>
        </p:txBody>
      </p:sp>
      <p:sp>
        <p:nvSpPr>
          <p:cNvPr id="2" name="差异化应集中在专科内容、可信解析与持续更新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首期范围与功能取舍</a:t>
            </a:r>
          </a:p>
        </p:txBody>
      </p:sp>
      <p:sp>
        <p:nvSpPr>
          <p:cNvPr id="3" name="复杂功能不能替代肿瘤专业内容质量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三专业同步上线保持不变，新增功能按内容准备、技术适配与用户价值评审。</a:t>
            </a:r>
          </a:p>
        </p:txBody>
      </p:sp>
      <p:sp>
        <p:nvSpPr>
          <p:cNvPr id="4" name="09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graphicFrame>
        <p:nvGraphicFramePr>
          <p:cNvPr id="26" name="表格 23"/>
          <p:cNvGraphicFramePr>
            <a:graphicFrameLocks noGrp="1"/>
          </p:cNvGraphicFramePr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 firstRow="0" bandRow="0">
</a:tblPr>
              <a:tblGrid>
                <a:gridCol w="2190750"/>
                <a:gridCol w="3352800"/>
                <a:gridCol w="5581650"/>
              </a:tblGrid>
              <a:tr h="6134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范围状态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具体内容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取舍条件与处理建议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6A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已确定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三专业同步接入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首屏直接新增三个选项</a:t>
                      </a:r>
                    </a:p>
                  </a:txBody>
                  <a:tcPr anchor="ctr" marL="95250" marR="95250" marT="40005" marB="400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保留现有入口结构，按所选专业进入学习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首期建议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选专业后练习、看解析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记录进度并支持继续学习</a:t>
                      </a:r>
                    </a:p>
                  </a:txBody>
                  <a:tcPr anchor="ctr" marL="95250" marR="95250" marT="40005" marB="400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各专业内容可用、解析已审核、进度可保存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以能完成基本学习任务为验收重点</a:t>
                      </a:r>
                    </a:p>
                  </a:txBody>
                  <a:tcPr anchor="ctr" marL="95250" marR="95250" marT="40005" marB="400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825B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需盘点评审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补考科目选择、案例训练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AI追问、计划与复测</a:t>
                      </a:r>
                    </a:p>
                  </a:txBody>
                  <a:tcPr anchor="ctr" marL="95250" marR="95250" marT="40005" marB="400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核对内容量、题型能力及额外开发成本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确定必需项后再承诺具体上线范围</a:t>
                      </a:r>
                    </a:p>
                  </a:txBody>
                  <a:tcPr anchor="ctr" marL="95250" marR="95250" marT="40005" marB="400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5867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暂不承诺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官方评分复刻、通过概率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定价、组合包及自动续费</a:t>
                      </a:r>
                    </a:p>
                  </a:txBody>
                  <a:tcPr anchor="ctr" marL="95250" marR="95250" marT="40005" marB="400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评分与预测需独立依据，收费方式另行决策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不直接沿用执业考试的价格与权益</a:t>
                      </a:r>
                    </a:p>
                  </a:txBody>
                  <a:tcPr anchor="ctr" marL="95250" marR="95250" marT="40005" marB="400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内容可信">
            <a:extLst>
              <a:ext uri="{FF2B5EF4-FFF2-40B4-BE49-F238E27FC236}">
                <a16:creationId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取舍原则</a:t>
            </a:r>
          </a:p>
        </p:txBody>
      </p:sp>
      <p:sp>
        <p:nvSpPr>
          <p:cNvPr id="12" name="每道题都要有可核验的考纲与解析依据"/>
          <p:cNvSpPr/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先完成可用的学习流程，再按验证结果评审增强功能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三专业均需达到约定内容与体验标准，缺项时调整内容或排期。</a:t>
            </a:r>
          </a:p>
        </p:txBody>
      </p:sp>
    </p:spTree>
    <p:extLst>
      <p:ext uri="{BB962C8B-B14F-4D97-AF65-F5344CB8AC3E}">
        <p14:creationId val="465197668"/>
      </p:ext>
    </p:extLst>
  </p:cSld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内容质量与更新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内容来源、审核与更新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产品建议：内容上线前确认官方考纲版本、题目来源与授权范围。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需要完成的工作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交付与验收建议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确认题目、解析及素材的使用权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来源与授权范围可追溯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考纲与版本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按适用年度官方大纲建立映射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记录专业、科目、考点与覆盖缺口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专业审核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核对病例条件、答案与解析依据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首批内容逐题审核，争议题暂缓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依据已审核内容提供追问讲解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不自行改答案，缺少依据时明确提示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纠错更新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核实反馈、版本差异并修订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保留记录，同步关联题与解析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大纲覆盖、题目审核与更新责任明确后，才能持续提供可信训练。</a:t>
            </a:r>
          </a:p>
        </p:txBody>
      </p:sp>
    </p:spTree>
    <p:extLst>
      <p:ext uri="{BB962C8B-B14F-4D97-AF65-F5344CB8AC3E}">
        <p14:creationId val="1298257798"/>
      </p:ext>
    </p:extLst>
  </p:cSld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接入现有小程序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现有流程的专业适配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已确定首屏新增三个专业并接入现有小程序，其余适配项为产品建议。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现有节点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本期调整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范围边界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备考专业选择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保留临床执业，新增341、342、343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直接进入下一步，不新增专业选择层级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备考信息与测评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沿用时间、状态问题，补充备考科目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初测用于诊断，不直接给出正式通过概率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学习计划与首页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展示目标专业、年份、四科进度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题量按实际资源配置，不沿用3000题承诺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AI私教与错题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携带当前专业、科目、题目上下文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错题讲解后安排相关考点复测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会员与权益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保留接入能力，收费方式单独决策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原9.9元及权益不自动适用中级专业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保留现有流程，按范围评审结果适配内容、进度及必要的题型能力。</a:t>
            </a:r>
          </a:p>
        </p:txBody>
      </p:sp>
    </p:spTree>
    <p:extLst>
      <p:ext uri="{BB962C8B-B14F-4D97-AF65-F5344CB8AC3E}">
        <p14:creationId val="1298257798"/>
      </p:ext>
    </p:extLst>
  </p:cSld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市场证据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市场数据与证据边界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现有材料不足以确认三专业年度考生人数，本版不提供全国市场规模结论。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当前证据状态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方案采用口径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全国医师总数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官方统计提供行业总体背景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不直接作为肿瘤主治考生分母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专业医师存量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科室与报考代码并非一一对应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需核对人员范围、年度和职称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年度报名人数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尚未取得可追溯的分专业数据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分别索取341、342、343人数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付费率与客单价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缺少同类目标用户交易样本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通过试点验证，不能据课程标价代替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原有规模测算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占比、报考率与精确输入未获支持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撤下旧人数、区间及规模图表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全国规模待验证，首期决策优先使用实际可触达考生与新增投入。</a:t>
            </a:r>
          </a:p>
        </p:txBody>
      </p:sp>
    </p:spTree>
    <p:extLst>
      <p:ext uri="{BB962C8B-B14F-4D97-AF65-F5344CB8AC3E}">
        <p14:creationId val="1298257798"/>
      </p:ext>
    </p:extLst>
  </p:cSld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试点测算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试点收入与增量成本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内部决策模型：先采集真实用户和成本，再填入测算参数，不预设全国市场份额。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建议数据来源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计算或使用方式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可触达目标人数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已有渠道中当年备考用户去重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按专业、年度、首次或补考分组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实际试用人数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试点进入学习的去重用户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与邀请、注册、首练人数分开记录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付费转化率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收费测试中的真实订单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付费用户数 / 同期可购买试用人数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净收入与服务成本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订单、退款及AI调用等记录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净收入扣除对应可变服务成本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投入决策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研发、教研审核与运营预算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贡献金额与新增固定投入比较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未收费阶段只报告使用情况与成本，不用付费意愿替代真实收入。</a:t>
            </a:r>
          </a:p>
        </p:txBody>
      </p:sp>
    </p:spTree>
    <p:extLst>
      <p:ext uri="{BB962C8B-B14F-4D97-AF65-F5344CB8AC3E}">
        <p14:creationId val="1298257798"/>
      </p:ext>
    </p:extLst>
  </p:cSld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考试类型与专业方向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关键假设与验证顺序</a:t>
            </a:r>
          </a:p>
        </p:txBody>
      </p:sp>
      <p:sp>
        <p:nvSpPr>
          <p:cNvPr id="2" name="中级职称更适合首期规模化建设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关键假设与验证顺序</a:t>
            </a:r>
          </a:p>
        </p:txBody>
      </p:sp>
      <p:sp>
        <p:nvSpPr>
          <p:cNvPr id="3" name="全国统一考试的标准化程度更高；高级职称需要适配不同省份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按前置依赖排序，先取得证据再扩大投入，不为未知数据设定虚假评分。</a:t>
            </a:r>
          </a:p>
        </p:txBody>
      </p:sp>
      <p:sp>
        <p:nvSpPr>
          <p:cNvPr id="4" name="04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graphicFrame>
        <p:nvGraphicFramePr>
          <p:cNvPr id="23" name="表格 20"/>
          <p:cNvGraphicFramePr>
            <a:graphicFrameLocks noGrp="1"/>
          </p:cNvGraphicFramePr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 firstRow="0" bandRow="0">
</a:tblPr>
              <a:tblGrid>
                <a:gridCol w="1809750"/>
                <a:gridCol w="4657725"/>
                <a:gridCol w="4657725"/>
              </a:tblGrid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顺序与负责人建议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最小验证动作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改变方案的条件</a:t>
                      </a:r>
                    </a:p>
                  </a:txBody>
                  <a:tcPr anchor="ctr" marL="95250" marR="95250" marT="66675" marB="666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内容核验</a:t>
                      </a:r>
                    </a:p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教研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抽查三专业资源清单、授权与解析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确认官方考纲版本及覆盖缺口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来源不清或关键内容缺失：补齐后再上架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不以AI自动生成替代审核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用户核验</a:t>
                      </a:r>
                    </a:p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产品、运营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从现有渠道核对当年备考用户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访谈近期任务，邀请完成样题体验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仅有兴趣表态、无真实试用：调整触达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不据总用户量宣称目标需求充足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功能适配</a:t>
                      </a:r>
                    </a:p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研发、产品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跑通选专业、答题、解析、退出续学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分别估算基础适配和新增题型成本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现有能力不足或超出批准预算：重评范围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三专业同步原则不变，必要时调整排期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学习价值</a:t>
                      </a:r>
                    </a:p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产品、教研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与用户原有方式比较同类备考任务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观察完成情况、查证负担与后续复访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只增加点击或重复刷题：不能认定有效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若解析错误或额外负担大，优先修订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收费验证</a:t>
                      </a:r>
                    </a:p>
                    <a:p>
                      <a:pPr/>
                      <a:r>
                        <a:rPr lang="zh-CN" sz="1500" b="1">
                          <a:solidFill>
                            <a:srgbClr val="1757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业务、运营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收费方式确定后开展真实交易测试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联看转化、退款、净收入与服务成本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净收入无法覆盖批准的增量投入：</a:t>
                      </a:r>
                    </a:p>
                    <a:p>
                      <a:pPr/>
                      <a:r>
                        <a:rPr lang="zh-CN" sz="1500" b="0">
                          <a:solidFill>
                            <a:srgbClr val="223A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调整权益或成本，再决定是否扩大</a:t>
                      </a:r>
                    </a:p>
                  </a:txBody>
                  <a:tcPr anchor="ctr" marL="95250" marR="95250" marT="36512" marB="365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DC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F1F6F8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本章结论"/>
          <p:cNvSpPr/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每轮记录证据、负责人和下一步。量化阈值待基线与预算明确后确定。</a:t>
            </a:r>
          </a:p>
        </p:txBody>
      </p:sp>
    </p:spTree>
    <p:extLst>
      <p:ext uri="{BB962C8B-B14F-4D97-AF65-F5344CB8AC3E}">
        <p14:creationId val="1298257798"/>
      </p:ext>
    </p:extLst>
  </p:cSld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" name="结论与行动"/>
          <p:cNvSpPr/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/>
          <p:cNvSpPr/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下一步行动与决策条件</a:t>
            </a:r>
          </a:p>
        </p:txBody>
      </p:sp>
      <p:sp>
        <p:nvSpPr>
          <p:cNvPr id="3" name="产品定位：面向肿瘤医生的职称备考题库，复用职考 Go 现有 AI 能力。"/>
          <p:cNvSpPr/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先完成内容与目标用户盘点，再评审最小学习流程、适配成本和试点条件。</a:t>
            </a:r>
          </a:p>
        </p:txBody>
      </p:sp>
      <p:sp>
        <p:nvSpPr>
          <p:cNvPr id="4" name="12"/>
          <p:cNvSpPr/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4350" b="1" dirty="0">
                <a:solidFill>
                  <a:srgbClr val="E8EDF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矩形 4">
            <a:extLst>
              <a:ext uri="{FF2B5EF4-FFF2-40B4-BE49-F238E27FC236}">
                <a16:creationId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01"/>
          <p:cNvSpPr/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/>
          <p:cNvSpPr/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按官方范围核对三专业内容，确认来源、解析和审核责任。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02"/>
          <p:cNvSpPr/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/>
          <p:cNvSpPr/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首屏增加三个专业，先跑通练习、解析与继续学习。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03"/>
          <p:cNvSpPr/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售卖</a:t>
            </a:r>
          </a:p>
        </p:txBody>
      </p:sp>
      <p:sp>
        <p:nvSpPr>
          <p:cNvPr id="20" name="优先单题库或三专业组合包，避免强制采用全站会员制。"/>
          <p:cNvSpPr/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收费方式、价格与权益待定，先完成需求与成本验证。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04"/>
          <p:cNvSpPr/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250" b="1" dirty="0">
                <a:solidFill>
                  <a:srgbClr val="176D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/>
          <p:cNvSpPr/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500" dirty="0">
                <a:solidFill>
                  <a:srgbClr val="52657B"/>
                </a:solidFill>
                <a:latin typeface="Microsoft YaHei"/>
                <a:ea typeface="Microsoft YaHei"/>
                <a:cs typeface="Microsoft YaHei"/>
              </a:rPr>
              <a:t>验证备考任务是否更易完成，结合复访与增量成本决定投入。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核心结论">
            <a:extLst>
              <a:ext uri="{FF2B5EF4-FFF2-40B4-BE49-F238E27FC236}">
                <a16:creationId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三专业内容及基础学习流程验收后试点，增强功能和收费方案另行评审。</a:t>
            </a:r>
          </a:p>
        </p:txBody>
      </p:sp>
    </p:spTree>
    <p:extLst>
      <p:ext uri="{BB962C8B-B14F-4D97-AF65-F5344CB8AC3E}">
        <p14:creationId val="1824316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2026-09-17T07:51:40.0320000Z</dcterms:created>
  <dcterms:modified xsi:type="dcterms:W3CDTF">2026-09-17T07:51:40.0320000Z</dcterms:modified>
</coreProperties>
</file>