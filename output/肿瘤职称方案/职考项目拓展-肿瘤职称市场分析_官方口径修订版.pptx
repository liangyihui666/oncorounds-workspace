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a4358fde0f4912" /><Relationship Type="http://schemas.openxmlformats.org/officeDocument/2006/relationships/extended-properties" Target="/docProps/app.xml" Id="Rf120ba82c8e34c83" /><Relationship Type="http://schemas.openxmlformats.org/officeDocument/2006/relationships/officeDocument" Target="/ppt/presentation.xml" Id="R16f77d2b5dbb40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08fad7cc1f4449"/>
  </p:sldMasterIdLst>
  <p:notesMasterIdLst>
    <p:notesMasterId xmlns:r="http://schemas.openxmlformats.org/officeDocument/2006/relationships" r:id="Re48a2fca48914859"/>
  </p:notesMasterIdLst>
  <p:sldIdLst>
    <p:sldId xmlns:r="http://schemas.openxmlformats.org/officeDocument/2006/relationships" id="256" r:id="R4f46cc1f3fdd45f1"/>
    <p:sldId xmlns:r="http://schemas.openxmlformats.org/officeDocument/2006/relationships" id="257" r:id="R0368859096274352"/>
    <p:sldId xmlns:r="http://schemas.openxmlformats.org/officeDocument/2006/relationships" id="258" r:id="R4562c349c4494462"/>
    <p:sldId xmlns:r="http://schemas.openxmlformats.org/officeDocument/2006/relationships" id="259" r:id="Rcf9673761bcb4e8e"/>
    <p:sldId xmlns:r="http://schemas.openxmlformats.org/officeDocument/2006/relationships" id="260" r:id="Rd2aeab3930a24251"/>
    <p:sldId xmlns:r="http://schemas.openxmlformats.org/officeDocument/2006/relationships" id="261" r:id="R38f0698ec84d4ac0"/>
    <p:sldId xmlns:r="http://schemas.openxmlformats.org/officeDocument/2006/relationships" id="262" r:id="R1faaacd4d132497a"/>
    <p:sldId xmlns:r="http://schemas.openxmlformats.org/officeDocument/2006/relationships" id="263" r:id="R9a35685c29e94788"/>
    <p:sldId xmlns:r="http://schemas.openxmlformats.org/officeDocument/2006/relationships" id="264" r:id="R319d053befa04274"/>
    <p:sldId xmlns:r="http://schemas.openxmlformats.org/officeDocument/2006/relationships" id="265" r:id="Ra9e44b1097ee49f0"/>
    <p:sldId xmlns:r="http://schemas.openxmlformats.org/officeDocument/2006/relationships" id="266" r:id="R7cdae6c840df40e3"/>
    <p:sldId xmlns:r="http://schemas.openxmlformats.org/officeDocument/2006/relationships" id="267" r:id="R790c8cee0f4848b4"/>
    <p:sldId xmlns:r="http://schemas.openxmlformats.org/officeDocument/2006/relationships" id="268" r:id="Rb3eb6c3926144f04"/>
    <p:sldId xmlns:r="http://schemas.openxmlformats.org/officeDocument/2006/relationships" id="269" r:id="R1185483a5b654cf0"/>
    <p:sldId xmlns:r="http://schemas.openxmlformats.org/officeDocument/2006/relationships" id="270" r:id="R828da71139384550"/>
    <p:sldId xmlns:r="http://schemas.openxmlformats.org/officeDocument/2006/relationships" id="271" r:id="R0e0d201e8aea453e"/>
    <p:sldId xmlns:r="http://schemas.openxmlformats.org/officeDocument/2006/relationships" id="272" r:id="Re4df25e6c01c4bac"/>
    <p:sldId xmlns:r="http://schemas.openxmlformats.org/officeDocument/2006/relationships" id="273" r:id="R2fa9ef8e3f624e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b40c763282481f" /><Relationship Type="http://schemas.openxmlformats.org/officeDocument/2006/relationships/slideMaster" Target="/ppt/slideMasters/slideMaster1.xml" Id="Rb908fad7cc1f4449" /><Relationship Type="http://schemas.openxmlformats.org/officeDocument/2006/relationships/notesMaster" Target="/ppt/notesMasters/notesMaster1.xml" Id="Re48a2fca48914859" /><Relationship Type="http://schemas.openxmlformats.org/officeDocument/2006/relationships/presProps" Target="/ppt/presProps.xml" Id="R9ff7b53dcaa44f58" /><Relationship Type="http://schemas.openxmlformats.org/officeDocument/2006/relationships/viewProps" Target="/ppt/viewProps.xml" Id="R3518fcdaffe6455d" /><Relationship Type="http://schemas.openxmlformats.org/officeDocument/2006/relationships/tableStyles" Target="/ppt/tableStyles.xml" Id="R7315180721024070" /><Relationship Type="http://schemas.openxmlformats.org/officeDocument/2006/relationships/slide" Target="/ppt/slides/slide1.xml" Id="R4f46cc1f3fdd45f1" /><Relationship Type="http://schemas.openxmlformats.org/officeDocument/2006/relationships/slide" Target="/ppt/slides/slide2.xml" Id="R0368859096274352" /><Relationship Type="http://schemas.openxmlformats.org/officeDocument/2006/relationships/slide" Target="/ppt/slides/slide3.xml" Id="R4562c349c4494462" /><Relationship Type="http://schemas.openxmlformats.org/officeDocument/2006/relationships/slide" Target="/ppt/slides/slide4.xml" Id="Rcf9673761bcb4e8e" /><Relationship Type="http://schemas.openxmlformats.org/officeDocument/2006/relationships/slide" Target="/ppt/slides/slide5.xml" Id="Rd2aeab3930a24251" /><Relationship Type="http://schemas.openxmlformats.org/officeDocument/2006/relationships/slide" Target="/ppt/slides/slide6.xml" Id="R38f0698ec84d4ac0" /><Relationship Type="http://schemas.openxmlformats.org/officeDocument/2006/relationships/slide" Target="/ppt/slides/slide7.xml" Id="R1faaacd4d132497a" /><Relationship Type="http://schemas.openxmlformats.org/officeDocument/2006/relationships/slide" Target="/ppt/slides/slide8.xml" Id="R9a35685c29e94788" /><Relationship Type="http://schemas.openxmlformats.org/officeDocument/2006/relationships/slide" Target="/ppt/slides/slide9.xml" Id="R319d053befa04274" /><Relationship Type="http://schemas.openxmlformats.org/officeDocument/2006/relationships/slide" Target="/ppt/slides/slide10.xml" Id="Ra9e44b1097ee49f0" /><Relationship Type="http://schemas.openxmlformats.org/officeDocument/2006/relationships/slide" Target="/ppt/slides/slide11.xml" Id="R7cdae6c840df40e3" /><Relationship Type="http://schemas.openxmlformats.org/officeDocument/2006/relationships/slide" Target="/ppt/slides/slide12.xml" Id="R790c8cee0f4848b4" /><Relationship Type="http://schemas.openxmlformats.org/officeDocument/2006/relationships/slide" Target="/ppt/slides/slide13.xml" Id="Rb3eb6c3926144f04" /><Relationship Type="http://schemas.openxmlformats.org/officeDocument/2006/relationships/slide" Target="/ppt/slides/slide14.xml" Id="R1185483a5b654cf0" /><Relationship Type="http://schemas.openxmlformats.org/officeDocument/2006/relationships/slide" Target="/ppt/slides/slide15.xml" Id="R828da71139384550" /><Relationship Type="http://schemas.openxmlformats.org/officeDocument/2006/relationships/slide" Target="/ppt/slides/slide16.xml" Id="R0e0d201e8aea453e" /><Relationship Type="http://schemas.openxmlformats.org/officeDocument/2006/relationships/slide" Target="/ppt/slides/slide17.xml" Id="Re4df25e6c01c4bac" /><Relationship Type="http://schemas.openxmlformats.org/officeDocument/2006/relationships/slide" Target="/ppt/slides/slide18.xml" Id="R2fa9ef8e3f624e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dfe0aa006747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729571139946a7" /><Relationship Type="http://schemas.openxmlformats.org/officeDocument/2006/relationships/notesMaster" Target="/ppt/notesMasters/notesMaster1.xml" Id="R5c3dd88813e142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1c616d74be468a" /><Relationship Type="http://schemas.openxmlformats.org/officeDocument/2006/relationships/notesMaster" Target="/ppt/notesMasters/notesMaster1.xml" Id="Rf949d6c57a964a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756ca3859147df" /><Relationship Type="http://schemas.openxmlformats.org/officeDocument/2006/relationships/notesMaster" Target="/ppt/notesMasters/notesMaster1.xml" Id="Rfc214abf3e7344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91fcd5259043c3" /><Relationship Type="http://schemas.openxmlformats.org/officeDocument/2006/relationships/notesMaster" Target="/ppt/notesMasters/notesMaster1.xml" Id="R1339cd0f819e43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bb1cb319724300" /><Relationship Type="http://schemas.openxmlformats.org/officeDocument/2006/relationships/notesMaster" Target="/ppt/notesMasters/notesMaster1.xml" Id="R6edccc03dcb64a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9c6e2cc7db4a4d" /><Relationship Type="http://schemas.openxmlformats.org/officeDocument/2006/relationships/notesMaster" Target="/ppt/notesMasters/notesMaster1.xml" Id="R21fb59fd63fb45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bd0995f54e44ab" /><Relationship Type="http://schemas.openxmlformats.org/officeDocument/2006/relationships/notesMaster" Target="/ppt/notesMasters/notesMaster1.xml" Id="R95d2a0c0953541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f0612b563c4504" /><Relationship Type="http://schemas.openxmlformats.org/officeDocument/2006/relationships/notesMaster" Target="/ppt/notesMasters/notesMaster1.xml" Id="Rf3134703716643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6c2626c27b4f92" /><Relationship Type="http://schemas.openxmlformats.org/officeDocument/2006/relationships/notesMaster" Target="/ppt/notesMasters/notesMaster1.xml" Id="R7871863a89c941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8bf8e70f4f470f" /><Relationship Type="http://schemas.openxmlformats.org/officeDocument/2006/relationships/notesMaster" Target="/ppt/notesMasters/notesMaster1.xml" Id="R2c9ad6ec1bac4a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b0d8d530464099" /><Relationship Type="http://schemas.openxmlformats.org/officeDocument/2006/relationships/notesMaster" Target="/ppt/notesMasters/notesMaster1.xml" Id="R40c7e53edb1546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c8df374ece4f55" /><Relationship Type="http://schemas.openxmlformats.org/officeDocument/2006/relationships/notesMaster" Target="/ppt/notesMasters/notesMaster1.xml" Id="R6cbd06e815dd44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bfc389782c4931" /><Relationship Type="http://schemas.openxmlformats.org/officeDocument/2006/relationships/notesMaster" Target="/ppt/notesMasters/notesMaster1.xml" Id="Rfba8b1a07caa40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1d125ca37b4491" /><Relationship Type="http://schemas.openxmlformats.org/officeDocument/2006/relationships/notesMaster" Target="/ppt/notesMasters/notesMaster1.xml" Id="R4361ed6ecfb842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814a3787a1497b" /><Relationship Type="http://schemas.openxmlformats.org/officeDocument/2006/relationships/notesMaster" Target="/ppt/notesMasters/notesMaster1.xml" Id="R208968c073934b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b2190d19bd4b85" /><Relationship Type="http://schemas.openxmlformats.org/officeDocument/2006/relationships/notesMaster" Target="/ppt/notesMasters/notesMaster1.xml" Id="R1de4b34a333145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40615bed4b44f8" /><Relationship Type="http://schemas.openxmlformats.org/officeDocument/2006/relationships/notesMaster" Target="/ppt/notesMasters/notesMaster1.xml" Id="Rcacbff42f25c44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98a1af185a4360" /><Relationship Type="http://schemas.openxmlformats.org/officeDocument/2006/relationships/notesMaster" Target="/ppt/notesMasters/notesMaster1.xml" Id="R31910b806f8a4c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官方依据：https://www.21wecan.com/wsrcw/c100193/202511/1002760.shtml</a:t>
            </a:r>
          </a:p>
          <a:p xmlns:a="http://schemas.openxmlformats.org/drawingml/2006/main">
            <a:r>
              <a:t>前两科共用试卷：https://www.21wecan.com/wsrcw/c100193/202208/1d3cddb94d034000a0e8a4178b8f92a6.shtml</a:t>
            </a:r>
          </a:p>
          <a:p xmlns:a="http://schemas.openxmlformats.org/drawingml/2006/main">
            <a:r>
              <a:t>同步上线及收费待定为用户已确定的业务范围。全国三专业报考人数和市场收入尚缺可靠数据，本页不作规模判断。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专业名称及前两科共用试卷依据：https://www.21wecan.com/wsrcw/c100193/202208/1d3cddb94d034000a0e8a4178b8f92a6.shtml</a:t>
            </a:r>
          </a:p>
          <a:p xmlns:a="http://schemas.openxmlformats.org/drawingml/2006/main">
            <a:r>
              <a:t>目标用户定义以实际报考专业为准，科室归属不等于报考资格。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2026考生须知：https://www.21wecan.com/wsrcw/c100193/202511/1002760.shtml</a:t>
            </a:r>
          </a:p>
          <a:p xmlns:a="http://schemas.openxmlformats.org/drawingml/2006/main">
            <a:r>
              <a:t>60分及不得跨专业合并成绩的官方通知：https://www.huaihua.gov.cn/wsjkw/c100587/202512/73a23312619d4460a3685c7cd0e0645c.shtml</a:t>
            </a:r>
          </a:p>
          <a:p xmlns:a="http://schemas.openxmlformats.org/drawingml/2006/main">
            <a:r>
              <a:t>共用试卷：https://www.21wecan.com/wsrcw/c100193/202208/1d3cddb94d034000a0e8a4178b8f92a6.shtml</a:t>
            </a:r>
          </a:p>
          <a:p xmlns:a="http://schemas.openxmlformats.org/drawingml/2006/main">
            <a:r>
              <a:t>考试合格不等于单位聘任。2026具体日程不自动沿用到2027。未取得适用年度官方详细题型文件，不采用机构题量或计分说法。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官方已确认：https://www.21wecan.com/wsrcw/c100193/202208/1d3cddb94d034000a0e8a4178b8f92a6.shtml</a:t>
            </a:r>
          </a:p>
          <a:p xmlns:a="http://schemas.openxmlformats.org/drawingml/2006/main">
            <a:r>
              <a:t>用户提供89页机构版大纲未标适用年度，不作为最终考试范围依据。肺癌侧重、疾病清单及掌握等级须与适用年度官方大纲复核，本版撤下机构版页码及其具体内容结论。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两年滚动制度：https://www.21wecan.com/wsrcw/c100193/202511/1002760.shtml</a:t>
            </a:r>
          </a:p>
          <a:p xmlns:a="http://schemas.openxmlformats.org/drawingml/2006/main">
            <a:r>
              <a:t>分层、科目选择、复测等为产品建议，不自动构成已承诺的首期功能。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此页全部为设计建议。机构聊天截图与跨专业出版方文章仅为线索，不作为341—343官方评分或回退依据。不采用固定75题、选项扣分公式或第一问错导致后续全错等无可靠依据说法。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供2026-09-17外部核验摘要，未附本地可追溯的品牌官方商品截图或完整链接。摘要中的168元及圣才58/68/58元只作为进一步取证线索，本版不列作已验证价格。所有价格需同时记录渠道、采集日期、专业、权益和有效期。本期收费方式待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官方试题著作权声明：https://www.21wecan.com/wsrcw/c100193/202604/1002959.shtml</a:t>
            </a:r>
          </a:p>
          <a:p xmlns:a="http://schemas.openxmlformats.org/drawingml/2006/main">
            <a:r>
              <a:t>原创、授权或其他来源题目均需确认使用范围。回忆题名称不能替代来源审查。产品不默认承诺近五年真题数量或官方授权关系。上表流程为产品治理建议。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版精确人数、村卫生室扣减、1.5%肿瘤科占比、5%—10%年度报考率缺少可追溯依据，全部撤下。官方全国医师总数不能直接换算为目标考试市场。不采用外部报告1万—2.5万或150万—1500万元的新测算，也不使用无统计依据的误差倍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本页是内部测算方法，不是考试事实或现有经营数据。业务尚未确定收费方式。各变量需固定同一统计周期、专业范围和去重口径，避免将用户数、订单数与科次数混用。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dd0a9bca841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ba223f45e64ce4" /><Relationship Type="http://schemas.openxmlformats.org/officeDocument/2006/relationships/slideLayout" Target="/ppt/slideLayouts/slideLayout1.xml" Id="Ra3f28b5775a74d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f28b5775a74d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fef066c8b4bb8" /><Relationship Type="http://schemas.openxmlformats.org/officeDocument/2006/relationships/image" Target="/ppt/media/image.png" Id="R7fbc5deb89ec487b" /><Relationship Type="http://schemas.openxmlformats.org/officeDocument/2006/relationships/notesSlide" Target="/ppt/notesSlides/notesSlide1.xml" Id="R3682da8e9e8948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0a2b53bdd4cdd" /><Relationship Type="http://schemas.openxmlformats.org/officeDocument/2006/relationships/notesSlide" Target="/ppt/notesSlides/notesSlide2.xml" Id="R9bf57633565645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6f064c565407e" /><Relationship Type="http://schemas.openxmlformats.org/officeDocument/2006/relationships/notesSlide" Target="/ppt/notesSlides/notesSlide3.xml" Id="Ra2c4501d93044f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218ab79e34fd3" /><Relationship Type="http://schemas.openxmlformats.org/officeDocument/2006/relationships/notesSlide" Target="/ppt/notesSlides/notesSlide4.xml" Id="Re75deaf9b1db42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c3167dc274f5b" /><Relationship Type="http://schemas.openxmlformats.org/officeDocument/2006/relationships/notesSlide" Target="/ppt/notesSlides/notesSlide5.xml" Id="R3867eb44007147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dd05d97014912" /><Relationship Type="http://schemas.openxmlformats.org/officeDocument/2006/relationships/notesSlide" Target="/ppt/notesSlides/notesSlide6.xml" Id="R8f07f854740841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fe3b9aa1b4a9f" /><Relationship Type="http://schemas.openxmlformats.org/officeDocument/2006/relationships/notesSlide" Target="/ppt/notesSlides/notesSlide7.xml" Id="R6f246be750d44f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e1fb833d5490f" /><Relationship Type="http://schemas.openxmlformats.org/officeDocument/2006/relationships/notesSlide" Target="/ppt/notesSlides/notesSlide8.xml" Id="R3cf717b4cd6849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5a18190b54664" /><Relationship Type="http://schemas.openxmlformats.org/officeDocument/2006/relationships/notesSlide" Target="/ppt/notesSlides/notesSlide9.xml" Id="R6173f32ef8a34f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434883dff4f07" /><Relationship Type="http://schemas.openxmlformats.org/officeDocument/2006/relationships/notesSlide" Target="/ppt/notesSlides/notesSlide10.xml" Id="Rc254b825e22241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9ffda7de24b47" /><Relationship Type="http://schemas.openxmlformats.org/officeDocument/2006/relationships/notesSlide" Target="/ppt/notesSlides/notesSlide11.xml" Id="R627da76411264c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68f430e754cdb" /><Relationship Type="http://schemas.openxmlformats.org/officeDocument/2006/relationships/notesSlide" Target="/ppt/notesSlides/notesSlide12.xml" Id="Rd4d40242f7b746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0f5f6a3ea4c2a" /><Relationship Type="http://schemas.openxmlformats.org/officeDocument/2006/relationships/notesSlide" Target="/ppt/notesSlides/notesSlide13.xml" Id="R0cd426f9dac045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514a3332141d7" /><Relationship Type="http://schemas.openxmlformats.org/officeDocument/2006/relationships/notesSlide" Target="/ppt/notesSlides/notesSlide14.xml" Id="R58c31ac63f3a48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dc1fa4c2f430e" /><Relationship Type="http://schemas.openxmlformats.org/officeDocument/2006/relationships/notesSlide" Target="/ppt/notesSlides/notesSlide15.xml" Id="R23800d0d559248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fb7d8c9584f7d" /><Relationship Type="http://schemas.openxmlformats.org/officeDocument/2006/relationships/notesSlide" Target="/ppt/notesSlides/notesSlide16.xml" Id="R4665547e271e4c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f7c2306784fb7" /><Relationship Type="http://schemas.openxmlformats.org/officeDocument/2006/relationships/notesSlide" Target="/ppt/notesSlides/notesSlide17.xml" Id="R70ed982bd15e4f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3c15a4ad84c2a" /><Relationship Type="http://schemas.openxmlformats.org/officeDocument/2006/relationships/notesSlide" Target="/ppt/notesSlides/notesSlide18.xml" Id="Rd09919cc7bda44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3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c5deb89ec487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000"/>
            <a:ext cx="5219700" cy="6096000"/>
          </a:xfrm>
          <a:prstGeom xmlns:a="http://schemas.openxmlformats.org/drawingml/2006/main" prst="roundRect">
            <a:avLst>
              <a:gd name="adj" fmla="val 5109"/>
            </a:avLst>
          </a:prstGeom>
          <a:solidFill xmlns:a="http://schemas.openxmlformats.org/drawingml/2006/main">
            <a:srgbClr val="071B36"/>
          </a:solidFill>
          <a:ln xmlns:a="http://schemas.openxmlformats.org/drawingml/2006/main" w="9525">
            <a:solidFill>
              <a:srgbClr val="2447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职考项目拓展">
            <a:extLst xmlns:a="http://schemas.openxmlformats.org/drawingml/2006/main"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 xmlns:a="http://schemas.openxmlformats.org/drawingml/2006/main"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572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 xmlns:a="http://schemas.openxmlformats.org/drawingml/2006/main"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官方考试依据、市场待验证项与首期产品范围</a:t>
            </a:r>
          </a:p>
        </p:txBody>
      </p:sp>
      <p:sp>
        <p:nvSpPr>
          <p:cNvPr id="8" name="2026.09">
            <a:extLst xmlns:a="http://schemas.openxmlformats.org/drawingml/2006/main"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1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 · 官方口径修订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 xmlns:a="http://schemas.openxmlformats.org/drawingml/2006/main"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三专业同步接入，按官方考试要求建设</a:t>
            </a:r>
          </a:p>
        </p:txBody>
      </p:sp>
      <p:sp>
        <p:nvSpPr>
          <p:cNvPr id="3" name="市场规模不大，但与良医汇现有肿瘤医生用户高度匹配。">
            <a:extLst xmlns:a="http://schemas.openxmlformats.org/drawingml/2006/main"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已确认产品范围，市场需求、接入成本与商业价值通过试点验证。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 xmlns:a="http://schemas.openxmlformats.org/drawingml/2006/main"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4003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6.6–7.1 万">
            <a:extLst xmlns:a="http://schemas.openxmlformats.org/drawingml/2006/main"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四科备考</a:t>
            </a:r>
          </a:p>
        </p:txBody>
      </p:sp>
      <p:sp>
        <p:nvSpPr>
          <p:cNvPr id="11" name="全国狭义肿瘤科医师">
            <a:extLst xmlns:a="http://schemas.openxmlformats.org/drawingml/2006/main"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rPr>
              <a:t>同专业成绩两年滚动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24003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0.33–0.71 万">
            <a:extLst xmlns:a="http://schemas.openxmlformats.org/drawingml/2006/main"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431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两科共用</a:t>
            </a:r>
          </a:p>
        </p:txBody>
      </p:sp>
      <p:sp>
        <p:nvSpPr>
          <p:cNvPr id="14" name="潜在年度考生">
            <a:extLst xmlns:a="http://schemas.openxmlformats.org/drawingml/2006/main"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基础知识、相关专业知识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24003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3 个专业">
            <a:extLst xmlns:a="http://schemas.openxmlformats.org/drawingml/2006/main"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431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 xmlns:a="http://schemas.openxmlformats.org/drawingml/2006/main"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0507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90700"/>
            <a:ext cx="329565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低成本试点">
            <a:extLst xmlns:a="http://schemas.openxmlformats.org/drawingml/2006/main"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>
            <a:extLst xmlns:a="http://schemas.openxmlformats.org/drawingml/2006/main"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0507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价格与权益单独决策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 xmlns:a="http://schemas.openxmlformats.org/drawingml/2006/main"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4327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产品范围</a:t>
            </a:r>
          </a:p>
        </p:txBody>
      </p:sp>
      <p:sp>
        <p:nvSpPr>
          <p:cNvPr id="24" name="接入现有职考小程序，复用答题、诊断、错题和 AI 辅助能力。">
            <a:extLst xmlns:a="http://schemas.openxmlformats.org/drawingml/2006/main"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432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接入现有小程序，评估答题、错题与 AI 功能的适配工作。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02">
            <a:extLst xmlns:a="http://schemas.openxmlformats.org/drawingml/2006/main"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 xmlns:a="http://schemas.openxmlformats.org/drawingml/2006/main"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19575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 xmlns:a="http://schemas.openxmlformats.org/drawingml/2006/main"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按考纲组织内容，以选项解析和案例训练验证学习价值。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245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 xmlns:a="http://schemas.openxmlformats.org/drawingml/2006/main"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95950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三专业同步接入，先验证学习价值，再确定收费与后续投入。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项目背景">
            <a:extLst xmlns:a="http://schemas.openxmlformats.org/drawingml/2006/main">
              <a:ext uri="{FF2B5EF4-FFF2-40B4-BE49-F238E27FC236}">
                <a16:creationId xmlns:a16="http://schemas.microsoft.com/office/drawing/2014/main" id="{865D4DF6-AE29-4F1D-A696-F76F03AB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 xmlns:a="http://schemas.openxmlformats.org/drawingml/2006/main"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项目基础与考试类型覆盖</a:t>
            </a:r>
          </a:p>
        </p:txBody>
      </p:sp>
      <p:sp>
        <p:nvSpPr>
          <p:cNvPr id="3" name="良医汇现有肿瘤医生用户与职考产品基础，降低了中级题库的接入成本。">
            <a:extLst xmlns:a="http://schemas.openxmlformats.org/drawingml/2006/main">
              <a:ext uri="{FF2B5EF4-FFF2-40B4-BE49-F238E27FC236}">
                <a16:creationId xmlns:a16="http://schemas.microsoft.com/office/drawing/2014/main" id="{5EB55CBF-8128-4D48-9C87-E033E4A2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现有产品与渠道提供接入基础，目标用户数量及新增成本需内部盘点。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C3FAC473-C1A7-452E-A8B9-8F1E69C6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 xmlns:a="http://schemas.openxmlformats.org/drawingml/2006/main"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B44DDB3-ED3C-4481-815A-A5B84962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项目价值">
            <a:extLst xmlns:a="http://schemas.openxmlformats.org/drawingml/2006/main">
              <a:ext uri="{FF2B5EF4-FFF2-40B4-BE49-F238E27FC236}">
                <a16:creationId xmlns:a16="http://schemas.microsoft.com/office/drawing/2014/main" id="{CF30EC5B-43F4-41EB-A4C5-F94C282F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383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1" name="复用现有用户">
            <a:extLst xmlns:a="http://schemas.openxmlformats.org/drawingml/2006/main">
              <a:ext uri="{FF2B5EF4-FFF2-40B4-BE49-F238E27FC236}">
                <a16:creationId xmlns:a16="http://schemas.microsoft.com/office/drawing/2014/main" id="{EC93B665-9935-4EC7-8DF3-620A819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复用现有用户</a:t>
            </a:r>
          </a:p>
        </p:txBody>
      </p:sp>
      <p:sp>
        <p:nvSpPr>
          <p:cNvPr id="12" name="降低目标用户触达与获取成本">
            <a:extLst xmlns:a="http://schemas.openxmlformats.org/drawingml/2006/main">
              <a:ext uri="{FF2B5EF4-FFF2-40B4-BE49-F238E27FC236}">
                <a16:creationId xmlns:a16="http://schemas.microsoft.com/office/drawing/2014/main" id="{DB024E3A-1178-4556-856D-4EEC1996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盘点可触达的当年目标考生</a:t>
            </a:r>
          </a:p>
        </p:txBody>
      </p:sp>
      <p:sp>
        <p:nvSpPr>
          <p:cNvPr id="13" name="满足晋升需求">
            <a:extLst xmlns:a="http://schemas.openxmlformats.org/drawingml/2006/main">
              <a:ext uri="{FF2B5EF4-FFF2-40B4-BE49-F238E27FC236}">
                <a16:creationId xmlns:a16="http://schemas.microsoft.com/office/drawing/2014/main" id="{EE58EDBC-3DE2-4741-B4E2-4EB4CFA9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764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满足晋升需求</a:t>
            </a:r>
          </a:p>
        </p:txBody>
      </p:sp>
      <p:sp>
        <p:nvSpPr>
          <p:cNvPr id="14" name="把学习服务延伸到职称晋升阶段">
            <a:extLst xmlns:a="http://schemas.openxmlformats.org/drawingml/2006/main">
              <a:ext uri="{FF2B5EF4-FFF2-40B4-BE49-F238E27FC236}">
                <a16:creationId xmlns:a16="http://schemas.microsoft.com/office/drawing/2014/main" id="{83AE2FF4-F322-4531-8F3F-A82382D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67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把学习服务延伸到职称晋升阶段</a:t>
            </a:r>
          </a:p>
        </p:txBody>
      </p:sp>
      <p:sp>
        <p:nvSpPr>
          <p:cNvPr id="15" name="拓展 AI 场景">
            <a:extLst xmlns:a="http://schemas.openxmlformats.org/drawingml/2006/main"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764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拓展 AI 场景</a:t>
            </a:r>
          </a:p>
        </p:txBody>
      </p:sp>
      <p:sp>
        <p:nvSpPr>
          <p:cNvPr id="16" name="将 AI 私教与追问迁移到职称考试">
            <a:extLst xmlns:a="http://schemas.openxmlformats.org/drawingml/2006/main">
              <a:ext uri="{FF2B5EF4-FFF2-40B4-BE49-F238E27FC236}">
                <a16:creationId xmlns:a16="http://schemas.microsoft.com/office/drawing/2014/main" id="{5816822B-7674-416F-8C37-EA19AC26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将 AI 私教与追问迁移到职称考试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47B798AE-3FB2-45D6-8CD1-867E439B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112520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中级">
            <a:extLst xmlns:a="http://schemas.openxmlformats.org/drawingml/2006/main"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 xmlns:a="http://schemas.openxmlformats.org/drawingml/2006/main"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004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</a:p>
        </p:txBody>
      </p:sp>
      <p:sp>
        <p:nvSpPr>
          <p:cNvPr id="22" name="341 肿瘤内科学、342 肿瘤外科学、343 肿瘤放射治疗学、388 ">
            <a:extLst xmlns:a="http://schemas.openxmlformats.org/drawingml/2006/main"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90950"/>
            <a:ext cx="702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肿瘤放射治疗技术</a:t>
            </a:r>
          </a:p>
        </p:txBody>
      </p:sp>
      <p:sp>
        <p:nvSpPr>
          <p:cNvPr id="23" name="通常每年 4 月，标准化程度高；首期聚焦 341–343">
            <a:extLst xmlns:a="http://schemas.openxmlformats.org/drawingml/2006/main">
              <a:ext uri="{FF2B5EF4-FFF2-40B4-BE49-F238E27FC236}">
                <a16:creationId xmlns:a16="http://schemas.microsoft.com/office/drawing/2014/main" id="{DB4A178E-8BAE-44EA-9E46-92BB498B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100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年度安排以官方通知为准，本期聚焦 341–343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B1A617D5-D6F6-4E14-B108-6434060F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11125200" cy="742950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高级">
            <a:extLst xmlns:a="http://schemas.openxmlformats.org/drawingml/2006/main">
              <a:ext uri="{FF2B5EF4-FFF2-40B4-BE49-F238E27FC236}">
                <a16:creationId xmlns:a16="http://schemas.microsoft.com/office/drawing/2014/main" id="{29DDD654-6E0C-41DC-A140-3CB351E6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 xmlns:a="http://schemas.openxmlformats.org/drawingml/2006/main"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244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>
            <a:extLst xmlns:a="http://schemas.openxmlformats.org/drawingml/2006/main">
              <a:ext uri="{FF2B5EF4-FFF2-40B4-BE49-F238E27FC236}">
                <a16:creationId xmlns:a16="http://schemas.microsoft.com/office/drawing/2014/main" id="{5F5CC258-51E9-4E20-AFCD-B56B60E5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24425"/>
            <a:ext cx="702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专业代码、考试时间和要求因省份而异，首期暂不纳入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E33C24F8-D8BE-416B-AF7C-838921E8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CB8F9250-F957-4FD0-906D-DABD7DAF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1" name="现有用户与职考产品基础降低了触达和接入成本，首期聚焦 341、342、3">
            <a:extLst xmlns:a="http://schemas.openxmlformats.org/drawingml/2006/main"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首期聚焦 341、342、343，388 与高级职称不纳入本期范围。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本期范围与后续拓展边界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业务已确定首期覆盖三个中级专业，高级职称后续另行评估。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中级职称（本期）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高级职称（后续）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暂不纳入本期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考试依据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全国考试文件及考区要求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按目标地区官方文件核验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用户识别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确认报考专业、年度和待考科目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待确定地区后开展调研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产品设计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接入现有小程序，适配四科内容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另行评估内容与交互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范围决定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三个专业同步上线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暂无上线承诺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中级全国统考更适合首期建设，高级职称因省级差异暂不纳入。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中级专业方向">
            <a:extLst xmlns:a="http://schemas.openxmlformats.org/drawingml/2006/main"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 xmlns:a="http://schemas.openxmlformats.org/drawingml/2006/main"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本期同步上线的三个专业</a:t>
            </a:r>
          </a:p>
        </p:txBody>
      </p:sp>
      <p:sp>
        <p:nvSpPr>
          <p:cNvPr id="3" name="三者均为全国统考专业，本期不再设置单专业优先级。">
            <a:extLst xmlns:a="http://schemas.openxmlformats.org/drawingml/2006/main"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三者均为全国统考专业，本期不再设置单专业优先级。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 xmlns:a="http://schemas.openxmlformats.org/drawingml/2006/main"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3276600" cy="3171825"/>
          </a:xfrm>
          <a:prstGeom xmlns:a="http://schemas.openxmlformats.org/drawingml/2006/main" prst="roundRect">
            <a:avLst>
              <a:gd name="adj" fmla="val 6607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341">
            <a:extLst xmlns:a="http://schemas.openxmlformats.org/drawingml/2006/main"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 xmlns:a="http://schemas.openxmlformats.org/drawingml/2006/main"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 xmlns:a="http://schemas.openxmlformats.org/drawingml/2006/main"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3" name="肿瘤科、内科医生">
            <a:extLst xmlns:a="http://schemas.openxmlformats.org/drawingml/2006/main"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报考 341 的考生</a:t>
            </a:r>
          </a:p>
        </p:txBody>
      </p:sp>
      <p:sp>
        <p:nvSpPr>
          <p:cNvPr id="14" name="与既有用户结构匹配度较高，是主要需求来源">
            <a:extLst xmlns:a="http://schemas.openxmlformats.org/drawingml/2006/main"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781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预期与既有用户匹配，实际需求占比需通过试点验证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28800"/>
            <a:ext cx="3276600" cy="3171825"/>
          </a:xfrm>
          <a:prstGeom xmlns:a="http://schemas.openxmlformats.org/drawingml/2006/main" prst="roundRect">
            <a:avLst>
              <a:gd name="adj" fmla="val 6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342">
            <a:extLst xmlns:a="http://schemas.openxmlformats.org/drawingml/2006/main"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 xmlns:a="http://schemas.openxmlformats.org/drawingml/2006/main"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 xmlns:a="http://schemas.openxmlformats.org/drawingml/2006/main"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9" name="肿瘤外科医生">
            <a:extLst xmlns:a="http://schemas.openxmlformats.org/drawingml/2006/main"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480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342 的考生</a:t>
            </a:r>
          </a:p>
        </p:txBody>
      </p:sp>
      <p:sp>
        <p:nvSpPr>
          <p:cNvPr id="20" name="器官专科分散，但完整覆盖更利于承接真实需求">
            <a:extLst xmlns:a="http://schemas.openxmlformats.org/drawingml/2006/main"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2781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按实际报考代码识别需求，不能仅按所在科室归类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3276600" cy="3171825"/>
          </a:xfrm>
          <a:prstGeom xmlns:a="http://schemas.openxmlformats.org/drawingml/2006/main" prst="roundRect">
            <a:avLst>
              <a:gd name="adj" fmla="val 6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343">
            <a:extLst xmlns:a="http://schemas.openxmlformats.org/drawingml/2006/main"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 xmlns:a="http://schemas.openxmlformats.org/drawingml/2006/main"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 xmlns:a="http://schemas.openxmlformats.org/drawingml/2006/main"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25" name="放疗医生">
            <a:extLst xmlns:a="http://schemas.openxmlformats.org/drawingml/2006/main"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480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343 的考生</a:t>
            </a:r>
          </a:p>
        </p:txBody>
      </p:sp>
      <p:sp>
        <p:nvSpPr>
          <p:cNvPr id="26" name="用户群体较明确，可复用部分基础知识与产品能力">
            <a:extLst xmlns:a="http://schemas.openxmlformats.org/drawingml/2006/main"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2781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前两科共用试卷，后两科按本专业考纲建设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 xmlns:a="http://schemas.openxmlformats.org/drawingml/2006/main"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1497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三个专业同步上线是本期业务决定，学习内容按所选专业配置。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中级考试结构">
            <a:extLst xmlns:a="http://schemas.openxmlformats.org/drawingml/2006/main"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 xmlns:a="http://schemas.openxmlformats.org/drawingml/2006/main"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四科分别备考，案例题规则需单独核验</a:t>
            </a:r>
          </a:p>
        </p:txBody>
      </p:sp>
      <p:sp>
        <p:nvSpPr>
          <p:cNvPr id="3" name="适用于 341、342、343 等全国统一组织的中级职称考试。">
            <a:extLst xmlns:a="http://schemas.openxmlformats.org/drawingml/2006/main"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2026官方口径：四科机考、每科90分钟、各科60分合格、同专业两年滚动。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 xmlns:a="http://schemas.openxmlformats.org/drawingml/2006/main"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graphicFrame>
        <p:nvGraphicFramePr>
          <p:cNvPr id="30" name="表格 27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1657350"/>
                <a:gridCol w="1657350"/>
                <a:gridCol w="5600700"/>
              </a:tblGrid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规则依据与边界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三专业共用试卷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题量、题型分布待官方材料确认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三专业共用试卷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题量、题型分布待官方材料确认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按专业配置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范围按适用年度官方大纲核对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按专业配置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具体题型、计分及回退规则待核验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0" name="产品必须准确适配">
            <a:extLst xmlns:a="http://schemas.openxmlformats.org/drawingml/2006/main"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产品必须准确适配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29175"/>
            <a:ext cx="2514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案例分析题选错扣分">
            <a:extLst xmlns:a="http://schemas.openxmlformats.org/drawingml/2006/main"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720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选项计分待核验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29175"/>
            <a:ext cx="2514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单向作答，不可回退">
            <a:extLst xmlns:a="http://schemas.openxmlformats.org/drawingml/2006/main"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720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回退限制待核验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29175"/>
            <a:ext cx="2514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四科成绩两年滚动">
            <a:extLst xmlns:a="http://schemas.openxmlformats.org/drawingml/2006/main"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720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同专业四科两年滚动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 xmlns:a="http://schemas.openxmlformats.org/drawingml/2006/main"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626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60分为考试合格标准。后续年度安排及具体题型规则按官方文件更新。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考纲与内容建设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前两科共用内容，后两科按专业组织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已确认前两科共用试卷，具体考点范围须按适用年度官方大纲逐项核对。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内容层级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官方依据或待确认项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产品设计建议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官方目录明确三专业共用试卷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共建内容，保留专业与科目关联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官方目录明确三专业共用试卷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统一维护，经教研审核后复用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待取得适用年度官方大纲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分别建立专业考点与题目映射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范围、题型与规则需核验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独立核对第四科内容与交互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版本管理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机构版大纲仅作为核对线索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记录官方来源、年度及差异处理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共用知识点统一维护，专业差异通过考点要求和题目映射体现。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目标用户与备考任务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首次备考与补考用户需要不同学习计划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产品建议：依据两年滚动制度区分首次与补考，学习困难需用户调研验证。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用户场景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主要任务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首期产品响应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首次备考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建立四科知识框架，发现遗漏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四科覆盖检查，初测后安排章节学习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部分科目补考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集中准备未通过科目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选择本次备考科目，记录已过科目及年份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在职、时间有限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知道今天优先学什么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结合备考时长和薄弱点安排可完成任务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刷题正确但不会迁移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换病例或条件后仍能判断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同考点新题复测，区分首次与重复答题表现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需求验证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识别真实困难与使用意愿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分专业、首次或补考招募试用，记录反馈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补考场景有考试制度依据，其余学习困难作为试点需求假设验证。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案例分析题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案例训练方案与考试模拟边界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以下为产品设计建议，尚未确认的计分及回退规则不写入模拟考试验收。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练习模式建议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考试模拟的前置条件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病例与分问关联，支持逐步练习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取得适用题型及作答顺序依据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答案反馈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解析正确项、排除项和病例条件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核验提交与答案反馈时点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计分展示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采用明确公示的练习规则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官方计分未确认前不输出预测分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回退与断点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允许复盘并保存学习进度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核验回退粒度、跳题和重进规则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学习效果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同考点新题复测，统计练习表现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练习表现不等同考试通过概率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可先评估案例练习，官方模拟计分与锁题功能须待规则确认。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竞品分析">
            <a:extLst xmlns:a="http://schemas.openxmlformats.org/drawingml/2006/main"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 xmlns:a="http://schemas.openxmlformats.org/drawingml/2006/main"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竞品调研范围与证据要求</a:t>
            </a:r>
          </a:p>
        </p:txBody>
      </p:sp>
      <p:sp>
        <p:nvSpPr>
          <p:cNvPr id="3" name="不同产品形态覆盖从传统权威题集到移动端题库与会员社区。">
            <a:extLst xmlns:a="http://schemas.openxmlformats.org/drawingml/2006/main"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保留原方案的调研对象，具体专业覆盖、价格和功能以品牌官方渠道留证。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 xmlns:a="http://schemas.openxmlformats.org/drawingml/2006/main"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graphicFrame>
        <p:nvGraphicFramePr>
          <p:cNvPr id="34" name="表格 31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429000"/>
                <a:gridCol w="2476500"/>
                <a:gridCol w="3409950"/>
              </a:tblGrid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取证渠道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比较内容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当前处理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出版社官网、适用版本原书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内容目录、年份与解析结构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核验后用于教研参考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品牌官方商品及购买页面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专业代码、题目与案例覆盖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按具体商品比较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品牌官方套餐页面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课程、题库、服务与有效期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不同权益分开比较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品牌正式产品及实测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解析依据、纠错和使用额度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不据宣传判断准确性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0" name="五家直接竞品">
            <a:extLst xmlns:a="http://schemas.openxmlformats.org/drawingml/2006/main"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五家调研对象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阿虎医考">
            <a:extLst xmlns:a="http://schemas.openxmlformats.org/drawingml/2006/main"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考试宝典">
            <a:extLst xmlns:a="http://schemas.openxmlformats.org/drawingml/2006/main"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肿瘤学圣题库">
            <a:extLst xmlns:a="http://schemas.openxmlformats.org/drawingml/2006/main"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肿瘤学圣题库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蓝基因">
            <a:extLst xmlns:a="http://schemas.openxmlformats.org/drawingml/2006/main"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57750"/>
            <a:ext cx="1590675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医考帮">
            <a:extLst xmlns:a="http://schemas.openxmlformats.org/drawingml/2006/main"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991100"/>
            <a:ext cx="1590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 xmlns:a="http://schemas.openxmlformats.org/drawingml/2006/main"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626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对标关系须核对目标专业与权益，搜索结果数量不能证明供给空白。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竞品横向对比">
            <a:extLst xmlns:a="http://schemas.openxmlformats.org/drawingml/2006/main"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 xmlns:a="http://schemas.openxmlformats.org/drawingml/2006/main"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竞品商品与价格取证清单</a:t>
            </a:r>
          </a:p>
        </p:txBody>
      </p:sp>
      <p:sp>
        <p:nvSpPr>
          <p:cNvPr id="3" name="公开价格样本用于理解购买门槛，不代表长期售价或完整权益完全可比。">
            <a:extLst xmlns:a="http://schemas.openxmlformats.org/drawingml/2006/main"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撤下无法直接追溯的价格。核验摘要仅作线索，正式比较需官方页面留证。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 xmlns:a="http://schemas.openxmlformats.org/drawingml/2006/main"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111252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038350"/>
                <a:gridCol w="2400300"/>
                <a:gridCol w="2457450"/>
                <a:gridCol w="2895600"/>
              </a:tblGrid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价格处理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必须留存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原160元撤下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具体专业购买页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题库与课程分开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按SKU重新留证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官方商品与期限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不沿用合并题库说法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各专业题库商品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摘要价格待留证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官网或App购买页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题量、解析、有效期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原58元撤下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官方购买页面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投诉不作标价证据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题库会员及课程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分产品核对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专业范围与权益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会员不等于全部产品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首期优先单题库或三专业组合包，降低购买门槛，不强制全站会员。">
            <a:extLst xmlns:a="http://schemas.openxmlformats.org/drawingml/2006/main"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单专业、组合包与会员均为备选，按实际需求和使用成本再决策。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能力对标与产品响应">
            <a:extLst xmlns:a="http://schemas.openxmlformats.org/drawingml/2006/main"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能力对标与产品响应</a:t>
            </a:r>
          </a:p>
        </p:txBody>
      </p:sp>
      <p:sp>
        <p:nvSpPr>
          <p:cNvPr id="2" name="差异化应集中在专科内容、可信解析与持续更新">
            <a:extLst xmlns:a="http://schemas.openxmlformats.org/drawingml/2006/main"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差异化应集中在专科内容、可信解析与持续更新</a:t>
            </a:r>
          </a:p>
        </p:txBody>
      </p:sp>
      <p:sp>
        <p:nvSpPr>
          <p:cNvPr id="3" name="复杂功能不能替代肿瘤专业内容质量。">
            <a:extLst xmlns:a="http://schemas.openxmlformats.org/drawingml/2006/main"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以下为产品建议，需结合题库资源、现有技术能力与成本评审。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 xmlns:a="http://schemas.openxmlformats.org/drawingml/2006/main"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graphicFrame>
        <p:nvGraphicFramePr>
          <p:cNvPr id="26" name="表格 23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352800"/>
                <a:gridCol w="5581650"/>
              </a:tblGrid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建设内容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验证依据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首期响应建议</a:t>
                      </a:r>
                      <a:endParaRPr sz="1350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官方大纲与内部题库盘点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按各专业四科建立内容覆盖清单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解析与更新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教材版本、来源及教研审核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记录依据与修订，争议题暂停发布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价格与售卖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官方商品留证及用户试点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收费方式、价格及权益单独决策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现有功能接入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现有代码、接口与产品实测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评估答题、错题、AI的适配成本</a:t>
                      </a:r>
                      <a:endParaRPr sz="1350" b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11252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内容可信">
            <a:extLst xmlns:a="http://schemas.openxmlformats.org/drawingml/2006/main"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内容可信</a:t>
            </a:r>
          </a:p>
        </p:txBody>
      </p:sp>
      <p:sp>
        <p:nvSpPr>
          <p:cNvPr id="12" name="每道题都要有可核验的考纲与解析依据">
            <a:extLst xmlns:a="http://schemas.openxmlformats.org/drawingml/2006/main"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24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每道题都要有可核验的考纲与解析依据</a:t>
            </a:r>
            <a:endParaRPr sz="1575" b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 xmlns:a="http://schemas.openxmlformats.org/drawingml/2006/main"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差异化假设通过考点覆盖、解析质量和案例训练效果验证。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内容质量与更新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可信解析需要明确依据、审核和修订机制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产品建议：内容上线前确认官方考纲版本、题目来源与授权范围。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需要完成的工作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交付与验收建议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来源与授权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确认题目、解析及素材的使用权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来源与授权范围可追溯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考纲与版本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按适用年度官方大纲建立映射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记录专业、科目、考点与覆盖缺口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专业审核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核对病例条件、答案与解析依据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首批内容逐题审核，争议题暂缓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依据已审核内容提供追问讲解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不自行改答案，缺少依据时明确提示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纠错更新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核实反馈、版本差异并修订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保留记录，同步关联题与解析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大纲覆盖、题目审核与更新责任明确后，才能持续提供可信训练。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接入现有小程序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首屏新增三个选项，后续流程按专业适配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已确定首屏新增三个专业并接入现有小程序，其余适配项为产品建议。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现有节点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本期调整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范围边界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备考专业选择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保留临床执业，新增341、342、343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直接进入下一步，不新增专业选择层级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备考信息与测评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沿用时间、状态问题，补充备考科目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初测用于诊断，不直接给出正式通过概率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学习计划与首页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展示目标专业、年份、四科进度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题量按实际资源配置，不沿用3000题承诺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AI私教与错题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携带当前专业、科目、题目上下文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错题讲解后安排相关考点复测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会员与权益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保留接入能力，收费方式单独决策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原9.9元及权益不自动适用中级专业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复用现有产品流程，重点补齐四科计划、专业内容和案例答题能力。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市场证据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市场规模的证据边界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现有材料不足以确认三专业年度考生人数，本版不提供全国市场规模结论。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当前证据状态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方案采用口径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全国医师总数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官方统计提供行业总体背景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不直接作为肿瘤主治考生分母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专业医师存量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科室与报考代码并非一一对应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需核对人员范围、年度和职称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年度报名人数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尚未取得可追溯的分专业数据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分别索取341、342、343人数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付费率与客单价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缺少同类目标用户交易样本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通过试点验证，不能据课程标价代替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原有规模测算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占比、报考率与精确输入未获支持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撤下旧人数、区间及规模图表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全国规模待验证，首期决策优先使用实际可触达考生与新增投入。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试点测算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试点收入与成本测算方法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内部决策模型：先采集真实用户和成本，再填入测算参数，不预设全国市场份额。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建议数据来源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计算或使用方式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可触达目标人数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已有渠道中当年备考用户去重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按专业、年度、首次或补考分组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实际试用人数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试点进入学习的去重用户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与邀请、注册、首练人数分开记录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付费转化率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收费测试中的真实订单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付费用户数 / 同期可购买试用人数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净收入与服务成本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订单、退款及AI调用等记录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净收入扣除对应可变服务成本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投入决策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研发、教研审核与运营预算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贡献金额与新增固定投入比较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未收费阶段只报告使用情况与成本，不用付费意愿替代真实收入。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考试类型与专业方向">
            <a:extLst xmlns:a="http://schemas.openxmlformats.org/drawingml/2006/main"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试点验证与上线条件</a:t>
            </a:r>
          </a:p>
        </p:txBody>
      </p:sp>
      <p:sp>
        <p:nvSpPr>
          <p:cNvPr id="2" name="中级职称更适合首期规模化建设">
            <a:extLst xmlns:a="http://schemas.openxmlformats.org/drawingml/2006/main"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先验证真实学习价值，再决定商业化与投入</a:t>
            </a:r>
          </a:p>
        </p:txBody>
      </p:sp>
      <p:sp>
        <p:nvSpPr>
          <p:cNvPr id="3" name="全国统一考试的标准化程度更高；高级职称需要适配不同省份。">
            <a:extLst xmlns:a="http://schemas.openxmlformats.org/drawingml/2006/main"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指标为试点建议，分专业与首次／补考观察，目标阈值另行评审。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 xmlns:a="http://schemas.openxmlformats.org/drawingml/2006/main"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观察指标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建议统计口径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支持的决策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首次练习完成率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完成首练人数 / 同期进入学习人数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判断入口、计划与首练是否顺畅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第7日学习留存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D7学习人数 / 已到D7的首次学习人数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同一首学队列观察持续使用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同考点新题表现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匹配难度下比较初练与新题复测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验证迁移表现，不称通过概率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内容与服务成本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确认问题数、审核工时及AI成本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评估内容质量与维护负担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付费转化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付费人数 / 同期可购买试用人数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02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收费后观察，联看退款与净收入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本章结论">
            <a:extLst xmlns:a="http://schemas.openxmlformats.org/drawingml/2006/main"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 xmlns:a="http://schemas.openxmlformats.org/drawingml/2006/main"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00725"/>
            <a:ext cx="923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上线前完成大纲版本确认、规则核验、题库审核和三专业流程验收。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结论与行动">
            <a:extLst xmlns:a="http://schemas.openxmlformats.org/drawingml/2006/main"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 xmlns:a="http://schemas.openxmlformats.org/drawingml/2006/main"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三专业同步试点，以学习价值和维护成本决定投入</a:t>
            </a:r>
          </a:p>
        </p:txBody>
      </p:sp>
      <p:sp>
        <p:nvSpPr>
          <p:cNvPr id="3" name="产品定位：面向肿瘤医生的职称备考题库，复用职考 Go 现有 AI 能力。">
            <a:extLst xmlns:a="http://schemas.openxmlformats.org/drawingml/2006/main"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已确定三专业接入。规则、内容和技术盘点完成后，评审实施范围与投入。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职考项目拓展｜肿瘤职称市场分析">
            <a:extLst xmlns:a="http://schemas.openxmlformats.org/drawingml/2006/main"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 xmlns:a="http://schemas.openxmlformats.org/drawingml/2006/main"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53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01">
            <a:extLst xmlns:a="http://schemas.openxmlformats.org/drawingml/2006/main"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 xmlns:a="http://schemas.openxmlformats.org/drawingml/2006/main"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12" name="同步建设 341、342、343；按各自考纲组织题目与解析。">
            <a:extLst xmlns:a="http://schemas.openxmlformats.org/drawingml/2006/main"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共用前两科内容，分别建设后两科与案例训练。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 xmlns:a="http://schemas.openxmlformats.org/drawingml/2006/main"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622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6" name="直接接入现有小程序，复用答题、诊断、错题与 AI 辅助。">
            <a:extLst xmlns:a="http://schemas.openxmlformats.org/drawingml/2006/main"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首屏增加三个专业，后续计划和题目按专业、备考科目适配。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03">
            <a:extLst xmlns:a="http://schemas.openxmlformats.org/drawingml/2006/main"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 xmlns:a="http://schemas.openxmlformats.org/drawingml/2006/main"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385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售卖</a:t>
            </a:r>
          </a:p>
        </p:txBody>
      </p:sp>
      <p:sp>
        <p:nvSpPr>
          <p:cNvPr id="20" name="优先单题库或三专业组合包，避免强制采用全站会员制。">
            <a:extLst xmlns:a="http://schemas.openxmlformats.org/drawingml/2006/main"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收费方式、价格与权益待定，先完成需求与成本验证。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11252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04">
            <a:extLst xmlns:a="http://schemas.openxmlformats.org/drawingml/2006/main"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 xmlns:a="http://schemas.openxmlformats.org/drawingml/2006/main"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14850"/>
            <a:ext cx="3095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跟踪真实使用率、付费转化和内容维护成本，再决定追加投入。">
            <a:extLst xmlns:a="http://schemas.openxmlformats.org/drawingml/2006/main"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跟踪首练、复访、薄弱点复测与维护成本，收费后再看付费。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38775"/>
            <a:ext cx="11125200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2343"/>
          </a:solidFill>
          <a:ln xmlns:a="http://schemas.openxmlformats.org/drawingml/2006/main" w="9525">
            <a:solidFill>
              <a:srgbClr val="0B234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 xmlns:a="http://schemas.openxmlformats.org/drawingml/2006/main"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91175"/>
            <a:ext cx="895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规则核验、内容审核和三专业联调通过后试点，收费方案单独决策。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2026-09-17T07:41:52.2290000Z</dcterms:created>
  <dcterms:modified xsi:type="dcterms:W3CDTF">2026-09-17T07:41:52.2290000Z</dcterms:modified>
</coreProperties>
</file>