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a28eaf79b4bbe" /><Relationship Type="http://schemas.openxmlformats.org/officeDocument/2006/relationships/extended-properties" Target="/docProps/app.xml" Id="R1ad2b767ff9449f2" /><Relationship Type="http://schemas.openxmlformats.org/officeDocument/2006/relationships/officeDocument" Target="/ppt/presentation.xml" Id="Raf24a66621fa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122bd6d8c4719"/>
  </p:sldMasterIdLst>
  <p:notesMasterIdLst>
    <p:notesMasterId xmlns:r="http://schemas.openxmlformats.org/officeDocument/2006/relationships" r:id="R0aacde4866cd45ad"/>
  </p:notesMasterIdLst>
  <p:sldIdLst>
    <p:sldId xmlns:r="http://schemas.openxmlformats.org/officeDocument/2006/relationships" id="256" r:id="Rf887827028c84ad4"/>
    <p:sldId xmlns:r="http://schemas.openxmlformats.org/officeDocument/2006/relationships" id="257" r:id="R705e357583674af9"/>
    <p:sldId xmlns:r="http://schemas.openxmlformats.org/officeDocument/2006/relationships" id="258" r:id="Ra1e718f707f8448a"/>
    <p:sldId xmlns:r="http://schemas.openxmlformats.org/officeDocument/2006/relationships" id="259" r:id="R5e444f7d2a704a31"/>
    <p:sldId xmlns:r="http://schemas.openxmlformats.org/officeDocument/2006/relationships" id="260" r:id="R2320263d3041443b"/>
    <p:sldId xmlns:r="http://schemas.openxmlformats.org/officeDocument/2006/relationships" id="261" r:id="R2db32161e74e4ca8"/>
    <p:sldId xmlns:r="http://schemas.openxmlformats.org/officeDocument/2006/relationships" id="262" r:id="Rf7b8143213144883"/>
    <p:sldId xmlns:r="http://schemas.openxmlformats.org/officeDocument/2006/relationships" id="263" r:id="R395ea3b9e7b049c3"/>
    <p:sldId xmlns:r="http://schemas.openxmlformats.org/officeDocument/2006/relationships" id="264" r:id="R7e65facae6c84a88"/>
    <p:sldId xmlns:r="http://schemas.openxmlformats.org/officeDocument/2006/relationships" id="265" r:id="R8067e543f0524302"/>
    <p:sldId xmlns:r="http://schemas.openxmlformats.org/officeDocument/2006/relationships" id="266" r:id="Rc2420e5436b143bf"/>
    <p:sldId xmlns:r="http://schemas.openxmlformats.org/officeDocument/2006/relationships" id="267" r:id="R8b42dd021c964bdd"/>
    <p:sldId xmlns:r="http://schemas.openxmlformats.org/officeDocument/2006/relationships" id="268" r:id="Re777a7f269634bf7"/>
    <p:sldId xmlns:r="http://schemas.openxmlformats.org/officeDocument/2006/relationships" id="269" r:id="R865ab3ef0bf643b9"/>
    <p:sldId xmlns:r="http://schemas.openxmlformats.org/officeDocument/2006/relationships" id="270" r:id="R7011c51822214107"/>
    <p:sldId xmlns:r="http://schemas.openxmlformats.org/officeDocument/2006/relationships" id="271" r:id="R5d071eac4f6d46cf"/>
    <p:sldId xmlns:r="http://schemas.openxmlformats.org/officeDocument/2006/relationships" id="272" r:id="R20aff5e4a5794730"/>
    <p:sldId xmlns:r="http://schemas.openxmlformats.org/officeDocument/2006/relationships" id="273" r:id="Rd3e585a99f91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1cfd65b8d4df4" /><Relationship Type="http://schemas.openxmlformats.org/officeDocument/2006/relationships/slideMaster" Target="/ppt/slideMasters/slideMaster1.xml" Id="Rc55122bd6d8c4719" /><Relationship Type="http://schemas.openxmlformats.org/officeDocument/2006/relationships/notesMaster" Target="/ppt/notesMasters/notesMaster1.xml" Id="R0aacde4866cd45ad" /><Relationship Type="http://schemas.openxmlformats.org/officeDocument/2006/relationships/presProps" Target="/ppt/presProps.xml" Id="Ra0a195955c104781" /><Relationship Type="http://schemas.openxmlformats.org/officeDocument/2006/relationships/viewProps" Target="/ppt/viewProps.xml" Id="R2ebcc8ad0fd7449a" /><Relationship Type="http://schemas.openxmlformats.org/officeDocument/2006/relationships/tableStyles" Target="/ppt/tableStyles.xml" Id="Ra3c5e7a346bd4e1b" /><Relationship Type="http://schemas.openxmlformats.org/officeDocument/2006/relationships/slide" Target="/ppt/slides/slide1.xml" Id="Rf887827028c84ad4" /><Relationship Type="http://schemas.openxmlformats.org/officeDocument/2006/relationships/slide" Target="/ppt/slides/slide2.xml" Id="R705e357583674af9" /><Relationship Type="http://schemas.openxmlformats.org/officeDocument/2006/relationships/slide" Target="/ppt/slides/slide3.xml" Id="Ra1e718f707f8448a" /><Relationship Type="http://schemas.openxmlformats.org/officeDocument/2006/relationships/slide" Target="/ppt/slides/slide4.xml" Id="R5e444f7d2a704a31" /><Relationship Type="http://schemas.openxmlformats.org/officeDocument/2006/relationships/slide" Target="/ppt/slides/slide5.xml" Id="R2320263d3041443b" /><Relationship Type="http://schemas.openxmlformats.org/officeDocument/2006/relationships/slide" Target="/ppt/slides/slide6.xml" Id="R2db32161e74e4ca8" /><Relationship Type="http://schemas.openxmlformats.org/officeDocument/2006/relationships/slide" Target="/ppt/slides/slide7.xml" Id="Rf7b8143213144883" /><Relationship Type="http://schemas.openxmlformats.org/officeDocument/2006/relationships/slide" Target="/ppt/slides/slide8.xml" Id="R395ea3b9e7b049c3" /><Relationship Type="http://schemas.openxmlformats.org/officeDocument/2006/relationships/slide" Target="/ppt/slides/slide9.xml" Id="R7e65facae6c84a88" /><Relationship Type="http://schemas.openxmlformats.org/officeDocument/2006/relationships/slide" Target="/ppt/slides/slide10.xml" Id="R8067e543f0524302" /><Relationship Type="http://schemas.openxmlformats.org/officeDocument/2006/relationships/slide" Target="/ppt/slides/slide11.xml" Id="Rc2420e5436b143bf" /><Relationship Type="http://schemas.openxmlformats.org/officeDocument/2006/relationships/slide" Target="/ppt/slides/slide12.xml" Id="R8b42dd021c964bdd" /><Relationship Type="http://schemas.openxmlformats.org/officeDocument/2006/relationships/slide" Target="/ppt/slides/slide13.xml" Id="Re777a7f269634bf7" /><Relationship Type="http://schemas.openxmlformats.org/officeDocument/2006/relationships/slide" Target="/ppt/slides/slide14.xml" Id="R865ab3ef0bf643b9" /><Relationship Type="http://schemas.openxmlformats.org/officeDocument/2006/relationships/slide" Target="/ppt/slides/slide15.xml" Id="R7011c51822214107" /><Relationship Type="http://schemas.openxmlformats.org/officeDocument/2006/relationships/slide" Target="/ppt/slides/slide16.xml" Id="R5d071eac4f6d46cf" /><Relationship Type="http://schemas.openxmlformats.org/officeDocument/2006/relationships/slide" Target="/ppt/slides/slide17.xml" Id="R20aff5e4a5794730" /><Relationship Type="http://schemas.openxmlformats.org/officeDocument/2006/relationships/slide" Target="/ppt/slides/slide18.xml" Id="Rd3e585a99f91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5d43c39be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b8fbbf1ac4e06" /><Relationship Type="http://schemas.openxmlformats.org/officeDocument/2006/relationships/notesMaster" Target="/ppt/notesMasters/notesMaster1.xml" Id="R6f1e58b6fb78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07de7934547c6" /><Relationship Type="http://schemas.openxmlformats.org/officeDocument/2006/relationships/notesMaster" Target="/ppt/notesMasters/notesMaster1.xml" Id="R195953e12e84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1d8cb6650457b" /><Relationship Type="http://schemas.openxmlformats.org/officeDocument/2006/relationships/notesMaster" Target="/ppt/notesMasters/notesMaster1.xml" Id="Rf5e1c02dd1cd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17daa564474d13" /><Relationship Type="http://schemas.openxmlformats.org/officeDocument/2006/relationships/notesMaster" Target="/ppt/notesMasters/notesMaster1.xml" Id="R3b0ffb2e068c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f33de10024d8f" /><Relationship Type="http://schemas.openxmlformats.org/officeDocument/2006/relationships/notesMaster" Target="/ppt/notesMasters/notesMaster1.xml" Id="R4e022ab4f13341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00bd9f869b491c" /><Relationship Type="http://schemas.openxmlformats.org/officeDocument/2006/relationships/notesMaster" Target="/ppt/notesMasters/notesMaster1.xml" Id="R1c2f1dc78eeb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2afa5bdd64546" /><Relationship Type="http://schemas.openxmlformats.org/officeDocument/2006/relationships/notesMaster" Target="/ppt/notesMasters/notesMaster1.xml" Id="R2426aae95d2749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cd994d46f84cf2" /><Relationship Type="http://schemas.openxmlformats.org/officeDocument/2006/relationships/notesMaster" Target="/ppt/notesMasters/notesMaster1.xml" Id="R6391ee106ede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58350eb024384" /><Relationship Type="http://schemas.openxmlformats.org/officeDocument/2006/relationships/notesMaster" Target="/ppt/notesMasters/notesMaster1.xml" Id="R389dbb9731b54c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a8c1f8d71e4a45" /><Relationship Type="http://schemas.openxmlformats.org/officeDocument/2006/relationships/notesMaster" Target="/ppt/notesMasters/notesMaster1.xml" Id="Rebe82e76c5ef4c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30753d81114422" /><Relationship Type="http://schemas.openxmlformats.org/officeDocument/2006/relationships/notesMaster" Target="/ppt/notesMasters/notesMaster1.xml" Id="R32f0e72c4ed944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0e3bf26004ecc" /><Relationship Type="http://schemas.openxmlformats.org/officeDocument/2006/relationships/notesMaster" Target="/ppt/notesMasters/notesMaster1.xml" Id="R5e8b10c906704c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f5c45141484373" /><Relationship Type="http://schemas.openxmlformats.org/officeDocument/2006/relationships/notesMaster" Target="/ppt/notesMasters/notesMaster1.xml" Id="Ra6522d80e1ec41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bf9d1e75b541ea" /><Relationship Type="http://schemas.openxmlformats.org/officeDocument/2006/relationships/notesMaster" Target="/ppt/notesMasters/notesMaster1.xml" Id="R60c83c26b19f4e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243b08e1b14f9d" /><Relationship Type="http://schemas.openxmlformats.org/officeDocument/2006/relationships/notesMaster" Target="/ppt/notesMasters/notesMaster1.xml" Id="R0d5570a0b67349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7668abdbb249ca" /><Relationship Type="http://schemas.openxmlformats.org/officeDocument/2006/relationships/notesMaster" Target="/ppt/notesMasters/notesMaster1.xml" Id="R7e672e72794f4e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8d18955d0e4ec9" /><Relationship Type="http://schemas.openxmlformats.org/officeDocument/2006/relationships/notesMaster" Target="/ppt/notesMasters/notesMaster1.xml" Id="R0734b066fffd4c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34f3cfb6b44969" /><Relationship Type="http://schemas.openxmlformats.org/officeDocument/2006/relationships/notesMaster" Target="/ppt/notesMasters/notesMaster1.xml" Id="R117cbdd11590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官方依据：https://www.21wecan.com/wsrcw/c100193/202511/1002760.shtml</a:t>
            </a:r>
          </a:p>
          <a:p xmlns:a="http://schemas.openxmlformats.org/drawingml/2006/main">
            <a:r>
              <a:t>前两科共用试卷：https://www.21wecan.com/wsrcw/c100193/202208/1d3cddb94d034000a0e8a4178b8f92a6.shtml</a:t>
            </a:r>
          </a:p>
          <a:p xmlns:a="http://schemas.openxmlformats.org/drawingml/2006/main">
            <a:r>
              <a:t>同步上线及收费待定为用户已确定的业务范围。全国三专业报考人数和市场收入尚缺可靠数据，本页不作规模判断。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专业名称及前两科共用试卷依据：https://www.21wecan.com/wsrcw/c100193/202208/1d3cddb94d034000a0e8a4178b8f92a6.shtml</a:t>
            </a:r>
          </a:p>
          <a:p xmlns:a="http://schemas.openxmlformats.org/drawingml/2006/main">
            <a:r>
              <a:t>目标用户定义以实际报考专业为准，科室归属不等于报考资格。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2026考生须知：https://www.21wecan.com/wsrcw/c100193/202511/1002760.shtml</a:t>
            </a:r>
          </a:p>
          <a:p xmlns:a="http://schemas.openxmlformats.org/drawingml/2006/main">
            <a:r>
              <a:t>60分及不得跨专业合并成绩的官方通知：https://www.huaihua.gov.cn/wsjkw/c100587/202512/73a23312619d4460a3685c7cd0e0645c.shtml</a:t>
            </a:r>
          </a:p>
          <a:p xmlns:a="http://schemas.openxmlformats.org/drawingml/2006/main">
            <a:r>
              <a:t>共用试卷：https://www.21wecan.com/wsrcw/c100193/202208/1d3cddb94d034000a0e8a4178b8f92a6.shtml</a:t>
            </a:r>
          </a:p>
          <a:p xmlns:a="http://schemas.openxmlformats.org/drawingml/2006/main">
            <a:r>
              <a:t>考试合格不等于单位聘任。2026具体日程不自动沿用到2027。未取得适用年度官方详细题型文件，不采用机构题量或计分说法。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官方已确认：https://www.21wecan.com/wsrcw/c100193/202208/1d3cddb94d034000a0e8a4178b8f92a6.shtml</a:t>
            </a:r>
          </a:p>
          <a:p xmlns:a="http://schemas.openxmlformats.org/drawingml/2006/main">
            <a:r>
              <a:t>用户提供89页机构版大纲未标适用年度，不作为最终考试范围依据。肺癌侧重、疾病清单及掌握等级须与适用年度官方大纲复核，本版撤下机构版页码及其具体内容结论。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分析方法参考本地 yu-jun-product-method 技能：按具体使用情境比较新体验、旧体验与替换成本。表格为产品假设，不是已完成的访谈结果，也不是书中对本业务的结论。访谈时请用户展示最近一次真实备考任务及所用材料，避免只问是否喜欢AI功能。先观察完成任务的过程、耗时、额外查证与是否愿意再次使用，不任意给体验打分。首次与补考划分保留既有官方制度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此页全部为设计建议。机构聊天截图与跨专业出版方文章仅为线索，不作为341—343官方评分或回退依据。不采用固定75题、选项扣分公式或第一问错导致后续全错等无可靠依据说法。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2026-09-17外部核验摘要，未附本地可追溯的品牌官方商品截图或完整链接。摘要中的168元及圣才58/68/58元只作为进一步取证线索，本版不列作已验证价格。所有价格需同时记录渠道、采集日期、专业、权益和有效期。本期收费方式待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分级是本次产品审查建议，不能将待评审功能写成用户已批准的承诺。用户明确决定：341、342、343同步上线，接入现有小程序，首屏直接增加三个选项，收费方式待定。最小学习流程需业务、教研、研发共同评审。未核验考试规则不进入模拟考试验收，不因此阻止与该规则无关的普通练习开发。缺项时不擅自改成单专业先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官方试题著作权声明：https://www.21wecan.com/wsrcw/c100193/202604/1002959.shtml</a:t>
            </a:r>
          </a:p>
          <a:p xmlns:a="http://schemas.openxmlformats.org/drawingml/2006/main">
            <a:r>
              <a:t>原创、授权或其他来源题目均需确认使用范围。回忆题名称不能替代来源审查。产品不默认承诺近五年真题数量或官方授权关系。上表流程为产品治理建议。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精确人数、村卫生室扣减、1.5%肿瘤科占比、5%—10%年度报考率缺少可追溯依据，全部撤下。官方全国医师总数不能直接换算为目标考试市场。不采用外部报告1万—2.5万或150万—1500万元的新测算，也不使用无统计依据的误差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本页是内部测算方法，不是考试事实或现有经营数据。业务尚未确定收费方式。各变量需固定同一统计周期、专业范围和去重口径，避免将用户数、订单数与科次数混用。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方法参考本地 identify-assumptions-existing 与 strategy-red-team 技能。优先处理价值、可用性、可行性及商业可持续性假设，仅用顺序和依赖表达优先级，不虚构概率、访谈结果或量化门槛。第1项内容与用户验证可并行。负责人为角色建议，未指定真实人员或日期。判断规则为建议，正式试点前需明确观察周期、样本来源、预算及可接受表现。用户验证若样本不足，应先调整招募和触达，不能据此宣布市场不存在。学习验证需尽量匹配题目难度和任务，初步观察不等于因果证明。D7留存分母为已到观察日的首次学习队列，付费转化分母为同期可购买试用用户，均需按专业去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2ed29abab4f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64f1bf98ca427a" /><Relationship Type="http://schemas.openxmlformats.org/officeDocument/2006/relationships/slideLayout" Target="/ppt/slideLayouts/slideLayout1.xml" Id="R1e39f4d9340348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9f4d9340348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fcd9620824b58" /><Relationship Type="http://schemas.openxmlformats.org/officeDocument/2006/relationships/image" Target="/ppt/media/image.png" Id="R1c54b83582fe46c5" /><Relationship Type="http://schemas.openxmlformats.org/officeDocument/2006/relationships/notesSlide" Target="/ppt/notesSlides/notesSlide1.xml" Id="Rcb3df0317b2f4c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f5a71a0142a3" /><Relationship Type="http://schemas.openxmlformats.org/officeDocument/2006/relationships/notesSlide" Target="/ppt/notesSlides/notesSlide2.xml" Id="R8862ccec030d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1a33177d49a8" /><Relationship Type="http://schemas.openxmlformats.org/officeDocument/2006/relationships/notesSlide" Target="/ppt/notesSlides/notesSlide3.xml" Id="Rca1a996028eb4d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9dbe7549a4b66" /><Relationship Type="http://schemas.openxmlformats.org/officeDocument/2006/relationships/notesSlide" Target="/ppt/notesSlides/notesSlide4.xml" Id="R5d40e947f010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9b329097a4b38" /><Relationship Type="http://schemas.openxmlformats.org/officeDocument/2006/relationships/notesSlide" Target="/ppt/notesSlides/notesSlide5.xml" Id="Raff85ed40bfd49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a61f472044999" /><Relationship Type="http://schemas.openxmlformats.org/officeDocument/2006/relationships/notesSlide" Target="/ppt/notesSlides/notesSlide6.xml" Id="R2a768d608dec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d399d265f4cc6" /><Relationship Type="http://schemas.openxmlformats.org/officeDocument/2006/relationships/notesSlide" Target="/ppt/notesSlides/notesSlide7.xml" Id="R3c589f5d188c46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bd7ea94514014" /><Relationship Type="http://schemas.openxmlformats.org/officeDocument/2006/relationships/notesSlide" Target="/ppt/notesSlides/notesSlide8.xml" Id="Raaa95c99897a42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62d582304b4f" /><Relationship Type="http://schemas.openxmlformats.org/officeDocument/2006/relationships/notesSlide" Target="/ppt/notesSlides/notesSlide9.xml" Id="Rbff692ec0ae945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250b0d2a84ad3" /><Relationship Type="http://schemas.openxmlformats.org/officeDocument/2006/relationships/notesSlide" Target="/ppt/notesSlides/notesSlide10.xml" Id="R3717a3795f2247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d323577a744ee" /><Relationship Type="http://schemas.openxmlformats.org/officeDocument/2006/relationships/notesSlide" Target="/ppt/notesSlides/notesSlide11.xml" Id="Rc14bc1771d0840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ebc38ddb94490" /><Relationship Type="http://schemas.openxmlformats.org/officeDocument/2006/relationships/notesSlide" Target="/ppt/notesSlides/notesSlide12.xml" Id="R758c1e873b4f40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0e112aad24a8a" /><Relationship Type="http://schemas.openxmlformats.org/officeDocument/2006/relationships/notesSlide" Target="/ppt/notesSlides/notesSlide13.xml" Id="R1d8f545f2a304f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51ec19004f11" /><Relationship Type="http://schemas.openxmlformats.org/officeDocument/2006/relationships/notesSlide" Target="/ppt/notesSlides/notesSlide14.xml" Id="Ra98a19623c4148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e3166f3414605" /><Relationship Type="http://schemas.openxmlformats.org/officeDocument/2006/relationships/notesSlide" Target="/ppt/notesSlides/notesSlide15.xml" Id="R98bbb3ca332341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852affd7d4602" /><Relationship Type="http://schemas.openxmlformats.org/officeDocument/2006/relationships/notesSlide" Target="/ppt/notesSlides/notesSlide16.xml" Id="R0cd9352b401942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e3cc4a91c4e5a" /><Relationship Type="http://schemas.openxmlformats.org/officeDocument/2006/relationships/notesSlide" Target="/ppt/notesSlides/notesSlide17.xml" Id="R38620f324b0443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26f9c87ae4f02" /><Relationship Type="http://schemas.openxmlformats.org/officeDocument/2006/relationships/notesSlide" Target="/ppt/notesSlides/notesSlide18.xml" Id="Rd6ce7b592594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4b83582fe46c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"/>
            <a:ext cx="5219700" cy="6096000"/>
          </a:xfrm>
          <a:prstGeom xmlns:a="http://schemas.openxmlformats.org/drawingml/2006/main" prst="roundRect">
            <a:avLst>
              <a:gd name="adj" fmla="val 5109"/>
            </a:avLst>
          </a:prstGeom>
          <a:solidFill xmlns:a="http://schemas.openxmlformats.org/drawingml/2006/main">
            <a:srgbClr val="071B36"/>
          </a:solidFill>
          <a:ln xmlns:a="http://schemas.openxmlformats.org/drawingml/2006/main" w="9525">
            <a:solidFill>
              <a:srgbClr val="2447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职考项目拓展">
            <a:extLst xmlns:a="http://schemas.openxmlformats.org/drawingml/2006/main"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 xmlns:a="http://schemas.openxmlformats.org/drawingml/2006/main"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 xmlns:a="http://schemas.openxmlformats.org/drawingml/2006/main"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官方考试依据、用户价值与首期产品范围</a:t>
            </a:r>
          </a:p>
        </p:txBody>
      </p:sp>
      <p:sp>
        <p:nvSpPr>
          <p:cNvPr id="8" name="2026.09">
            <a:extLst xmlns:a="http://schemas.openxmlformats.org/drawingml/2006/main"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 · 官方口径修订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 xmlns:a="http://schemas.openxmlformats.org/drawingml/2006/main"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三专业同步接入，按官方考试要求建设</a:t>
            </a:r>
          </a:p>
        </p:txBody>
      </p:sp>
      <p:sp>
        <p:nvSpPr>
          <p:cNvPr id="3" name="市场规模不大，但与良医汇现有肿瘤医生用户高度匹配。">
            <a:extLst xmlns:a="http://schemas.openxmlformats.org/drawingml/2006/main"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已确认产品范围，市场需求、接入成本与商业价值通过试点验证。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 xmlns:a="http://schemas.openxmlformats.org/drawingml/2006/main"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6.6–7.1 万">
            <a:extLst xmlns:a="http://schemas.openxmlformats.org/drawingml/2006/main"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 xmlns:a="http://schemas.openxmlformats.org/drawingml/2006/main"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0.33–0.71 万">
            <a:extLst xmlns:a="http://schemas.openxmlformats.org/drawingml/2006/main"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>
            <a:extLst xmlns:a="http://schemas.openxmlformats.org/drawingml/2006/main"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 个专业">
            <a:extLst xmlns:a="http://schemas.openxmlformats.org/drawingml/2006/main"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 xmlns:a="http://schemas.openxmlformats.org/drawingml/2006/main"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2956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低成本试点">
            <a:extLst xmlns:a="http://schemas.openxmlformats.org/drawingml/2006/main"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 xmlns:a="http://schemas.openxmlformats.org/drawingml/2006/main"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 xmlns:a="http://schemas.openxmlformats.org/drawingml/2006/main"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 xmlns:a="http://schemas.openxmlformats.org/drawingml/2006/main"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接入现有小程序，评估答题、错题与 AI 功能的适配工作。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 xmlns:a="http://schemas.openxmlformats.org/drawingml/2006/main"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95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比较现有备考方式，验证找薄弱点、理解错题的实际帮助。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 xmlns:a="http://schemas.openxmlformats.org/drawingml/2006/main"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 xmlns:a="http://schemas.openxmlformats.org/drawingml/2006/main"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 xmlns:a="http://schemas.openxmlformats.org/drawingml/2006/main"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现有产品与渠道提供接入基础，目标用户数量及新增成本需内部盘点。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 xmlns:a="http://schemas.openxmlformats.org/drawingml/2006/main"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项目价值">
            <a:extLst xmlns:a="http://schemas.openxmlformats.org/drawingml/2006/main"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 xmlns:a="http://schemas.openxmlformats.org/drawingml/2006/main"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 xmlns:a="http://schemas.openxmlformats.org/drawingml/2006/main"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>
            <a:extLst xmlns:a="http://schemas.openxmlformats.org/drawingml/2006/main"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 xmlns:a="http://schemas.openxmlformats.org/drawingml/2006/main"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 xmlns:a="http://schemas.openxmlformats.org/drawingml/2006/main"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 xmlns:a="http://schemas.openxmlformats.org/drawingml/2006/main"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中级">
            <a:extLst xmlns:a="http://schemas.openxmlformats.org/drawingml/2006/main"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 xmlns:a="http://schemas.openxmlformats.org/drawingml/2006/main"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 xmlns:a="http://schemas.openxmlformats.org/drawingml/2006/main"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 xmlns:a="http://schemas.openxmlformats.org/drawingml/2006/main"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年度安排以官方通知为准，本期聚焦 341–343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1252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高级">
            <a:extLst xmlns:a="http://schemas.openxmlformats.org/drawingml/2006/main"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 xmlns:a="http://schemas.openxmlformats.org/drawingml/2006/main"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 xmlns:a="http://schemas.openxmlformats.org/drawingml/2006/main"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24425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 xmlns:a="http://schemas.openxmlformats.org/drawingml/2006/main"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 341、342、343，388 与高级职称不纳入本期范围。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本期范围与后续拓展边界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业务已确定首期覆盖三个中级专业，高级职称后续另行评估。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中级职称（本期）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高级职称（后续）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全国考试文件及考区要求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用户识别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待确定地区后开展调研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接入现有小程序，适配四科内容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范围决定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暂无上线承诺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中级专业方向">
            <a:extLst xmlns:a="http://schemas.openxmlformats.org/drawingml/2006/main"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 xmlns:a="http://schemas.openxmlformats.org/drawingml/2006/main"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本期同步上线的三个专业</a:t>
            </a:r>
          </a:p>
        </p:txBody>
      </p:sp>
      <p:sp>
        <p:nvSpPr>
          <p:cNvPr id="3" name="三者均为全国统考专业，本期不再设置单专业优先级。">
            <a:extLst xmlns:a="http://schemas.openxmlformats.org/drawingml/2006/main"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 xmlns:a="http://schemas.openxmlformats.org/drawingml/2006/main"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341">
            <a:extLst xmlns:a="http://schemas.openxmlformats.org/drawingml/2006/main"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 xmlns:a="http://schemas.openxmlformats.org/drawingml/2006/main"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 xmlns:a="http://schemas.openxmlformats.org/drawingml/2006/main"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 xmlns:a="http://schemas.openxmlformats.org/drawingml/2006/main"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预期与既有用户匹配，实际需求占比需通过试点验证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42">
            <a:extLst xmlns:a="http://schemas.openxmlformats.org/drawingml/2006/main"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 xmlns:a="http://schemas.openxmlformats.org/drawingml/2006/main"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 xmlns:a="http://schemas.openxmlformats.org/drawingml/2006/main"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 xmlns:a="http://schemas.openxmlformats.org/drawingml/2006/main"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按实际报考代码识别需求，不能仅按所在科室归类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343">
            <a:extLst xmlns:a="http://schemas.openxmlformats.org/drawingml/2006/main"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 xmlns:a="http://schemas.openxmlformats.org/drawingml/2006/main"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 xmlns:a="http://schemas.openxmlformats.org/drawingml/2006/main"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 xmlns:a="http://schemas.openxmlformats.org/drawingml/2006/main"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前两科共用试卷，后两科按本专业考纲建设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 xmlns:a="http://schemas.openxmlformats.org/drawingml/2006/main"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1497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三个专业同步上线是本期业务决定，学习内容按所选专业配置。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中级考试结构">
            <a:extLst xmlns:a="http://schemas.openxmlformats.org/drawingml/2006/main"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 xmlns:a="http://schemas.openxmlformats.org/drawingml/2006/main"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四科分别备考，案例题规则需单独核验</a:t>
            </a:r>
          </a:p>
        </p:txBody>
      </p:sp>
      <p:sp>
        <p:nvSpPr>
          <p:cNvPr id="3" name="适用于 341、342、343 等全国统一组织的中级职称考试。">
            <a:extLst xmlns:a="http://schemas.openxmlformats.org/drawingml/2006/main"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2026官方口径：四科机考、每科90分钟、各科60分合格、同专业两年滚动。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 xmlns:a="http://schemas.openxmlformats.org/drawingml/2006/main"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657350"/>
                <a:gridCol w="1657350"/>
                <a:gridCol w="5600700"/>
              </a:tblGrid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规则依据与边界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范围按适用年度官方大纲核对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产品必须准确适配">
            <a:extLst xmlns:a="http://schemas.openxmlformats.org/drawingml/2006/main"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案例分析题选错扣分">
            <a:extLst xmlns:a="http://schemas.openxmlformats.org/drawingml/2006/main"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单向作答，不可回退">
            <a:extLst xmlns:a="http://schemas.openxmlformats.org/drawingml/2006/main"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四科成绩两年滚动">
            <a:extLst xmlns:a="http://schemas.openxmlformats.org/drawingml/2006/main"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同专业四科两年滚动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 xmlns:a="http://schemas.openxmlformats.org/drawingml/2006/main"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60分为考试合格标准。后续年度安排及具体题型规则按官方文件更新。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前两科共用内容，后两科按专业组织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已确认前两科共用试卷，具体考点范围须按适用年度官方大纲逐项核对。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官方依据或待确认项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共建内容，保留专业与科目关联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统一维护，经教研审核后复用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待取得适用年度官方大纲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分别建立专业考点与题目映射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范围、题型与规则需核验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独立核对第四科内容与交互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机构版大纲仅作为核对线索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记录官方来源、年度及差异处理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用户价值与替代方案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用户价值：解决具体备考任务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以下为待验证情境，比较已有备考方式、预期改善与额外使用成本。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现有做法假设，需访谈确认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拟提供的帮助与新增成本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按教材或题库章节自行安排学习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建议：四科覆盖与薄弱点提示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成本：完成初测、理解学习计划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继续刷原题库，自行筛选待考科目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建议：聚焦本次待考科目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成本：填写科目及已过年份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错题理解困难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阅读原解析，另查教材或其他资料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建议：结合选项与病例条件解释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成本：核对AI讲解是否可信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时间有限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用零散时间刷题，自行决定学习顺序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建议：清晰的小任务与续学入口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成本：学习新操作、调整习惯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已在用其他题库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保留原平台的错题、收藏和学习进度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建议：允许先试用，再决定是否使用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成本：重复建档、分散进度与注意力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验证是否更容易完成备考任务，同时观察额外填写、核对与切换负担。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案例训练方案与考试模拟边界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以下为产品设计建议，尚未确认的计分及回退规则不写入模拟考试验收。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考试模拟的前置条件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病例与分问关联，支持逐步练习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取得适用题型及作答顺序依据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解析正确项、排除项和病例条件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核验提交与答案反馈时点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计分展示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采用明确公示的练习规则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官方计分未确认前不输出预测分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允许复盘并保存学习进度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核验回退粒度、跳题和重进规则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学习效果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同考点新题复测，统计练习表现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练习表现不等同考试通过概率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可先评估案例练习，官方模拟计分与锁题功能须待规则确认。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竞品分析">
            <a:extLst xmlns:a="http://schemas.openxmlformats.org/drawingml/2006/main"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 xmlns:a="http://schemas.openxmlformats.org/drawingml/2006/main"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竞品调研范围与证据要求</a:t>
            </a:r>
          </a:p>
        </p:txBody>
      </p:sp>
      <p:sp>
        <p:nvSpPr>
          <p:cNvPr id="3" name="不同产品形态覆盖从传统权威题集到移动端题库与会员社区。">
            <a:extLst xmlns:a="http://schemas.openxmlformats.org/drawingml/2006/main"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保留原方案的调研对象，具体专业覆盖、价格和功能以品牌官方渠道留证。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 xmlns:a="http://schemas.openxmlformats.org/drawingml/2006/main"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429000"/>
                <a:gridCol w="2476500"/>
                <a:gridCol w="3409950"/>
              </a:tblGrid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取证渠道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出版社官网、适用版本原书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内容目录、年份与解析结构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核验后用于教研参考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品牌官方商品及购买页面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专业代码、题目与案例覆盖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按具体商品比较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品牌官方套餐页面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课程、题库、服务与有效期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不同权益分开比较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解析依据、纠错和使用额度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不据宣传判断准确性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五家直接竞品">
            <a:extLst xmlns:a="http://schemas.openxmlformats.org/drawingml/2006/main"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五家调研对象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阿虎医考">
            <a:extLst xmlns:a="http://schemas.openxmlformats.org/drawingml/2006/main"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考试宝典">
            <a:extLst xmlns:a="http://schemas.openxmlformats.org/drawingml/2006/main"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肿瘤学圣题库">
            <a:extLst xmlns:a="http://schemas.openxmlformats.org/drawingml/2006/main"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蓝基因">
            <a:extLst xmlns:a="http://schemas.openxmlformats.org/drawingml/2006/main"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医考帮">
            <a:extLst xmlns:a="http://schemas.openxmlformats.org/drawingml/2006/main"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 xmlns:a="http://schemas.openxmlformats.org/drawingml/2006/main"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对标关系须核对目标专业与权益，搜索结果数量不能证明供给空白。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竞品横向对比">
            <a:extLst xmlns:a="http://schemas.openxmlformats.org/drawingml/2006/main"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 xmlns:a="http://schemas.openxmlformats.org/drawingml/2006/main"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竞品商品与价格取证清单</a:t>
            </a:r>
          </a:p>
        </p:txBody>
      </p:sp>
      <p:sp>
        <p:nvSpPr>
          <p:cNvPr id="3" name="公开价格样本用于理解购买门槛，不代表长期售价或完整权益完全可比。">
            <a:extLst xmlns:a="http://schemas.openxmlformats.org/drawingml/2006/main"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撤下无法直接追溯的价格。核验摘要仅作线索，正式比较需官方页面留证。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 xmlns:a="http://schemas.openxmlformats.org/drawingml/2006/main"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38350"/>
                <a:gridCol w="2400300"/>
                <a:gridCol w="2457450"/>
                <a:gridCol w="2895600"/>
              </a:tblGrid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必须留存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题库与课程分开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按SKU重新留证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官方商品与期限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不沿用合并题库说法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题量、解析、有效期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投诉不作标价证据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会员不等于全部产品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 xmlns:a="http://schemas.openxmlformats.org/drawingml/2006/main"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能力对标与产品响应">
            <a:extLst xmlns:a="http://schemas.openxmlformats.org/drawingml/2006/main"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首期范围与功能取舍</a:t>
            </a:r>
          </a:p>
        </p:txBody>
      </p:sp>
      <p:sp>
        <p:nvSpPr>
          <p:cNvPr id="2" name="差异化应集中在专科内容、可信解析与持续更新">
            <a:extLst xmlns:a="http://schemas.openxmlformats.org/drawingml/2006/main"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已确定范围与待评审的最小学习流程</a:t>
            </a:r>
          </a:p>
        </p:txBody>
      </p:sp>
      <p:sp>
        <p:nvSpPr>
          <p:cNvPr id="3" name="复杂功能不能替代肿瘤专业内容质量。">
            <a:extLst xmlns:a="http://schemas.openxmlformats.org/drawingml/2006/main"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三专业同步上线保持不变，新增功能按内容准备、技术适配与用户价值评审。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 xmlns:a="http://schemas.openxmlformats.org/drawingml/2006/main"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52800"/>
                <a:gridCol w="5581650"/>
              </a:tblGrid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取舍条件与处理建议</a:t>
                      </a:r>
                      <a:endParaRPr sz="13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三专业同步接入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首屏直接新增三个选项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保留现有入口结构，按所选专业进入学习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首期建议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选专业后练习、看解析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记录进度并支持继续学习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各专业内容可用、解析已审核、进度可保存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以能完成基本学习任务为验收重点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需盘点评审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补考科目选择、案例训练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AI追问、计划与复测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核对内容量、题型能力及额外开发成本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确定必需项后再承诺具体上线范围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暂不承诺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官方评分复刻、通过概率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定价、组合包及自动续费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评分与预测需独立依据，收费方式另行决策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不直接沿用执业考试的价格与权益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内容可信">
            <a:extLst xmlns:a="http://schemas.openxmlformats.org/drawingml/2006/main"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取舍原则</a:t>
            </a:r>
          </a:p>
        </p:txBody>
      </p:sp>
      <p:sp>
        <p:nvSpPr>
          <p:cNvPr id="12" name="每道题都要有可核验的考纲与解析依据">
            <a:extLst xmlns:a="http://schemas.openxmlformats.org/drawingml/2006/main"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先完成可用的学习流程，再按验证结果评审增强功能</a:t>
            </a:r>
            <a:endParaRPr sz="1575" b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三专业均需达到约定内容与体验标准，缺项时调整内容或排期。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可信解析需要明确依据、审核和修订机制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产品建议：内容上线前确认官方考纲版本、题目来源与授权范围。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确认题目、解析及素材的使用权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来源与授权范围可追溯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考纲与版本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按适用年度官方大纲建立映射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记录专业、科目、考点与覆盖缺口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核对病例条件、答案与解析依据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首批内容逐题审核，争议题暂缓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依据已审核内容提供追问讲解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不自行改答案，缺少依据时明确提示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核实反馈、版本差异并修订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保留记录，同步关联题与解析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首屏新增三个选项，后续流程按专业适配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已确定首屏新增三个专业并接入现有小程序，其余适配项为产品建议。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本期调整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初测用于诊断，不直接给出正式通过概率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展示目标专业、年份、四科进度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错题讲解后安排相关考点复测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保留现有流程，按范围评审结果适配内容、进度及必要的题型能力。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市场证据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市场规模的证据边界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现有材料不足以确认三专业年度考生人数，本版不提供全国市场规模结论。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方案采用口径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全国医师总数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官方统计提供行业总体背景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不直接作为肿瘤主治考生分母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专业医师存量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科室与报考代码并非一一对应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需核对人员范围、年度和职称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年度报名人数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尚未取得可追溯的分专业数据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分别索取341、342、343人数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付费率与客单价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缺少同类目标用户交易样本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通过试点验证，不能据课程标价代替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原有规模测算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占比、报考率与精确输入未获支持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撤下旧人数、区间及规模图表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全国规模待验证，首期决策优先使用实际可触达考生与新增投入。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试点测算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试点收入与成本测算方法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内部决策模型：先采集真实用户和成本，再填入测算参数，不预设全国市场份额。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建议数据来源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计算或使用方式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可触达目标人数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已有渠道中当年备考用户去重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按专业、年度、首次或补考分组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实际试用人数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试点进入学习的去重用户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与邀请、注册、首练人数分开记录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收费测试中的真实订单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付费用户数 / 同期可购买试用人数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净收入与服务成本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订单、退款及AI调用等记录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净收入扣除对应可变服务成本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研发、教研审核与运营预算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贡献金额与新增固定投入比较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未收费阶段只报告使用情况与成本，不用付费意愿替代真实收入。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关键假设与验证顺序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先验证影响上线和投入的关键条件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按前置依赖排序，先取得证据再扩大投入，不为未知数据设定虚假评分。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顺序与负责人建议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最小验证动作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改变方案的条件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内容｜教研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抽查三专业资源清单、授权与解析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确认官方考纲版本及覆盖缺口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来源不清或关键内容缺失：补齐后再上架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不以AI自动生成替代审核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用户｜产品／运营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从现有渠道核对当年备考用户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访谈近期任务，邀请完成样题体验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仅有兴趣表态、无真实试用：调整触达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不据总用户量宣称目标需求充足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适配｜研发／产品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跑通选专业、答题、解析、退出续学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分别估算基础适配和新增题型成本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现有能力不足或超出批准预算：重评范围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三专业同步原则不变，必要时调整排期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价值｜产品／教研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与用户原有方式比较同类备考任务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观察完成情况、查证负担与后续复访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只增加点击或重复刷题：不能认定有效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若解析错误或额外负担大，优先修订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收费｜业务／运营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收费方式确定后开展真实交易测试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联看转化、退款、净收入与服务成本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净收入无法覆盖批准的增量投入：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调整权益或成本，再决定是否扩大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每轮记录证据、负责人和下一步。量化阈值待基线与预算明确后确定。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论与行动">
            <a:extLst xmlns:a="http://schemas.openxmlformats.org/drawingml/2006/main"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 xmlns:a="http://schemas.openxmlformats.org/drawingml/2006/main"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三专业同步推进，按验证结果落实范围与投入</a:t>
            </a:r>
          </a:p>
        </p:txBody>
      </p:sp>
      <p:sp>
        <p:nvSpPr>
          <p:cNvPr id="3" name="产品定位：面向肿瘤医生的职称备考题库，复用职考 Go 现有 AI 能力。">
            <a:extLst xmlns:a="http://schemas.openxmlformats.org/drawingml/2006/main"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先完成内容与目标用户盘点，再评审最小学习流程、适配成本和试点条件。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 xmlns:a="http://schemas.openxmlformats.org/drawingml/2006/main"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 xmlns:a="http://schemas.openxmlformats.org/drawingml/2006/main"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 xmlns:a="http://schemas.openxmlformats.org/drawingml/2006/main"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按官方范围核对三专业内容，确认来源、解析和审核责任。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 xmlns:a="http://schemas.openxmlformats.org/drawingml/2006/main"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 xmlns:a="http://schemas.openxmlformats.org/drawingml/2006/main"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首屏增加三个专业，先跑通练习、解析与继续学习。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 xmlns:a="http://schemas.openxmlformats.org/drawingml/2006/main"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>
            <a:extLst xmlns:a="http://schemas.openxmlformats.org/drawingml/2006/main"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 xmlns:a="http://schemas.openxmlformats.org/drawingml/2006/main"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 xmlns:a="http://schemas.openxmlformats.org/drawingml/2006/main"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验证备考任务是否更易完成，结合复访与增量成本决定投入。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 xmlns:a="http://schemas.openxmlformats.org/drawingml/2006/main"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911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三专业内容及基础学习流程验收后试点，增强功能和收费方案另行评审。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2026-09-17T07:48:05.5210000Z</dcterms:created>
  <dcterms:modified xsi:type="dcterms:W3CDTF">2026-09-17T07:48:05.5210000Z</dcterms:modified>
</coreProperties>
</file>