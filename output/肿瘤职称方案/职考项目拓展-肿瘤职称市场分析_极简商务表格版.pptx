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62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1"/>
    <p:restoredTop sz="94629"/>
  </p:normalViewPr>
  <p:slideViewPr>
    <p:cSldViewPr snapToGrid="0">
      <p:cViewPr varScale="1">
        <p:scale>
          <a:sx n="75" d="100"/>
          <a:sy n="75" d="100"/>
        </p:scale>
        <p:origin x="2958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全部整理自用户提供核实报告第五节。考试宝典151元现价与168元原价分开列明，453元对应151×3。医考帮约300元指主治科目课程，不是341/342/343各专业题库价格。课程价格与题库价格不同类，不能仅凭高价课程推出本题库溢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本页保留所提供报告的来源记录，不代表本次重新独立查验。</a:t>
            </a:r>
          </a:p>
          <a:p>
            <a:r>
              <a:t>https://www.21wecan.com/wsrcw/c100193/202208/1d3cddb94d034000a0e8a4178b8f92a6.shtml</a:t>
            </a:r>
          </a:p>
          <a:p>
            <a:r>
              <a:t>https://hrss.qingdao.gov.cn/ztzl_47/rsks_47/tzgg_47/202512/t20251204_10392691.shtml</a:t>
            </a:r>
          </a:p>
          <a:p>
            <a:r>
              <a:t>https://www.yixiaokao.com/article_baokaozhinan_874/462.html</a:t>
            </a:r>
          </a:p>
          <a:p>
            <a:r>
              <a:t>https://exam.ipmph.com/examzcms/c/2024-04-08/558600.shtml</a:t>
            </a:r>
          </a:p>
          <a:p>
            <a:r>
              <a:t>https://exam.ipmph.com/examzcms/c/2025-07-18/559204.shtml</a:t>
            </a:r>
          </a:p>
          <a:p>
            <a:r>
              <a:t>https://www.news.cn/politics/20260828/40abac9837234a7bbde32724372c67c9/c.html</a:t>
            </a:r>
          </a:p>
          <a:p>
            <a:r>
              <a:t>https://www.nhc.gov.cn/mohwsbwstjxxzx/tjtjnj/202601/4c453cf4278941ab8465846d1dc90e08/files/终-2024中国卫生健康统计年鉴.pdf</a:t>
            </a:r>
          </a:p>
          <a:p>
            <a:r>
              <a:t>https://www.yixiaokao.com/article_baokaozhinan_874/463.html</a:t>
            </a:r>
          </a:p>
          <a:p>
            <a:r>
              <a:t>https://wx.100xuexi.com/product/9-4125.html</a:t>
            </a:r>
          </a:p>
          <a:p>
            <a:r>
              <a:t>https://wx.100xuexi.com/list/8689326.html</a:t>
            </a:r>
          </a:p>
          <a:p>
            <a:r>
              <a:t>https://wx.100xuexi.com/list/8689327.html</a:t>
            </a:r>
          </a:p>
          <a:p>
            <a:r>
              <a:t>https://waph.ahuyk.com/ahuyikao/Course/getDetails.html?courseId=2486)</a:t>
            </a:r>
          </a:p>
          <a:p>
            <a:r>
              <a:t>https://wx.100xuexi.com/product/9-4125.html)</a:t>
            </a:r>
          </a:p>
          <a:p>
            <a:r>
              <a:t>http://www.acccas.com/kecheng/zhongji/zhuzhi/252.html)</a:t>
            </a:r>
          </a:p>
          <a:p>
            <a:r>
              <a:t>https://apps.apple.com/cn/app/id1312142829)</a:t>
            </a:r>
          </a:p>
          <a:p>
            <a:r>
              <a:t>补充：报告声称68170与68400为四舍五入关系，该表述不成立；二者并非通常四舍五入关系。原情景表仍按68400计算，分专业图合计按68000计算。未在本次版式任务中更改数值；需统一测算基数后再作为精确测算引用。肿瘤科存量与341/342/343报考范围亦不是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53641" y="2890136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05750" y="5172075"/>
            <a:ext cx="3495675" cy="571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底数约6.8万：2023年肿瘤科执业医师
年鉴表2-3-3、2-3-6；详见来源页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403890"/>
            <a:ext cx="4669923" cy="3404083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333424"/>
            <a:ext cx="4904212" cy="238923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06316"/>
            <a:ext cx="4904212" cy="2461088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510019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61388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457090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55900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4477759" cy="3313213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4477759" cy="1344967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2765679"/>
            <a:ext cx="4477759" cy="2755544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3437899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3437898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743575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895975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需求线索：考生需要有效练习与清晰依据，能否形成付费意愿值得验证。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 dirty="0">
                <a:solidFill>
                  <a:srgbClr val="DCE8FD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题库与课程之外，以专科内容形成差异化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 dirty="0" err="1">
                <a:solidFill>
                  <a:srgbClr val="6F84A0"/>
                </a:solidFill>
                <a:latin typeface="Microsoft YaHei"/>
              </a:rPr>
              <a:t>基础内容比较平台可见资源；专科内容比较肿瘤备考相关资源，不代表三个专业均已完整覆盖</a:t>
            </a:r>
            <a:r>
              <a:rPr sz="1275" b="0" dirty="0">
                <a:solidFill>
                  <a:srgbClr val="6F84A0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083709"/>
              </p:ext>
            </p:extLst>
          </p:nvPr>
        </p:nvGraphicFramePr>
        <p:xfrm>
          <a:off x="533400" y="1790700"/>
          <a:ext cx="11125200" cy="3733800"/>
        </p:xfrm>
        <a:graphic>
          <a:graphicData uri="http://schemas.openxmlformats.org/drawingml/2006/table">
            <a:tbl>
              <a:tblPr firstRow="1"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分组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对比内容</a:t>
                      </a:r>
                      <a:endParaRPr sz="1450" b="1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阿虎医考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考试宝典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蓝基因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圣才电子书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医考帮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医考GO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基础内容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题库练习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AI解析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相关备考课程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526073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 dirty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专科内容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CSCO指南及解读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noFill/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/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TNM分期专项内容</a:t>
                      </a:r>
                      <a:endParaRPr sz="15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病例实战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大查房病例解析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A5AFBC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 dirty="0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E2EF"/>
                      </a:solidFill>
                    </a:lnT>
                    <a:lnB w="9525">
                      <a:solidFill>
                        <a:srgbClr val="D9E2EF"/>
                      </a:solidFill>
                    </a:lnB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3400" y="6200775"/>
            <a:ext cx="11125200" cy="304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229350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02744"/>
                </a:solidFill>
                <a:latin typeface="Microsoft YaHei"/>
              </a:rPr>
              <a:t>内容优势：把指南依据、分期条件与病例实战连起来，帮助考生理解判断过程。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39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 dirty="0" err="1">
                <a:solidFill>
                  <a:srgbClr val="102744"/>
                </a:solidFill>
                <a:latin typeface="Microsoft YaHei"/>
              </a:rPr>
              <a:t>题库</a:t>
            </a:r>
            <a:r>
              <a:rPr lang="zh-CN" altLang="en-US" sz="2550" b="1" dirty="0">
                <a:solidFill>
                  <a:srgbClr val="102744"/>
                </a:solidFill>
                <a:latin typeface="Microsoft YaHei"/>
              </a:rPr>
              <a:t>价格</a:t>
            </a:r>
            <a:endParaRPr sz="25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96626"/>
              </p:ext>
            </p:extLst>
          </p:nvPr>
        </p:nvGraphicFramePr>
        <p:xfrm>
          <a:off x="533400" y="1790700"/>
          <a:ext cx="9742410" cy="402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竞品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商品与适用范围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报告记录价格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考试宝典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精品题库班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168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阿虎医考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精选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医考帮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无精选题库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0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蓝基因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西医主治全题目通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圣才电子书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题库单买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58/68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342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）</a:t>
                      </a: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/58  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半年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 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年度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198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067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3400" y="5981700"/>
            <a:ext cx="11125200" cy="43815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607695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75" b="1">
                <a:solidFill>
                  <a:srgbClr val="102744"/>
                </a:solidFill>
                <a:latin typeface="Microsoft YaHei"/>
              </a:rPr>
              <a:t>定价启示：先明确专业、内容与服务权益，再验证指南和病例学习能否带来购买意愿。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</a:rP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数据来源与口径说明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来源整理自本次提供的核实报告；考试规则、统计数据与竞品快照分开列示。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15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数据／说法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来源与适用口径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专业代码与共用试卷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国家卫生健康委人才交流服务中心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《卫生专业技术资格考试主亚专业设置目录（西医类）》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每科90分钟；同专业两年滚动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青岛市人社局2026年度卫生专业技术资格考试通知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发布日期：2025-12-04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案例分析题规则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人卫智网主治医师考试评分规则说明（2025-07-18）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适用专业及年度按对应考试说明核对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2025年末执业（助理）医师530.6万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《2025年我国卫生健康事业发展统计公报》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报告记录发布日期：2026-08-28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肿瘤科执业医师约6.8万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《中国卫生健康统计年鉴》2023年数据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报告测算：401.0万 × 1.7%（表2-3-3、2-3-6）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竞品内容与价格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各竞品官网、应用介绍及销售页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报告记录日期：2026-09-20；核查链接见本页备注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895975"/>
            <a:ext cx="1112520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市场口径：医师存量不等于当年报考人数；5%–10%为情景假设。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全国年度报名规模缺少公开权威统计；分专业拆分仍属估算。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1637</Words>
  <Application>Microsoft Office PowerPoint</Application>
  <DocSecurity>0</DocSecurity>
  <PresentationFormat>宽屏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41</cp:revision>
  <dcterms:created xsi:type="dcterms:W3CDTF">2026-09-17T03:47:42Z</dcterms:created>
  <dcterms:modified xsi:type="dcterms:W3CDTF">2026-09-20T10:29:41Z</dcterms:modified>
</cp:coreProperties>
</file>